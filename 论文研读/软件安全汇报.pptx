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86" r:id="rId3"/>
    <p:sldId id="560" r:id="rId5"/>
    <p:sldId id="488" r:id="rId6"/>
    <p:sldId id="489" r:id="rId7"/>
    <p:sldId id="545" r:id="rId8"/>
    <p:sldId id="546" r:id="rId9"/>
    <p:sldId id="527" r:id="rId10"/>
    <p:sldId id="529" r:id="rId11"/>
    <p:sldId id="531" r:id="rId12"/>
    <p:sldId id="548" r:id="rId13"/>
    <p:sldId id="549" r:id="rId14"/>
    <p:sldId id="550" r:id="rId15"/>
    <p:sldId id="551" r:id="rId16"/>
    <p:sldId id="547" r:id="rId17"/>
    <p:sldId id="553" r:id="rId18"/>
    <p:sldId id="554" r:id="rId19"/>
    <p:sldId id="555" r:id="rId20"/>
    <p:sldId id="556" r:id="rId21"/>
    <p:sldId id="552" r:id="rId22"/>
    <p:sldId id="534" r:id="rId23"/>
    <p:sldId id="535" r:id="rId24"/>
    <p:sldId id="525" r:id="rId25"/>
    <p:sldId id="536" r:id="rId26"/>
    <p:sldId id="537" r:id="rId27"/>
    <p:sldId id="538" r:id="rId28"/>
    <p:sldId id="539" r:id="rId29"/>
    <p:sldId id="540" r:id="rId30"/>
    <p:sldId id="542" r:id="rId31"/>
    <p:sldId id="491" r:id="rId32"/>
    <p:sldId id="543" r:id="rId33"/>
    <p:sldId id="544" r:id="rId34"/>
    <p:sldId id="557" r:id="rId35"/>
    <p:sldId id="558" r:id="rId36"/>
    <p:sldId id="559"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B0261"/>
    <a:srgbClr val="F2F2F2"/>
    <a:srgbClr val="FDE1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7" d="100"/>
          <a:sy n="107" d="100"/>
        </p:scale>
        <p:origin x="152" y="64"/>
      </p:cViewPr>
      <p:guideLst>
        <p:guide orient="horz" pos="2176"/>
        <p:guide pos="3840"/>
      </p:guideLst>
    </p:cSldViewPr>
  </p:slideViewPr>
  <p:notesTextViewPr>
    <p:cViewPr>
      <p:scale>
        <a:sx n="1" d="1"/>
        <a:sy n="1" d="1"/>
      </p:scale>
      <p:origin x="0" y="0"/>
    </p:cViewPr>
  </p:notesTextViewPr>
  <p:sorterViewPr>
    <p:cViewPr>
      <p:scale>
        <a:sx n="100" d="100"/>
        <a:sy n="100" d="100"/>
      </p:scale>
      <p:origin x="0" y="-1432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2E15931E-1654-4B73-89B2-8E333D9C42E0}" type="doc">
      <dgm:prSet loTypeId="list" loCatId="list" qsTypeId="urn:microsoft.com/office/officeart/2005/8/quickstyle/simple1#1" qsCatId="simple" csTypeId="urn:microsoft.com/office/officeart/2005/8/colors/accent1_2#1" csCatId="accent1" phldr="0"/>
      <dgm:spPr/>
      <dgm:t>
        <a:bodyPr/>
        <a:lstStyle/>
        <a:p>
          <a:endParaRPr lang="zh-CN" altLang="en-US"/>
        </a:p>
      </dgm:t>
    </dgm:pt>
    <dgm:pt modelId="{90DDC401-903F-495B-A387-FFA8A45891F6}">
      <dgm:prSet phldrT="[文本]" phldr="0" custT="1"/>
      <dgm:spPr>
        <a:solidFill>
          <a:srgbClr val="6B0261"/>
        </a:solidFill>
        <a:ln>
          <a:noFill/>
        </a:ln>
      </dgm:spPr>
      <dgm:t>
        <a:bodyPr vert="horz" wrap="square"/>
        <a:p>
          <a:pPr>
            <a:lnSpc>
              <a:spcPct val="100000"/>
            </a:lnSpc>
            <a:spcBef>
              <a:spcPct val="0"/>
            </a:spcBef>
            <a:spcAft>
              <a:spcPct val="35000"/>
            </a:spcAft>
          </a:pPr>
          <a:r>
            <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核心问题</a:t>
          </a:r>
          <a:r>
            <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
          </a:r>
          <a:endPar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dgm:t>
    </dgm:pt>
    <dgm:pt modelId="{C8BB0B8A-C63A-4F83-B8DD-3A7CE259E4EE}" cxnId="{5F9614E4-D3A0-42C7-963D-7BAD22C9F9DB}" type="parTrans">
      <dgm:prSet/>
      <dgm:spPr/>
      <dgm:t>
        <a:bodyPr/>
        <a:lstStyle/>
        <a:p>
          <a:endParaRPr lang="zh-CN" altLang="en-US"/>
        </a:p>
      </dgm:t>
    </dgm:pt>
    <dgm:pt modelId="{35E5E878-0907-4014-9CFA-56AEFE6C22E5}" cxnId="{5F9614E4-D3A0-42C7-963D-7BAD22C9F9DB}" type="sibTrans">
      <dgm:prSet/>
      <dgm:spPr/>
      <dgm:t>
        <a:bodyPr/>
        <a:lstStyle/>
        <a:p>
          <a:endParaRPr lang="zh-CN" altLang="en-US"/>
        </a:p>
      </dgm:t>
    </dgm:pt>
    <dgm:pt modelId="{E08CEB0C-E37F-4DCA-A8EA-4B2CD3AD7754}">
      <dgm:prSet phldrT="[文本]" phldr="0" custT="1"/>
      <dgm:spPr/>
      <dgm:t>
        <a:bodyPr vert="horz" wrap="square"/>
        <a:p>
          <a:pPr>
            <a:lnSpc>
              <a:spcPct val="100000"/>
            </a:lnSpc>
            <a:spcBef>
              <a:spcPct val="0"/>
            </a:spcBef>
            <a:spcAft>
              <a:spcPct val="15000"/>
            </a:spcAft>
          </a:pP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释放对象后，悬垂指针（</a:t>
          </a:r>
          <a:r>
            <a:rPr lang="en-US" altLang="zh-CN"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Dangling Pointer</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a:t>
          </a:r>
          <a:r>
            <a:rPr lang="en-US" altLang="zh-CN"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仍被解引用</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a:r>
          <a:endPar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dgm:t>
    </dgm:pt>
    <dgm:pt modelId="{FB4BCC77-44E9-4065-8A2F-90CD32DE34E3}" cxnId="{CEED32A8-6DCC-4875-88AC-74F711EC8F7E}" type="parTrans">
      <dgm:prSet/>
      <dgm:spPr/>
      <dgm:t>
        <a:bodyPr/>
        <a:lstStyle/>
        <a:p>
          <a:endParaRPr lang="zh-CN" altLang="en-US"/>
        </a:p>
      </dgm:t>
    </dgm:pt>
    <dgm:pt modelId="{41FED480-3E2E-47A2-B997-02D527BC8082}" cxnId="{CEED32A8-6DCC-4875-88AC-74F711EC8F7E}" type="sibTrans">
      <dgm:prSet/>
      <dgm:spPr/>
      <dgm:t>
        <a:bodyPr/>
        <a:lstStyle/>
        <a:p>
          <a:endParaRPr lang="zh-CN" altLang="en-US"/>
        </a:p>
      </dgm:t>
    </dgm:pt>
    <dgm:pt modelId="{A6685E83-BEEC-49B3-B40A-539E2C0D7A1A}">
      <dgm:prSet phldrT="[文本]" phldr="0" custT="1"/>
      <dgm:spPr>
        <a:solidFill>
          <a:srgbClr val="6B0261"/>
        </a:solidFill>
      </dgm:spPr>
      <dgm:t>
        <a:bodyPr vert="horz" wrap="square"/>
        <a:p>
          <a:pPr>
            <a:lnSpc>
              <a:spcPct val="100000"/>
            </a:lnSpc>
            <a:spcBef>
              <a:spcPct val="0"/>
            </a:spcBef>
            <a:spcAft>
              <a:spcPct val="35000"/>
            </a:spcAft>
          </a:pPr>
          <a:r>
            <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攻击原理</a:t>
          </a:r>
          <a:r>
            <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
          </a:r>
          <a:endPar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dgm:t>
    </dgm:pt>
    <dgm:pt modelId="{FECC43A3-D59E-4EE1-9557-8FBB90D5B362}" cxnId="{828459AD-CDEB-4619-9FC7-726D40B87A10}" type="parTrans">
      <dgm:prSet/>
      <dgm:spPr/>
      <dgm:t>
        <a:bodyPr/>
        <a:lstStyle/>
        <a:p>
          <a:endParaRPr lang="zh-CN" altLang="en-US"/>
        </a:p>
      </dgm:t>
    </dgm:pt>
    <dgm:pt modelId="{68BB6C9A-B7F0-43A0-955B-FC8C4D4009BF}" cxnId="{828459AD-CDEB-4619-9FC7-726D40B87A10}" type="sibTrans">
      <dgm:prSet/>
      <dgm:spPr/>
      <dgm:t>
        <a:bodyPr/>
        <a:lstStyle/>
        <a:p>
          <a:endParaRPr lang="zh-CN" altLang="en-US"/>
        </a:p>
      </dgm:t>
    </dgm:pt>
    <dgm:pt modelId="{CBA50553-63FA-4B5A-9888-EDDBA06CA593}">
      <dgm:prSet phldrT="[文本]" phldr="0" custT="1"/>
      <dgm:spPr/>
      <dgm:t>
        <a:bodyPr vert="horz" wrap="square"/>
        <a:p>
          <a:pPr>
            <a:lnSpc>
              <a:spcPct val="100000"/>
            </a:lnSpc>
            <a:spcBef>
              <a:spcPct val="0"/>
            </a:spcBef>
            <a:spcAft>
              <a:spcPct val="15000"/>
            </a:spcAft>
          </a:pP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攻击者通过内存重用（如分配新对象占位）篡改数据</a:t>
          </a:r>
          <a:r>
            <a:rPr lang="en-US" altLang="zh-CN"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a:t>
          </a:r>
          <a:r>
            <a:rPr lang="en-US"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a:t>
          </a:r>
          <a:r>
            <a:rPr lang="en-US" altLang="zh-CN"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控制流劫持或信息泄露</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a:r>
          <a:endPar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dgm:t>
    </dgm:pt>
    <dgm:pt modelId="{73E2772F-165D-4B56-ACC2-969CBF53B0A8}" cxnId="{5343B100-8341-4B6A-8B87-7462FBF73A17}" type="parTrans">
      <dgm:prSet/>
      <dgm:spPr/>
      <dgm:t>
        <a:bodyPr/>
        <a:lstStyle/>
        <a:p>
          <a:endParaRPr lang="zh-CN" altLang="en-US"/>
        </a:p>
      </dgm:t>
    </dgm:pt>
    <dgm:pt modelId="{7BFD1607-7356-4D3D-A829-75D002A3A4B0}" cxnId="{5343B100-8341-4B6A-8B87-7462FBF73A17}" type="sibTrans">
      <dgm:prSet/>
      <dgm:spPr/>
      <dgm:t>
        <a:bodyPr/>
        <a:lstStyle/>
        <a:p>
          <a:endParaRPr lang="zh-CN" altLang="en-US"/>
        </a:p>
      </dgm:t>
    </dgm:pt>
    <dgm:pt modelId="{C8DDDFA1-AF37-4444-AAEB-D51CEE212719}">
      <dgm:prSet phldrT="[文本]" phldr="0" custT="1"/>
      <dgm:spPr>
        <a:solidFill>
          <a:srgbClr val="6B0261"/>
        </a:solidFill>
      </dgm:spPr>
      <dgm:t>
        <a:bodyPr vert="horz" wrap="square"/>
        <a:p>
          <a:pPr>
            <a:lnSpc>
              <a:spcPct val="100000"/>
            </a:lnSpc>
            <a:spcBef>
              <a:spcPct val="0"/>
            </a:spcBef>
            <a:spcAft>
              <a:spcPct val="35000"/>
            </a:spcAft>
          </a:pPr>
          <a:r>
            <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现实影响</a:t>
          </a:r>
          <a:r>
            <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
          </a:r>
          <a:endPar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dgm:t>
    </dgm:pt>
    <dgm:pt modelId="{26EA520A-5891-4EBA-B2AD-1840663D8C07}" cxnId="{FA377AEB-E29D-4BA2-BEA8-553D381147A3}" type="parTrans">
      <dgm:prSet/>
      <dgm:spPr/>
      <dgm:t>
        <a:bodyPr/>
        <a:lstStyle/>
        <a:p>
          <a:endParaRPr lang="zh-CN" altLang="en-US"/>
        </a:p>
      </dgm:t>
    </dgm:pt>
    <dgm:pt modelId="{CE2287C8-6424-4771-88FD-4DADE15C5A04}" cxnId="{FA377AEB-E29D-4BA2-BEA8-553D381147A3}" type="sibTrans">
      <dgm:prSet/>
      <dgm:spPr/>
      <dgm:t>
        <a:bodyPr/>
        <a:lstStyle/>
        <a:p>
          <a:endParaRPr lang="zh-CN" altLang="en-US"/>
        </a:p>
      </dgm:t>
    </dgm:pt>
    <dgm:pt modelId="{5AA02751-379E-46DB-884A-F23ACBC498EE}">
      <dgm:prSet phldrT="[文本]" phldr="0" custT="1"/>
      <dgm:spPr/>
      <dgm:t>
        <a:bodyPr vert="horz" wrap="square"/>
        <a:p>
          <a:pPr>
            <a:lnSpc>
              <a:spcPct val="100000"/>
            </a:lnSpc>
            <a:spcBef>
              <a:spcPct val="0"/>
            </a:spcBef>
            <a:spcAft>
              <a:spcPct val="15000"/>
            </a:spcAft>
          </a:pPr>
          <a:r>
            <a:rPr lang="en-US" altLang="zh-CN"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CWE </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排名第</a:t>
          </a:r>
          <a:r>
            <a:rPr lang="en-US" altLang="zh-CN"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7 </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的致命漏洞（占软件漏洞</a:t>
          </a:r>
          <a:r>
            <a:rPr lang="en-US" altLang="zh-CN"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12%</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a:t>
          </a:r>
          <a:r>
            <a:rPr lang="zh-CN" altLang="en-US" sz="1600"/>
            <a:t/>
          </a:r>
          <a:endParaRPr lang="zh-CN" altLang="en-US" sz="1600"/>
        </a:p>
      </dgm:t>
    </dgm:pt>
    <dgm:pt modelId="{D0D77647-95BE-4607-B2F0-006D9CAB8F0E}" cxnId="{E23EB33B-C884-4468-8618-A0804DADEE33}" type="parTrans">
      <dgm:prSet/>
      <dgm:spPr/>
      <dgm:t>
        <a:bodyPr/>
        <a:lstStyle/>
        <a:p>
          <a:endParaRPr lang="zh-CN" altLang="en-US"/>
        </a:p>
      </dgm:t>
    </dgm:pt>
    <dgm:pt modelId="{3DBF6B9F-A188-4D67-ABE8-0633561FA9E5}" cxnId="{E23EB33B-C884-4468-8618-A0804DADEE33}" type="sibTrans">
      <dgm:prSet/>
      <dgm:spPr/>
      <dgm:t>
        <a:bodyPr/>
        <a:lstStyle/>
        <a:p>
          <a:endParaRPr lang="zh-CN" altLang="en-US"/>
        </a:p>
      </dgm:t>
    </dgm:pt>
    <dgm:pt modelId="{D52D61A9-CFF9-48E6-B906-97FA6DC21DCE}">
      <dgm:prSet phldr="0" custT="1"/>
      <dgm:spPr/>
      <dgm:t>
        <a:bodyPr vert="horz" wrap="square"/>
        <a:p>
          <a:pPr>
            <a:lnSpc>
              <a:spcPct val="100000"/>
            </a:lnSpc>
            <a:spcBef>
              <a:spcPct val="0"/>
            </a:spcBef>
            <a:spcAft>
              <a:spcPct val="15000"/>
            </a:spcAft>
          </a:pPr>
          <a:r>
            <a:rPr lang="en-US" altLang="zh-CN"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Microsoft </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统计：第二大漏洞根源（仅次于缓冲区溢出）</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a:r>
          <a:endPar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dgm:t>
    </dgm:pt>
    <dgm:pt modelId="{0279B731-7E4D-47B6-8565-940180EFEAED}" cxnId="{4F490867-2227-49BE-A9A5-1F027BC35503}" type="parTrans">
      <dgm:prSet/>
      <dgm:spPr/>
    </dgm:pt>
    <dgm:pt modelId="{F9E6C614-23B2-41C8-A4E6-EF772926A702}" cxnId="{4F490867-2227-49BE-A9A5-1F027BC35503}" type="sibTrans">
      <dgm:prSet/>
      <dgm:spPr/>
    </dgm:pt>
    <dgm:pt modelId="{D5935282-3C7C-4F88-A1AE-C27DB8591514}" type="pres">
      <dgm:prSet presAssocID="{2E15931E-1654-4B73-89B2-8E333D9C42E0}" presName="Name0" presStyleCnt="0">
        <dgm:presLayoutVars>
          <dgm:dir/>
          <dgm:animLvl val="lvl"/>
          <dgm:resizeHandles val="exact"/>
        </dgm:presLayoutVars>
      </dgm:prSet>
      <dgm:spPr/>
    </dgm:pt>
    <dgm:pt modelId="{E61486FD-113E-4C87-8ADF-B1A8E2A84801}" type="pres">
      <dgm:prSet presAssocID="{90DDC401-903F-495B-A387-FFA8A45891F6}" presName="linNode" presStyleCnt="0"/>
      <dgm:spPr/>
    </dgm:pt>
    <dgm:pt modelId="{96BE2B31-D87C-43E1-BE64-4C27B13F4AA4}" type="pres">
      <dgm:prSet presAssocID="{90DDC401-903F-495B-A387-FFA8A45891F6}" presName="parentText" presStyleLbl="node1" presStyleIdx="0" presStyleCnt="3" custScaleX="62681">
        <dgm:presLayoutVars>
          <dgm:chMax val="1"/>
          <dgm:bulletEnabled val="1"/>
        </dgm:presLayoutVars>
      </dgm:prSet>
      <dgm:spPr/>
    </dgm:pt>
    <dgm:pt modelId="{DD9406C3-FC80-4468-A55B-122D744D43F0}" type="pres">
      <dgm:prSet presAssocID="{90DDC401-903F-495B-A387-FFA8A45891F6}" presName="descendantText" presStyleLbl="alignAccFollowNode1" presStyleIdx="0" presStyleCnt="3" custScaleX="111176" custLinFactNeighborX="-143" custLinFactNeighborY="1116">
        <dgm:presLayoutVars>
          <dgm:bulletEnabled val="1"/>
        </dgm:presLayoutVars>
      </dgm:prSet>
      <dgm:spPr/>
    </dgm:pt>
    <dgm:pt modelId="{F1941F29-E51C-4282-956D-50CFAFAEB9B8}" type="pres">
      <dgm:prSet presAssocID="{35E5E878-0907-4014-9CFA-56AEFE6C22E5}" presName="sp" presStyleCnt="0"/>
      <dgm:spPr/>
    </dgm:pt>
    <dgm:pt modelId="{B589D1EC-5156-4FB2-BB1C-8E1290A868B9}" type="pres">
      <dgm:prSet presAssocID="{A6685E83-BEEC-49B3-B40A-539E2C0D7A1A}" presName="linNode" presStyleCnt="0"/>
      <dgm:spPr/>
    </dgm:pt>
    <dgm:pt modelId="{EBD335B5-8308-49CB-9630-99D852747B1F}" type="pres">
      <dgm:prSet presAssocID="{A6685E83-BEEC-49B3-B40A-539E2C0D7A1A}" presName="parentText" presStyleLbl="node1" presStyleIdx="1" presStyleCnt="3" custScaleX="63005">
        <dgm:presLayoutVars>
          <dgm:chMax val="1"/>
          <dgm:bulletEnabled val="1"/>
        </dgm:presLayoutVars>
      </dgm:prSet>
      <dgm:spPr/>
    </dgm:pt>
    <dgm:pt modelId="{6EB2A58E-CA03-4F76-94B6-D8FE50231963}" type="pres">
      <dgm:prSet presAssocID="{A6685E83-BEEC-49B3-B40A-539E2C0D7A1A}" presName="descendantText" presStyleLbl="alignAccFollowNode1" presStyleIdx="1" presStyleCnt="3" custScaleX="111094">
        <dgm:presLayoutVars>
          <dgm:bulletEnabled val="1"/>
        </dgm:presLayoutVars>
      </dgm:prSet>
      <dgm:spPr/>
    </dgm:pt>
    <dgm:pt modelId="{A76EE5BB-CBA4-4DD9-BFB7-3F3F246C9BF0}" type="pres">
      <dgm:prSet presAssocID="{68BB6C9A-B7F0-43A0-955B-FC8C4D4009BF}" presName="sp" presStyleCnt="0"/>
      <dgm:spPr/>
    </dgm:pt>
    <dgm:pt modelId="{2BB2A428-FB05-47E5-AC5F-C6A7936A9AC0}" type="pres">
      <dgm:prSet presAssocID="{C8DDDFA1-AF37-4444-AAEB-D51CEE212719}" presName="linNode" presStyleCnt="0"/>
      <dgm:spPr/>
    </dgm:pt>
    <dgm:pt modelId="{B093CE78-670B-40EB-95CF-315E334D550F}" type="pres">
      <dgm:prSet presAssocID="{C8DDDFA1-AF37-4444-AAEB-D51CEE212719}" presName="parentText" presStyleLbl="node1" presStyleIdx="2" presStyleCnt="3" custScaleX="63415">
        <dgm:presLayoutVars>
          <dgm:chMax val="1"/>
          <dgm:bulletEnabled val="1"/>
        </dgm:presLayoutVars>
      </dgm:prSet>
      <dgm:spPr/>
    </dgm:pt>
    <dgm:pt modelId="{64028F0D-BE57-4642-92F7-303D4E45C524}" type="pres">
      <dgm:prSet presAssocID="{C8DDDFA1-AF37-4444-AAEB-D51CEE212719}" presName="descendantText" presStyleLbl="alignAccFollowNode1" presStyleIdx="2" presStyleCnt="3" custScaleX="111300" custLinFactNeighborY="1215">
        <dgm:presLayoutVars>
          <dgm:bulletEnabled val="1"/>
        </dgm:presLayoutVars>
      </dgm:prSet>
      <dgm:spPr/>
    </dgm:pt>
  </dgm:ptLst>
  <dgm:cxnLst>
    <dgm:cxn modelId="{5F9614E4-D3A0-42C7-963D-7BAD22C9F9DB}" srcId="{2E15931E-1654-4B73-89B2-8E333D9C42E0}" destId="{90DDC401-903F-495B-A387-FFA8A45891F6}" srcOrd="0" destOrd="0" parTransId="{C8BB0B8A-C63A-4F83-B8DD-3A7CE259E4EE}" sibTransId="{35E5E878-0907-4014-9CFA-56AEFE6C22E5}"/>
    <dgm:cxn modelId="{CEED32A8-6DCC-4875-88AC-74F711EC8F7E}" srcId="{90DDC401-903F-495B-A387-FFA8A45891F6}" destId="{E08CEB0C-E37F-4DCA-A8EA-4B2CD3AD7754}" srcOrd="0" destOrd="0" parTransId="{FB4BCC77-44E9-4065-8A2F-90CD32DE34E3}" sibTransId="{41FED480-3E2E-47A2-B997-02D527BC8082}"/>
    <dgm:cxn modelId="{828459AD-CDEB-4619-9FC7-726D40B87A10}" srcId="{2E15931E-1654-4B73-89B2-8E333D9C42E0}" destId="{A6685E83-BEEC-49B3-B40A-539E2C0D7A1A}" srcOrd="1" destOrd="0" parTransId="{FECC43A3-D59E-4EE1-9557-8FBB90D5B362}" sibTransId="{68BB6C9A-B7F0-43A0-955B-FC8C4D4009BF}"/>
    <dgm:cxn modelId="{5343B100-8341-4B6A-8B87-7462FBF73A17}" srcId="{A6685E83-BEEC-49B3-B40A-539E2C0D7A1A}" destId="{CBA50553-63FA-4B5A-9888-EDDBA06CA593}" srcOrd="0" destOrd="1" parTransId="{73E2772F-165D-4B56-ACC2-969CBF53B0A8}" sibTransId="{7BFD1607-7356-4D3D-A829-75D002A3A4B0}"/>
    <dgm:cxn modelId="{FA377AEB-E29D-4BA2-BEA8-553D381147A3}" srcId="{2E15931E-1654-4B73-89B2-8E333D9C42E0}" destId="{C8DDDFA1-AF37-4444-AAEB-D51CEE212719}" srcOrd="2" destOrd="0" parTransId="{26EA520A-5891-4EBA-B2AD-1840663D8C07}" sibTransId="{CE2287C8-6424-4771-88FD-4DADE15C5A04}"/>
    <dgm:cxn modelId="{E23EB33B-C884-4468-8618-A0804DADEE33}" srcId="{C8DDDFA1-AF37-4444-AAEB-D51CEE212719}" destId="{5AA02751-379E-46DB-884A-F23ACBC498EE}" srcOrd="0" destOrd="2" parTransId="{D0D77647-95BE-4607-B2F0-006D9CAB8F0E}" sibTransId="{3DBF6B9F-A188-4D67-ABE8-0633561FA9E5}"/>
    <dgm:cxn modelId="{4F490867-2227-49BE-A9A5-1F027BC35503}" srcId="{C8DDDFA1-AF37-4444-AAEB-D51CEE212719}" destId="{D52D61A9-CFF9-48E6-B906-97FA6DC21DCE}" srcOrd="1" destOrd="2" parTransId="{0279B731-7E4D-47B6-8565-940180EFEAED}" sibTransId="{F9E6C614-23B2-41C8-A4E6-EF772926A702}"/>
    <dgm:cxn modelId="{302D35F1-032F-42B5-B719-2985276121BE}" type="presOf" srcId="{2E15931E-1654-4B73-89B2-8E333D9C42E0}" destId="{D5935282-3C7C-4F88-A1AE-C27DB8591514}" srcOrd="0" destOrd="0" presId="urn:microsoft.com/office/officeart/2005/8/layout/vList5"/>
    <dgm:cxn modelId="{D824102D-8EDD-4181-BA64-1EE965FFD4FD}" type="presParOf" srcId="{D5935282-3C7C-4F88-A1AE-C27DB8591514}" destId="{E61486FD-113E-4C87-8ADF-B1A8E2A84801}" srcOrd="0" destOrd="0" presId="urn:microsoft.com/office/officeart/2005/8/layout/vList5"/>
    <dgm:cxn modelId="{44BBBB13-9C8D-4B7E-BC55-45FE438C4E04}" type="presParOf" srcId="{E61486FD-113E-4C87-8ADF-B1A8E2A84801}" destId="{96BE2B31-D87C-43E1-BE64-4C27B13F4AA4}" srcOrd="0" destOrd="0" presId="urn:microsoft.com/office/officeart/2005/8/layout/vList5"/>
    <dgm:cxn modelId="{A8465C24-3036-48FB-84C4-A6EFDFF422D7}" type="presOf" srcId="{90DDC401-903F-495B-A387-FFA8A45891F6}" destId="{96BE2B31-D87C-43E1-BE64-4C27B13F4AA4}" srcOrd="0" destOrd="0" presId="urn:microsoft.com/office/officeart/2005/8/layout/vList5"/>
    <dgm:cxn modelId="{535CCEDB-284F-49DA-B5AD-AA5151D84949}" type="presParOf" srcId="{E61486FD-113E-4C87-8ADF-B1A8E2A84801}" destId="{DD9406C3-FC80-4468-A55B-122D744D43F0}" srcOrd="1" destOrd="0" presId="urn:microsoft.com/office/officeart/2005/8/layout/vList5"/>
    <dgm:cxn modelId="{017DB252-767F-46CB-BEFC-DD995B298883}" type="presOf" srcId="{E08CEB0C-E37F-4DCA-A8EA-4B2CD3AD7754}" destId="{DD9406C3-FC80-4468-A55B-122D744D43F0}" srcOrd="0" destOrd="0" presId="urn:microsoft.com/office/officeart/2005/8/layout/vList5"/>
    <dgm:cxn modelId="{DD8FE285-6EC8-4491-B962-C4022F494A2E}" type="presParOf" srcId="{D5935282-3C7C-4F88-A1AE-C27DB8591514}" destId="{F1941F29-E51C-4282-956D-50CFAFAEB9B8}" srcOrd="1" destOrd="0" presId="urn:microsoft.com/office/officeart/2005/8/layout/vList5"/>
    <dgm:cxn modelId="{4B98D955-3974-4012-9732-964BDE358F21}" type="presParOf" srcId="{D5935282-3C7C-4F88-A1AE-C27DB8591514}" destId="{B589D1EC-5156-4FB2-BB1C-8E1290A868B9}" srcOrd="2" destOrd="0" presId="urn:microsoft.com/office/officeart/2005/8/layout/vList5"/>
    <dgm:cxn modelId="{3C3457F9-521A-4AA6-B9CB-243235EDF557}" type="presParOf" srcId="{B589D1EC-5156-4FB2-BB1C-8E1290A868B9}" destId="{EBD335B5-8308-49CB-9630-99D852747B1F}" srcOrd="0" destOrd="2" presId="urn:microsoft.com/office/officeart/2005/8/layout/vList5"/>
    <dgm:cxn modelId="{0D939435-329E-4147-BDB0-FCAE8BEA76DA}" type="presOf" srcId="{A6685E83-BEEC-49B3-B40A-539E2C0D7A1A}" destId="{EBD335B5-8308-49CB-9630-99D852747B1F}" srcOrd="0" destOrd="0" presId="urn:microsoft.com/office/officeart/2005/8/layout/vList5"/>
    <dgm:cxn modelId="{8B8216D0-7CE4-44EA-A656-99D457693FEA}" type="presParOf" srcId="{B589D1EC-5156-4FB2-BB1C-8E1290A868B9}" destId="{6EB2A58E-CA03-4F76-94B6-D8FE50231963}" srcOrd="1" destOrd="2" presId="urn:microsoft.com/office/officeart/2005/8/layout/vList5"/>
    <dgm:cxn modelId="{397F2043-9A46-4BF7-97DD-B264D3CCF1AB}" type="presOf" srcId="{CBA50553-63FA-4B5A-9888-EDDBA06CA593}" destId="{6EB2A58E-CA03-4F76-94B6-D8FE50231963}" srcOrd="0" destOrd="0" presId="urn:microsoft.com/office/officeart/2005/8/layout/vList5"/>
    <dgm:cxn modelId="{59FBF8C4-8BF0-4186-9C4A-B291CFA6A502}" type="presParOf" srcId="{D5935282-3C7C-4F88-A1AE-C27DB8591514}" destId="{A76EE5BB-CBA4-4DD9-BFB7-3F3F246C9BF0}" srcOrd="3" destOrd="0" presId="urn:microsoft.com/office/officeart/2005/8/layout/vList5"/>
    <dgm:cxn modelId="{D7E14E22-DC29-4285-A733-5045ADF1EA83}" type="presParOf" srcId="{D5935282-3C7C-4F88-A1AE-C27DB8591514}" destId="{2BB2A428-FB05-47E5-AC5F-C6A7936A9AC0}" srcOrd="4" destOrd="0" presId="urn:microsoft.com/office/officeart/2005/8/layout/vList5"/>
    <dgm:cxn modelId="{69F31855-E70A-4EE2-98F3-EBDF23168FA6}" type="presParOf" srcId="{2BB2A428-FB05-47E5-AC5F-C6A7936A9AC0}" destId="{B093CE78-670B-40EB-95CF-315E334D550F}" srcOrd="0" destOrd="4" presId="urn:microsoft.com/office/officeart/2005/8/layout/vList5"/>
    <dgm:cxn modelId="{3480523E-641B-4D51-B964-C6D80C545DFE}" type="presOf" srcId="{C8DDDFA1-AF37-4444-AAEB-D51CEE212719}" destId="{B093CE78-670B-40EB-95CF-315E334D550F}" srcOrd="0" destOrd="0" presId="urn:microsoft.com/office/officeart/2005/8/layout/vList5"/>
    <dgm:cxn modelId="{2C773502-E3F6-4390-BC6C-9374C352DD62}" type="presParOf" srcId="{2BB2A428-FB05-47E5-AC5F-C6A7936A9AC0}" destId="{64028F0D-BE57-4642-92F7-303D4E45C524}" srcOrd="1" destOrd="4" presId="urn:microsoft.com/office/officeart/2005/8/layout/vList5"/>
    <dgm:cxn modelId="{8FEB1B72-3EB9-4D62-BD34-ED67AE8B4D0D}" type="presOf" srcId="{5AA02751-379E-46DB-884A-F23ACBC498EE}" destId="{64028F0D-BE57-4642-92F7-303D4E45C524}" srcOrd="0" destOrd="0" presId="urn:microsoft.com/office/officeart/2005/8/layout/vList5"/>
    <dgm:cxn modelId="{12BE126E-96B3-4293-9A39-8F0AC87BE19E}" type="presOf" srcId="{D52D61A9-CFF9-48E6-B906-97FA6DC21DCE}" destId="{64028F0D-BE57-4642-92F7-303D4E45C524}" srcOrd="0" destOrd="1"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E15931E-1654-4B73-89B2-8E333D9C42E0}" type="doc">
      <dgm:prSet loTypeId="list" loCatId="list" qsTypeId="urn:microsoft.com/office/officeart/2005/8/quickstyle/simple1#1" qsCatId="simple" csTypeId="urn:microsoft.com/office/officeart/2005/8/colors/accent1_2#1" csCatId="accent1" phldr="0"/>
      <dgm:spPr/>
      <dgm:t>
        <a:bodyPr/>
        <a:lstStyle/>
        <a:p>
          <a:endParaRPr lang="zh-CN" altLang="en-US"/>
        </a:p>
      </dgm:t>
    </dgm:pt>
    <dgm:pt modelId="{90DDC401-903F-495B-A387-FFA8A45891F6}">
      <dgm:prSet phldrT="[文本]" phldr="0" custT="1"/>
      <dgm:spPr>
        <a:solidFill>
          <a:srgbClr val="6B0261"/>
        </a:solidFill>
        <a:ln>
          <a:noFill/>
        </a:ln>
      </dgm:spPr>
      <dgm:t>
        <a:bodyPr vert="horz" wrap="square"/>
        <a:p>
          <a:pPr>
            <a:lnSpc>
              <a:spcPct val="100000"/>
            </a:lnSpc>
            <a:spcBef>
              <a:spcPct val="0"/>
            </a:spcBef>
            <a:spcAft>
              <a:spcPct val="35000"/>
            </a:spcAft>
          </a:pPr>
          <a:r>
            <a:rPr lang="zh-CN" altLang="en-US" sz="2400" dirty="0" smtClean="0">
              <a:latin typeface="Arial" panose="020B0604020202020204" pitchFamily="34" charset="0"/>
              <a:ea typeface="微软雅黑" panose="020B0503020204020204" pitchFamily="34" charset="-122"/>
              <a:sym typeface="+mn-ea"/>
            </a:rPr>
            <a:t>核心功能</a:t>
          </a:r>
          <a:r>
            <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
          </a:r>
          <a:endPar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dgm:t>
    </dgm:pt>
    <dgm:pt modelId="{C8BB0B8A-C63A-4F83-B8DD-3A7CE259E4EE}" cxnId="{AF2233F7-3F72-446F-BF10-EE367E038237}" type="parTrans">
      <dgm:prSet/>
      <dgm:spPr/>
      <dgm:t>
        <a:bodyPr/>
        <a:lstStyle/>
        <a:p>
          <a:endParaRPr lang="zh-CN" altLang="en-US"/>
        </a:p>
      </dgm:t>
    </dgm:pt>
    <dgm:pt modelId="{35E5E878-0907-4014-9CFA-56AEFE6C22E5}" cxnId="{AF2233F7-3F72-446F-BF10-EE367E038237}" type="sibTrans">
      <dgm:prSet/>
      <dgm:spPr/>
      <dgm:t>
        <a:bodyPr/>
        <a:lstStyle/>
        <a:p>
          <a:endParaRPr lang="zh-CN" altLang="en-US"/>
        </a:p>
      </dgm:t>
    </dgm:pt>
    <dgm:pt modelId="{E08CEB0C-E37F-4DCA-A8EA-4B2CD3AD7754}">
      <dgm:prSet phldrT="[文本]" phldr="0" custT="1"/>
      <dgm:spPr/>
      <dgm:t>
        <a:bodyPr vert="horz" wrap="square"/>
        <a:p>
          <a:pPr>
            <a:lnSpc>
              <a:spcPct val="100000"/>
            </a:lnSpc>
            <a:spcBef>
              <a:spcPct val="0"/>
            </a:spcBef>
            <a:spcAft>
              <a:spcPct val="15000"/>
            </a:spcAft>
          </a:pPr>
          <a:r>
            <a:rPr lang="zh-CN" altLang="en-US" sz="1600" dirty="0" smtClean="0">
              <a:latin typeface="Arial" panose="020B0604020202020204" pitchFamily="34" charset="0"/>
              <a:ea typeface="微软雅黑" panose="020B0503020204020204" pitchFamily="34" charset="-122"/>
              <a:sym typeface="+mn-ea"/>
            </a:rPr>
            <a:t>地址转换：</a:t>
          </a:r>
          <a:r>
            <a:rPr lang="en-US" altLang="zh-CN" sz="1600" dirty="0" smtClean="0">
              <a:latin typeface="Arial" panose="020B0604020202020204" pitchFamily="34" charset="0"/>
              <a:ea typeface="微软雅黑" panose="020B0503020204020204" pitchFamily="34" charset="-122"/>
              <a:sym typeface="+mn-ea"/>
            </a:rPr>
            <a:t>CPU </a:t>
          </a:r>
          <a:r>
            <a:rPr lang="zh-CN" altLang="en-US" sz="1600" dirty="0" smtClean="0">
              <a:latin typeface="Arial" panose="020B0604020202020204" pitchFamily="34" charset="0"/>
              <a:ea typeface="微软雅黑" panose="020B0503020204020204" pitchFamily="34" charset="-122"/>
              <a:sym typeface="+mn-ea"/>
            </a:rPr>
            <a:t>的</a:t>
          </a:r>
          <a:r>
            <a:rPr lang="en-US" altLang="zh-CN" sz="1600" dirty="0" smtClean="0">
              <a:latin typeface="Arial" panose="020B0604020202020204" pitchFamily="34" charset="0"/>
              <a:ea typeface="微软雅黑" panose="020B0503020204020204" pitchFamily="34" charset="-122"/>
              <a:sym typeface="+mn-ea"/>
            </a:rPr>
            <a:t> </a:t>
          </a:r>
          <a:r>
            <a:rPr lang="zh-CN" altLang="en-US" sz="1600" dirty="0" smtClean="0">
              <a:latin typeface="Arial" panose="020B0604020202020204" pitchFamily="34" charset="0"/>
              <a:ea typeface="微软雅黑" panose="020B0503020204020204" pitchFamily="34" charset="-122"/>
              <a:sym typeface="+mn-ea"/>
            </a:rPr>
            <a:t>内存管理单元（</a:t>
          </a:r>
          <a:r>
            <a:rPr lang="en-US" altLang="zh-CN" sz="1600" dirty="0" smtClean="0">
              <a:latin typeface="Arial" panose="020B0604020202020204" pitchFamily="34" charset="0"/>
              <a:ea typeface="微软雅黑" panose="020B0503020204020204" pitchFamily="34" charset="-122"/>
              <a:sym typeface="+mn-ea"/>
            </a:rPr>
            <a:t>MMU</a:t>
          </a:r>
          <a:r>
            <a:rPr lang="en-US" altLang="zh-CN" sz="1600" dirty="0" smtClean="0">
              <a:latin typeface="Arial" panose="020B0604020202020204" pitchFamily="34" charset="0"/>
              <a:ea typeface="微软雅黑" panose="020B0503020204020204" pitchFamily="34" charset="-122"/>
              <a:sym typeface="+mn-ea"/>
            </a:rPr>
            <a:t>, </a:t>
          </a:r>
          <a:r>
            <a:rPr lang="en-US" altLang="zh-CN" sz="1600" dirty="0" smtClean="0">
              <a:latin typeface="Arial" panose="020B0604020202020204" pitchFamily="34" charset="0"/>
              <a:ea typeface="微软雅黑" panose="020B0503020204020204" pitchFamily="34" charset="-122"/>
              <a:sym typeface="+mn-ea"/>
            </a:rPr>
            <a:t>memory management unit</a:t>
          </a:r>
          <a:r>
            <a:rPr lang="zh-CN" altLang="en-US" sz="1600" dirty="0" smtClean="0">
              <a:latin typeface="Arial" panose="020B0604020202020204" pitchFamily="34" charset="0"/>
              <a:ea typeface="微软雅黑" panose="020B0503020204020204" pitchFamily="34" charset="-122"/>
              <a:sym typeface="+mn-ea"/>
            </a:rPr>
            <a:t>）</a:t>
          </a:r>
          <a:r>
            <a:rPr lang="zh-CN" altLang="en-US" sz="1600" dirty="0" smtClean="0">
              <a:latin typeface="Arial" panose="020B0604020202020204" pitchFamily="34" charset="0"/>
              <a:ea typeface="微软雅黑" panose="020B0503020204020204" pitchFamily="34" charset="-122"/>
              <a:sym typeface="+mn-ea"/>
            </a:rPr>
            <a:t>通过页表将</a:t>
          </a:r>
          <a:r>
            <a:rPr lang="zh-CN" altLang="en-US" sz="1600" b="1" dirty="0" smtClean="0">
              <a:latin typeface="Arial" panose="020B0604020202020204" pitchFamily="34" charset="0"/>
              <a:ea typeface="微软雅黑" panose="020B0503020204020204" pitchFamily="34" charset="-122"/>
              <a:sym typeface="+mn-ea"/>
            </a:rPr>
            <a:t>虚拟地址</a:t>
          </a:r>
          <a:r>
            <a:rPr lang="en-US" altLang="zh-CN" sz="1600" dirty="0" smtClean="0">
              <a:latin typeface="Arial" panose="020B0604020202020204" pitchFamily="34" charset="0"/>
              <a:ea typeface="微软雅黑" panose="020B0503020204020204" pitchFamily="34" charset="-122"/>
              <a:sym typeface="+mn-ea"/>
            </a:rPr>
            <a:t> (VA) </a:t>
          </a:r>
          <a:r>
            <a:rPr lang="zh-CN" altLang="en-US" sz="1600" dirty="0" smtClean="0">
              <a:latin typeface="Arial" panose="020B0604020202020204" pitchFamily="34" charset="0"/>
              <a:ea typeface="微软雅黑" panose="020B0503020204020204" pitchFamily="34" charset="-122"/>
              <a:sym typeface="+mn-ea"/>
            </a:rPr>
            <a:t>转为</a:t>
          </a:r>
          <a:r>
            <a:rPr lang="zh-CN" altLang="en-US" sz="1600" b="1" dirty="0" smtClean="0">
              <a:latin typeface="Arial" panose="020B0604020202020204" pitchFamily="34" charset="0"/>
              <a:ea typeface="微软雅黑" panose="020B0503020204020204" pitchFamily="34" charset="-122"/>
              <a:sym typeface="+mn-ea"/>
            </a:rPr>
            <a:t>物理地址</a:t>
          </a:r>
          <a:r>
            <a:rPr lang="en-US" altLang="zh-CN" sz="1600" dirty="0" smtClean="0">
              <a:latin typeface="Arial" panose="020B0604020202020204" pitchFamily="34" charset="0"/>
              <a:ea typeface="微软雅黑" panose="020B0503020204020204" pitchFamily="34" charset="-122"/>
              <a:sym typeface="+mn-ea"/>
            </a:rPr>
            <a:t> (PA)</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a:r>
          <a:endPar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dgm:t>
    </dgm:pt>
    <dgm:pt modelId="{FB4BCC77-44E9-4065-8A2F-90CD32DE34E3}" cxnId="{3A42A0D2-05C1-49BC-89BC-D990964B6848}" type="parTrans">
      <dgm:prSet/>
      <dgm:spPr/>
      <dgm:t>
        <a:bodyPr/>
        <a:lstStyle/>
        <a:p>
          <a:endParaRPr lang="zh-CN" altLang="en-US"/>
        </a:p>
      </dgm:t>
    </dgm:pt>
    <dgm:pt modelId="{41FED480-3E2E-47A2-B997-02D527BC8082}" cxnId="{3A42A0D2-05C1-49BC-89BC-D990964B6848}" type="sibTrans">
      <dgm:prSet/>
      <dgm:spPr/>
      <dgm:t>
        <a:bodyPr/>
        <a:lstStyle/>
        <a:p>
          <a:endParaRPr lang="zh-CN" altLang="en-US"/>
        </a:p>
      </dgm:t>
    </dgm:pt>
    <dgm:pt modelId="{E88C7540-34B4-48AA-8AA6-090AAFB3AEFE}">
      <dgm:prSet phldr="0" custT="1"/>
      <dgm:spPr/>
      <dgm:t>
        <a:bodyPr vert="horz" wrap="square"/>
        <a:p>
          <a:pPr>
            <a:lnSpc>
              <a:spcPct val="100000"/>
            </a:lnSpc>
            <a:spcBef>
              <a:spcPct val="0"/>
            </a:spcBef>
            <a:spcAft>
              <a:spcPct val="15000"/>
            </a:spcAft>
          </a:pPr>
          <a:r>
            <a:rPr lang="zh-CN" altLang="en-US" sz="1600" dirty="0" smtClean="0">
              <a:latin typeface="Arial" panose="020B0604020202020204" pitchFamily="34" charset="0"/>
              <a:ea typeface="微软雅黑" panose="020B0503020204020204" pitchFamily="34" charset="-122"/>
              <a:sym typeface="+mn-ea"/>
            </a:rPr>
            <a:t>权限控制：页表项（</a:t>
          </a:r>
          <a:r>
            <a:rPr lang="en-US" altLang="zh-CN" sz="1600" dirty="0" smtClean="0">
              <a:latin typeface="Arial" panose="020B0604020202020204" pitchFamily="34" charset="0"/>
              <a:ea typeface="微软雅黑" panose="020B0503020204020204" pitchFamily="34" charset="-122"/>
              <a:sym typeface="+mn-ea"/>
            </a:rPr>
            <a:t>PTE, </a:t>
          </a:r>
          <a:r>
            <a:rPr lang="en-US" altLang="zh-CN" sz="1600" dirty="0" smtClean="0">
              <a:latin typeface="Arial" panose="020B0604020202020204" pitchFamily="34" charset="0"/>
              <a:ea typeface="微软雅黑" panose="020B0503020204020204" pitchFamily="34" charset="-122"/>
              <a:sym typeface="+mn-ea"/>
            </a:rPr>
            <a:t>page table entry</a:t>
          </a:r>
          <a:r>
            <a:rPr lang="zh-CN" altLang="en-US" sz="1600" dirty="0" smtClean="0">
              <a:latin typeface="Arial" panose="020B0604020202020204" pitchFamily="34" charset="0"/>
              <a:ea typeface="微软雅黑" panose="020B0503020204020204" pitchFamily="34" charset="-122"/>
              <a:sym typeface="+mn-ea"/>
            </a:rPr>
            <a:t>）存储权限位，控制页面访问（如只读、不可执行）</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a:r>
          <a:endPar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dgm:t>
    </dgm:pt>
    <dgm:pt modelId="{63AB9CE6-8D4A-4237-9DEC-09F89660BFF4}" cxnId="{08BF34E3-081F-4C3A-B47F-3A10B19FC4B9}" type="parTrans">
      <dgm:prSet/>
      <dgm:spPr/>
    </dgm:pt>
    <dgm:pt modelId="{691164DE-D572-46BC-B8C1-D0583DF8328A}" cxnId="{08BF34E3-081F-4C3A-B47F-3A10B19FC4B9}" type="sibTrans">
      <dgm:prSet/>
      <dgm:spPr/>
    </dgm:pt>
    <dgm:pt modelId="{A6685E83-BEEC-49B3-B40A-539E2C0D7A1A}">
      <dgm:prSet phldrT="[文本]" phldr="0" custT="1"/>
      <dgm:spPr>
        <a:solidFill>
          <a:srgbClr val="6B0261"/>
        </a:solidFill>
      </dgm:spPr>
      <dgm:t>
        <a:bodyPr vert="horz" wrap="square"/>
        <a:p>
          <a:pPr>
            <a:lnSpc>
              <a:spcPct val="100000"/>
            </a:lnSpc>
            <a:spcBef>
              <a:spcPct val="0"/>
            </a:spcBef>
            <a:spcAft>
              <a:spcPct val="35000"/>
            </a:spcAft>
          </a:pPr>
          <a:r>
            <a:rPr lang="zh-CN" altLang="en-US" sz="2400" dirty="0" smtClean="0">
              <a:latin typeface="Arial" panose="020B0604020202020204" pitchFamily="34" charset="0"/>
              <a:ea typeface="微软雅黑" panose="020B0503020204020204" pitchFamily="34" charset="-122"/>
              <a:sym typeface="+mn-ea"/>
            </a:rPr>
            <a:t>多级结构</a:t>
          </a:r>
          <a:r>
            <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
          </a:r>
          <a:endPar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dgm:t>
    </dgm:pt>
    <dgm:pt modelId="{FECC43A3-D59E-4EE1-9557-8FBB90D5B362}" cxnId="{C0F3DA80-B98A-450E-86F3-A8D3942A5333}" type="parTrans">
      <dgm:prSet/>
      <dgm:spPr/>
      <dgm:t>
        <a:bodyPr/>
        <a:lstStyle/>
        <a:p>
          <a:endParaRPr lang="zh-CN" altLang="en-US"/>
        </a:p>
      </dgm:t>
    </dgm:pt>
    <dgm:pt modelId="{68BB6C9A-B7F0-43A0-955B-FC8C4D4009BF}" cxnId="{C0F3DA80-B98A-450E-86F3-A8D3942A5333}" type="sibTrans">
      <dgm:prSet/>
      <dgm:spPr/>
      <dgm:t>
        <a:bodyPr/>
        <a:lstStyle/>
        <a:p>
          <a:endParaRPr lang="zh-CN" altLang="en-US"/>
        </a:p>
      </dgm:t>
    </dgm:pt>
    <dgm:pt modelId="{CBA50553-63FA-4B5A-9888-EDDBA06CA593}">
      <dgm:prSet phldrT="[文本]" phldr="0" custT="1"/>
      <dgm:spPr/>
      <dgm:t>
        <a:bodyPr vert="horz" wrap="square"/>
        <a:p>
          <a:pPr>
            <a:lnSpc>
              <a:spcPct val="100000"/>
            </a:lnSpc>
            <a:spcBef>
              <a:spcPct val="0"/>
            </a:spcBef>
            <a:spcAft>
              <a:spcPct val="15000"/>
            </a:spcAft>
          </a:pPr>
          <a:r>
            <a:rPr lang="zh-CN" altLang="en-US" sz="1600" dirty="0" smtClean="0">
              <a:latin typeface="Arial" panose="020B0604020202020204" pitchFamily="34" charset="0"/>
              <a:ea typeface="微软雅黑" panose="020B0503020204020204" pitchFamily="34" charset="-122"/>
              <a:sym typeface="+mn-ea"/>
            </a:rPr>
            <a:t>典型层级：</a:t>
          </a:r>
          <a:r>
            <a:rPr lang="en-US" altLang="zh-CN" sz="1600" dirty="0" smtClean="0">
              <a:latin typeface="Arial" panose="020B0604020202020204" pitchFamily="34" charset="0"/>
              <a:ea typeface="微软雅黑" panose="020B0503020204020204" pitchFamily="34" charset="-122"/>
              <a:sym typeface="+mn-ea"/>
            </a:rPr>
            <a:t>4 </a:t>
          </a:r>
          <a:r>
            <a:rPr lang="zh-CN" altLang="en-US" sz="1600" dirty="0" smtClean="0">
              <a:latin typeface="Arial" panose="020B0604020202020204" pitchFamily="34" charset="0"/>
              <a:ea typeface="微软雅黑" panose="020B0503020204020204" pitchFamily="34" charset="-122"/>
              <a:sym typeface="+mn-ea"/>
            </a:rPr>
            <a:t>级树结构（</a:t>
          </a:r>
          <a:r>
            <a:rPr lang="en-US" altLang="zh-CN" sz="1600" dirty="0" smtClean="0">
              <a:latin typeface="Arial" panose="020B0604020202020204" pitchFamily="34" charset="0"/>
              <a:ea typeface="微软雅黑" panose="020B0503020204020204" pitchFamily="34" charset="-122"/>
              <a:sym typeface="+mn-ea"/>
            </a:rPr>
            <a:t>L4(</a:t>
          </a:r>
          <a:r>
            <a:rPr lang="zh-CN" altLang="en-US" sz="1600" dirty="0" smtClean="0">
              <a:latin typeface="Arial" panose="020B0604020202020204" pitchFamily="34" charset="0"/>
              <a:ea typeface="微软雅黑" panose="020B0503020204020204" pitchFamily="34" charset="-122"/>
              <a:sym typeface="+mn-ea"/>
            </a:rPr>
            <a:t>根</a:t>
          </a:r>
          <a:r>
            <a:rPr lang="en-US" altLang="zh-CN" sz="1600" dirty="0" smtClean="0">
              <a:latin typeface="Arial" panose="020B0604020202020204" pitchFamily="34" charset="0"/>
              <a:ea typeface="微软雅黑" panose="020B0503020204020204" pitchFamily="34" charset="-122"/>
              <a:sym typeface="+mn-ea"/>
            </a:rPr>
            <a:t>)</a:t>
          </a:r>
          <a:r>
            <a:rPr lang="en-US" altLang="en-US" sz="1600" dirty="0" smtClean="0">
              <a:latin typeface="Arial" panose="020B0604020202020204" pitchFamily="34" charset="0"/>
              <a:ea typeface="微软雅黑" panose="020B0503020204020204" pitchFamily="34" charset="-122"/>
              <a:sym typeface="+mn-ea"/>
            </a:rPr>
            <a:t>→</a:t>
          </a:r>
          <a:r>
            <a:rPr lang="en-US" altLang="zh-CN" sz="1600" dirty="0" smtClean="0">
              <a:latin typeface="Arial" panose="020B0604020202020204" pitchFamily="34" charset="0"/>
              <a:ea typeface="微软雅黑" panose="020B0503020204020204" pitchFamily="34" charset="-122"/>
              <a:sym typeface="+mn-ea"/>
            </a:rPr>
            <a:t>L3</a:t>
          </a:r>
          <a:r>
            <a:rPr lang="en-US" altLang="en-US" sz="1600" dirty="0" smtClean="0">
              <a:latin typeface="Arial" panose="020B0604020202020204" pitchFamily="34" charset="0"/>
              <a:ea typeface="微软雅黑" panose="020B0503020204020204" pitchFamily="34" charset="-122"/>
              <a:sym typeface="+mn-ea"/>
            </a:rPr>
            <a:t>→</a:t>
          </a:r>
          <a:r>
            <a:rPr lang="en-US" altLang="zh-CN" sz="1600" dirty="0" smtClean="0">
              <a:latin typeface="Arial" panose="020B0604020202020204" pitchFamily="34" charset="0"/>
              <a:ea typeface="微软雅黑" panose="020B0503020204020204" pitchFamily="34" charset="-122"/>
              <a:sym typeface="+mn-ea"/>
            </a:rPr>
            <a:t>L2</a:t>
          </a:r>
          <a:r>
            <a:rPr lang="en-US" altLang="en-US" sz="1600" dirty="0" smtClean="0">
              <a:latin typeface="Arial" panose="020B0604020202020204" pitchFamily="34" charset="0"/>
              <a:ea typeface="微软雅黑" panose="020B0503020204020204" pitchFamily="34" charset="-122"/>
              <a:sym typeface="+mn-ea"/>
            </a:rPr>
            <a:t>→</a:t>
          </a:r>
          <a:r>
            <a:rPr lang="en-US" altLang="zh-CN" sz="1600" dirty="0" smtClean="0">
              <a:latin typeface="Arial" panose="020B0604020202020204" pitchFamily="34" charset="0"/>
              <a:ea typeface="微软雅黑" panose="020B0503020204020204" pitchFamily="34" charset="-122"/>
              <a:sym typeface="+mn-ea"/>
            </a:rPr>
            <a:t>L1(</a:t>
          </a:r>
          <a:r>
            <a:rPr lang="zh-CN" altLang="en-US" sz="1600" dirty="0" smtClean="0">
              <a:latin typeface="Arial" panose="020B0604020202020204" pitchFamily="34" charset="0"/>
              <a:ea typeface="微软雅黑" panose="020B0503020204020204" pitchFamily="34" charset="-122"/>
              <a:sym typeface="+mn-ea"/>
            </a:rPr>
            <a:t>叶</a:t>
          </a:r>
          <a:r>
            <a:rPr lang="en-US" altLang="zh-CN" sz="1600" dirty="0" smtClean="0">
              <a:latin typeface="Arial" panose="020B0604020202020204" pitchFamily="34" charset="0"/>
              <a:ea typeface="微软雅黑" panose="020B0503020204020204" pitchFamily="34" charset="-122"/>
              <a:sym typeface="+mn-ea"/>
            </a:rPr>
            <a:t>)</a:t>
          </a:r>
          <a:r>
            <a:rPr lang="zh-CN" altLang="en-US" sz="1600" dirty="0" smtClean="0">
              <a:latin typeface="Arial" panose="020B0604020202020204" pitchFamily="34" charset="0"/>
              <a:ea typeface="微软雅黑" panose="020B0503020204020204" pitchFamily="34" charset="-122"/>
              <a:sym typeface="+mn-ea"/>
            </a:rPr>
            <a:t>），每级</a:t>
          </a:r>
          <a:r>
            <a:rPr lang="en-US" altLang="zh-CN" sz="1600" dirty="0" smtClean="0">
              <a:latin typeface="Arial" panose="020B0604020202020204" pitchFamily="34" charset="0"/>
              <a:ea typeface="微软雅黑" panose="020B0503020204020204" pitchFamily="34" charset="-122"/>
              <a:sym typeface="+mn-ea"/>
            </a:rPr>
            <a:t> 512 </a:t>
          </a:r>
          <a:r>
            <a:rPr lang="zh-CN" altLang="en-US" sz="1600" dirty="0" smtClean="0">
              <a:latin typeface="Arial" panose="020B0604020202020204" pitchFamily="34" charset="0"/>
              <a:ea typeface="微软雅黑" panose="020B0503020204020204" pitchFamily="34" charset="-122"/>
              <a:sym typeface="+mn-ea"/>
            </a:rPr>
            <a:t>项</a:t>
          </a:r>
          <a:r>
            <a:rPr lang="zh-CN" altLang="en-US" sz="1600" dirty="0" smtClean="0">
              <a:latin typeface="Arial" panose="020B0604020202020204" pitchFamily="34" charset="0"/>
              <a:ea typeface="微软雅黑" panose="020B0503020204020204" pitchFamily="34" charset="-122"/>
              <a:sym typeface="+mn-ea"/>
            </a:rPr>
            <a:t/>
          </a:r>
          <a:endParaRPr lang="zh-CN" altLang="en-US" sz="1600" dirty="0" smtClean="0">
            <a:latin typeface="Arial" panose="020B0604020202020204" pitchFamily="34" charset="0"/>
            <a:ea typeface="微软雅黑" panose="020B0503020204020204" pitchFamily="34" charset="-122"/>
            <a:sym typeface="+mn-ea"/>
          </a:endParaRPr>
        </a:p>
      </dgm:t>
    </dgm:pt>
    <dgm:pt modelId="{73E2772F-165D-4B56-ACC2-969CBF53B0A8}" cxnId="{4790B6BF-8AA6-44D3-A2E5-4EF3FCE25C9B}" type="parTrans">
      <dgm:prSet/>
      <dgm:spPr/>
      <dgm:t>
        <a:bodyPr/>
        <a:lstStyle/>
        <a:p>
          <a:endParaRPr lang="zh-CN" altLang="en-US"/>
        </a:p>
      </dgm:t>
    </dgm:pt>
    <dgm:pt modelId="{7BFD1607-7356-4D3D-A829-75D002A3A4B0}" cxnId="{4790B6BF-8AA6-44D3-A2E5-4EF3FCE25C9B}" type="sibTrans">
      <dgm:prSet/>
      <dgm:spPr/>
      <dgm:t>
        <a:bodyPr/>
        <a:lstStyle/>
        <a:p>
          <a:endParaRPr lang="zh-CN" altLang="en-US"/>
        </a:p>
      </dgm:t>
    </dgm:pt>
    <dgm:pt modelId="{DF478E4D-566D-43D9-A329-6EC8D3121B00}">
      <dgm:prSet phldr="0" custT="1"/>
      <dgm:spPr/>
      <dgm:t>
        <a:bodyPr vert="horz" wrap="square"/>
        <a:p>
          <a:pPr>
            <a:lnSpc>
              <a:spcPct val="100000"/>
            </a:lnSpc>
            <a:spcBef>
              <a:spcPct val="0"/>
            </a:spcBef>
            <a:spcAft>
              <a:spcPct val="15000"/>
            </a:spcAft>
          </a:pPr>
          <a:r>
            <a:rPr lang="zh-CN" altLang="en-US" sz="1600" dirty="0" smtClean="0">
              <a:latin typeface="Arial" panose="020B0604020202020204" pitchFamily="34" charset="0"/>
              <a:ea typeface="微软雅黑" panose="020B0503020204020204" pitchFamily="34" charset="-122"/>
              <a:sym typeface="+mn-ea"/>
            </a:rPr>
            <a:t>地址空间：</a:t>
          </a:r>
          <a:r>
            <a:rPr lang="en-US" altLang="zh-CN" sz="1600" dirty="0" smtClean="0">
              <a:latin typeface="Arial" panose="020B0604020202020204" pitchFamily="34" charset="0"/>
              <a:ea typeface="微软雅黑" panose="020B0503020204020204" pitchFamily="34" charset="-122"/>
              <a:sym typeface="+mn-ea"/>
            </a:rPr>
            <a:t>48 </a:t>
          </a:r>
          <a:r>
            <a:rPr lang="zh-CN" altLang="en-US" sz="1600" dirty="0" smtClean="0">
              <a:latin typeface="Arial" panose="020B0604020202020204" pitchFamily="34" charset="0"/>
              <a:ea typeface="微软雅黑" panose="020B0503020204020204" pitchFamily="34" charset="-122"/>
              <a:sym typeface="+mn-ea"/>
            </a:rPr>
            <a:t>位虚拟地址</a:t>
          </a:r>
          <a:r>
            <a:rPr lang="en-US" altLang="zh-CN" sz="1600" dirty="0" smtClean="0">
              <a:latin typeface="Arial" panose="020B0604020202020204" pitchFamily="34" charset="0"/>
              <a:ea typeface="微软雅黑" panose="020B0503020204020204" pitchFamily="34" charset="-122"/>
              <a:sym typeface="+mn-ea"/>
            </a:rPr>
            <a:t> </a:t>
          </a:r>
          <a:r>
            <a:rPr lang="en-US" altLang="en-US" sz="1600" dirty="0" smtClean="0">
              <a:latin typeface="Arial" panose="020B0604020202020204" pitchFamily="34" charset="0"/>
              <a:ea typeface="微软雅黑" panose="020B0503020204020204" pitchFamily="34" charset="-122"/>
              <a:sym typeface="+mn-ea"/>
            </a:rPr>
            <a:t>→</a:t>
          </a:r>
          <a:r>
            <a:rPr lang="en-US" altLang="zh-CN" sz="1600" dirty="0" smtClean="0">
              <a:latin typeface="Arial" panose="020B0604020202020204" pitchFamily="34" charset="0"/>
              <a:ea typeface="微软雅黑" panose="020B0503020204020204" pitchFamily="34" charset="-122"/>
              <a:sym typeface="+mn-ea"/>
            </a:rPr>
            <a:t> 256 TB </a:t>
          </a:r>
          <a:r>
            <a:rPr lang="zh-CN" altLang="en-US" sz="1600" dirty="0" smtClean="0">
              <a:latin typeface="Arial" panose="020B0604020202020204" pitchFamily="34" charset="0"/>
              <a:ea typeface="微软雅黑" panose="020B0503020204020204" pitchFamily="34" charset="-122"/>
              <a:sym typeface="+mn-ea"/>
            </a:rPr>
            <a:t>总空间（分为两半，其中用户空间占</a:t>
          </a:r>
          <a:r>
            <a:rPr lang="en-US" altLang="zh-CN" sz="1600" dirty="0" smtClean="0">
              <a:latin typeface="Arial" panose="020B0604020202020204" pitchFamily="34" charset="0"/>
              <a:ea typeface="微软雅黑" panose="020B0503020204020204" pitchFamily="34" charset="-122"/>
              <a:sym typeface="+mn-ea"/>
            </a:rPr>
            <a:t> 128 TB</a:t>
          </a:r>
          <a:r>
            <a:rPr lang="zh-CN" altLang="en-US" sz="1600" dirty="0" smtClean="0">
              <a:latin typeface="Arial" panose="020B0604020202020204" pitchFamily="34" charset="0"/>
              <a:ea typeface="微软雅黑" panose="020B0503020204020204" pitchFamily="34" charset="-122"/>
              <a:sym typeface="+mn-ea"/>
            </a:rPr>
            <a:t>）</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a:r>
          <a:endPar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dgm:t>
    </dgm:pt>
    <dgm:pt modelId="{82ABF5CC-EC0D-47E6-BA61-231C962B94FC}" cxnId="{B2DF9718-D4DC-4189-A525-AE595A596F7A}" type="parTrans">
      <dgm:prSet/>
      <dgm:spPr/>
    </dgm:pt>
    <dgm:pt modelId="{BE68538B-E0BA-4369-8C2F-7D897EE310F3}" cxnId="{B2DF9718-D4DC-4189-A525-AE595A596F7A}" type="sibTrans">
      <dgm:prSet/>
      <dgm:spPr/>
    </dgm:pt>
    <dgm:pt modelId="{D5935282-3C7C-4F88-A1AE-C27DB8591514}" type="pres">
      <dgm:prSet presAssocID="{2E15931E-1654-4B73-89B2-8E333D9C42E0}" presName="Name0" presStyleCnt="0">
        <dgm:presLayoutVars>
          <dgm:dir/>
          <dgm:animLvl val="lvl"/>
          <dgm:resizeHandles val="exact"/>
        </dgm:presLayoutVars>
      </dgm:prSet>
      <dgm:spPr/>
    </dgm:pt>
    <dgm:pt modelId="{E61486FD-113E-4C87-8ADF-B1A8E2A84801}" type="pres">
      <dgm:prSet presAssocID="{90DDC401-903F-495B-A387-FFA8A45891F6}" presName="linNode" presStyleCnt="0"/>
      <dgm:spPr/>
    </dgm:pt>
    <dgm:pt modelId="{96BE2B31-D87C-43E1-BE64-4C27B13F4AA4}" type="pres">
      <dgm:prSet presAssocID="{90DDC401-903F-495B-A387-FFA8A45891F6}" presName="parentText" presStyleLbl="node1" presStyleIdx="0" presStyleCnt="2" custScaleX="62681">
        <dgm:presLayoutVars>
          <dgm:chMax val="1"/>
          <dgm:bulletEnabled val="1"/>
        </dgm:presLayoutVars>
      </dgm:prSet>
      <dgm:spPr/>
    </dgm:pt>
    <dgm:pt modelId="{DD9406C3-FC80-4468-A55B-122D744D43F0}" type="pres">
      <dgm:prSet presAssocID="{90DDC401-903F-495B-A387-FFA8A45891F6}" presName="descendantText" presStyleLbl="alignAccFollowNode1" presStyleIdx="0" presStyleCnt="2" custScaleX="111176" custLinFactNeighborX="-143" custLinFactNeighborY="1116">
        <dgm:presLayoutVars>
          <dgm:bulletEnabled val="1"/>
        </dgm:presLayoutVars>
      </dgm:prSet>
      <dgm:spPr/>
    </dgm:pt>
    <dgm:pt modelId="{F1941F29-E51C-4282-956D-50CFAFAEB9B8}" type="pres">
      <dgm:prSet presAssocID="{35E5E878-0907-4014-9CFA-56AEFE6C22E5}" presName="sp" presStyleCnt="0"/>
      <dgm:spPr/>
    </dgm:pt>
    <dgm:pt modelId="{B589D1EC-5156-4FB2-BB1C-8E1290A868B9}" type="pres">
      <dgm:prSet presAssocID="{A6685E83-BEEC-49B3-B40A-539E2C0D7A1A}" presName="linNode" presStyleCnt="0"/>
      <dgm:spPr/>
    </dgm:pt>
    <dgm:pt modelId="{EBD335B5-8308-49CB-9630-99D852747B1F}" type="pres">
      <dgm:prSet presAssocID="{A6685E83-BEEC-49B3-B40A-539E2C0D7A1A}" presName="parentText" presStyleLbl="node1" presStyleIdx="1" presStyleCnt="2" custScaleX="63005">
        <dgm:presLayoutVars>
          <dgm:chMax val="1"/>
          <dgm:bulletEnabled val="1"/>
        </dgm:presLayoutVars>
      </dgm:prSet>
      <dgm:spPr/>
    </dgm:pt>
    <dgm:pt modelId="{6EB2A58E-CA03-4F76-94B6-D8FE50231963}" type="pres">
      <dgm:prSet presAssocID="{A6685E83-BEEC-49B3-B40A-539E2C0D7A1A}" presName="descendantText" presStyleLbl="alignAccFollowNode1" presStyleIdx="1" presStyleCnt="2" custScaleX="111094">
        <dgm:presLayoutVars>
          <dgm:bulletEnabled val="1"/>
        </dgm:presLayoutVars>
      </dgm:prSet>
      <dgm:spPr/>
    </dgm:pt>
  </dgm:ptLst>
  <dgm:cxnLst>
    <dgm:cxn modelId="{AF2233F7-3F72-446F-BF10-EE367E038237}" srcId="{2E15931E-1654-4B73-89B2-8E333D9C42E0}" destId="{90DDC401-903F-495B-A387-FFA8A45891F6}" srcOrd="0" destOrd="0" parTransId="{C8BB0B8A-C63A-4F83-B8DD-3A7CE259E4EE}" sibTransId="{35E5E878-0907-4014-9CFA-56AEFE6C22E5}"/>
    <dgm:cxn modelId="{3A42A0D2-05C1-49BC-89BC-D990964B6848}" srcId="{90DDC401-903F-495B-A387-FFA8A45891F6}" destId="{E08CEB0C-E37F-4DCA-A8EA-4B2CD3AD7754}" srcOrd="0" destOrd="0" parTransId="{FB4BCC77-44E9-4065-8A2F-90CD32DE34E3}" sibTransId="{41FED480-3E2E-47A2-B997-02D527BC8082}"/>
    <dgm:cxn modelId="{08BF34E3-081F-4C3A-B47F-3A10B19FC4B9}" srcId="{90DDC401-903F-495B-A387-FFA8A45891F6}" destId="{E88C7540-34B4-48AA-8AA6-090AAFB3AEFE}" srcOrd="1" destOrd="0" parTransId="{63AB9CE6-8D4A-4237-9DEC-09F89660BFF4}" sibTransId="{691164DE-D572-46BC-B8C1-D0583DF8328A}"/>
    <dgm:cxn modelId="{C0F3DA80-B98A-450E-86F3-A8D3942A5333}" srcId="{2E15931E-1654-4B73-89B2-8E333D9C42E0}" destId="{A6685E83-BEEC-49B3-B40A-539E2C0D7A1A}" srcOrd="1" destOrd="0" parTransId="{FECC43A3-D59E-4EE1-9557-8FBB90D5B362}" sibTransId="{68BB6C9A-B7F0-43A0-955B-FC8C4D4009BF}"/>
    <dgm:cxn modelId="{4790B6BF-8AA6-44D3-A2E5-4EF3FCE25C9B}" srcId="{A6685E83-BEEC-49B3-B40A-539E2C0D7A1A}" destId="{CBA50553-63FA-4B5A-9888-EDDBA06CA593}" srcOrd="0" destOrd="1" parTransId="{73E2772F-165D-4B56-ACC2-969CBF53B0A8}" sibTransId="{7BFD1607-7356-4D3D-A829-75D002A3A4B0}"/>
    <dgm:cxn modelId="{B2DF9718-D4DC-4189-A525-AE595A596F7A}" srcId="{A6685E83-BEEC-49B3-B40A-539E2C0D7A1A}" destId="{DF478E4D-566D-43D9-A329-6EC8D3121B00}" srcOrd="1" destOrd="1" parTransId="{82ABF5CC-EC0D-47E6-BA61-231C962B94FC}" sibTransId="{BE68538B-E0BA-4369-8C2F-7D897EE310F3}"/>
    <dgm:cxn modelId="{4C5BB90D-0B25-4FE7-AFDB-F81F6D0E7BDF}" type="presOf" srcId="{2E15931E-1654-4B73-89B2-8E333D9C42E0}" destId="{D5935282-3C7C-4F88-A1AE-C27DB8591514}" srcOrd="0" destOrd="0" presId="urn:microsoft.com/office/officeart/2005/8/layout/vList5"/>
    <dgm:cxn modelId="{0374A0F5-615E-4433-A7EF-140EA141708F}" type="presParOf" srcId="{D5935282-3C7C-4F88-A1AE-C27DB8591514}" destId="{E61486FD-113E-4C87-8ADF-B1A8E2A84801}" srcOrd="0" destOrd="0" presId="urn:microsoft.com/office/officeart/2005/8/layout/vList5"/>
    <dgm:cxn modelId="{313DE85E-A2B9-4090-A20B-B93F3EC2BDEC}" type="presParOf" srcId="{E61486FD-113E-4C87-8ADF-B1A8E2A84801}" destId="{96BE2B31-D87C-43E1-BE64-4C27B13F4AA4}" srcOrd="0" destOrd="0" presId="urn:microsoft.com/office/officeart/2005/8/layout/vList5"/>
    <dgm:cxn modelId="{5F832DE1-7C70-44AE-B267-B30950428596}" type="presOf" srcId="{90DDC401-903F-495B-A387-FFA8A45891F6}" destId="{96BE2B31-D87C-43E1-BE64-4C27B13F4AA4}" srcOrd="0" destOrd="0" presId="urn:microsoft.com/office/officeart/2005/8/layout/vList5"/>
    <dgm:cxn modelId="{46DB6107-6D8E-4F82-9C0F-E5174265A9FF}" type="presParOf" srcId="{E61486FD-113E-4C87-8ADF-B1A8E2A84801}" destId="{DD9406C3-FC80-4468-A55B-122D744D43F0}" srcOrd="1" destOrd="0" presId="urn:microsoft.com/office/officeart/2005/8/layout/vList5"/>
    <dgm:cxn modelId="{6767B570-F405-4743-ACC4-9FD10A21812E}" type="presOf" srcId="{E08CEB0C-E37F-4DCA-A8EA-4B2CD3AD7754}" destId="{DD9406C3-FC80-4468-A55B-122D744D43F0}" srcOrd="0" destOrd="0" presId="urn:microsoft.com/office/officeart/2005/8/layout/vList5"/>
    <dgm:cxn modelId="{0F563BB0-A2FF-4CAC-AF96-C66493CB5549}" type="presOf" srcId="{E88C7540-34B4-48AA-8AA6-090AAFB3AEFE}" destId="{DD9406C3-FC80-4468-A55B-122D744D43F0}" srcOrd="0" destOrd="1" presId="urn:microsoft.com/office/officeart/2005/8/layout/vList5"/>
    <dgm:cxn modelId="{CF8728B5-0718-454E-9215-B94753238804}" type="presParOf" srcId="{D5935282-3C7C-4F88-A1AE-C27DB8591514}" destId="{F1941F29-E51C-4282-956D-50CFAFAEB9B8}" srcOrd="1" destOrd="0" presId="urn:microsoft.com/office/officeart/2005/8/layout/vList5"/>
    <dgm:cxn modelId="{74B8D33A-D772-4C1F-810E-37A27409597D}" type="presParOf" srcId="{D5935282-3C7C-4F88-A1AE-C27DB8591514}" destId="{B589D1EC-5156-4FB2-BB1C-8E1290A868B9}" srcOrd="2" destOrd="0" presId="urn:microsoft.com/office/officeart/2005/8/layout/vList5"/>
    <dgm:cxn modelId="{362C8951-8181-46C1-929C-88E64314AE9C}" type="presParOf" srcId="{B589D1EC-5156-4FB2-BB1C-8E1290A868B9}" destId="{EBD335B5-8308-49CB-9630-99D852747B1F}" srcOrd="0" destOrd="2" presId="urn:microsoft.com/office/officeart/2005/8/layout/vList5"/>
    <dgm:cxn modelId="{86942613-FF46-4A53-B9D3-E3F1EACB62DB}" type="presOf" srcId="{A6685E83-BEEC-49B3-B40A-539E2C0D7A1A}" destId="{EBD335B5-8308-49CB-9630-99D852747B1F}" srcOrd="0" destOrd="0" presId="urn:microsoft.com/office/officeart/2005/8/layout/vList5"/>
    <dgm:cxn modelId="{4F8F7AB1-3A4F-4E64-9646-71F779DA9424}" type="presParOf" srcId="{B589D1EC-5156-4FB2-BB1C-8E1290A868B9}" destId="{6EB2A58E-CA03-4F76-94B6-D8FE50231963}" srcOrd="1" destOrd="2" presId="urn:microsoft.com/office/officeart/2005/8/layout/vList5"/>
    <dgm:cxn modelId="{0C085C98-FF38-4E70-8B55-FA2600020C61}" type="presOf" srcId="{CBA50553-63FA-4B5A-9888-EDDBA06CA593}" destId="{6EB2A58E-CA03-4F76-94B6-D8FE50231963}" srcOrd="0" destOrd="0" presId="urn:microsoft.com/office/officeart/2005/8/layout/vList5"/>
    <dgm:cxn modelId="{A649A8B0-409D-4FBD-90C9-987F37D97D8B}" type="presOf" srcId="{DF478E4D-566D-43D9-A329-6EC8D3121B00}" destId="{6EB2A58E-CA03-4F76-94B6-D8FE50231963}" srcOrd="0" destOrd="1"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645525" cy="2204085"/>
        <a:chOff x="0" y="0"/>
        <a:chExt cx="8645525" cy="2204085"/>
      </a:xfrm>
    </dsp:grpSpPr>
    <dsp:sp modelId="{DD9406C3-FC80-4468-A55B-122D744D43F0}">
      <dsp:nvSpPr>
        <dsp:cNvPr id="4" name="同侧圆角矩形 3"/>
        <dsp:cNvSpPr/>
      </dsp:nvSpPr>
      <dsp:spPr bwMode="white">
        <a:xfrm rot="5400000">
          <a:off x="4994499" y="-2713914"/>
          <a:ext cx="568796" cy="6151519"/>
        </a:xfrm>
        <a:prstGeom prst="round2Same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rot="-5400000" vert="horz" wrap="square" lIns="60960" tIns="30480" rIns="60960" bIns="3048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释放对象后，悬垂指针（</a:t>
          </a:r>
          <a:r>
            <a:rPr lang="en-US" altLang="zh-CN"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Dangling Pointer</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a:t>
          </a:r>
          <a:r>
            <a:rPr lang="en-US" altLang="zh-CN"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仍被解引用</a:t>
          </a:r>
          <a:endPar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dsp:txBody>
      <dsp:txXfrm rot="5400000">
        <a:off x="4994499" y="-2713914"/>
        <a:ext cx="568796" cy="6151519"/>
      </dsp:txXfrm>
    </dsp:sp>
    <dsp:sp modelId="{96BE2B31-D87C-43E1-BE64-4C27B13F4AA4}">
      <dsp:nvSpPr>
        <dsp:cNvPr id="3" name="圆角矩形 2"/>
        <dsp:cNvSpPr/>
      </dsp:nvSpPr>
      <dsp:spPr bwMode="white">
        <a:xfrm>
          <a:off x="256712" y="0"/>
          <a:ext cx="1950877" cy="710995"/>
        </a:xfrm>
        <a:prstGeom prst="roundRect">
          <a:avLst/>
        </a:prstGeom>
        <a:solidFill>
          <a:srgbClr val="6B0261"/>
        </a:solidFill>
        <a:ln>
          <a:noFill/>
        </a:ln>
      </dsp:spPr>
      <dsp:style>
        <a:lnRef idx="2">
          <a:schemeClr val="lt1"/>
        </a:lnRef>
        <a:fillRef idx="1">
          <a:schemeClr val="accent1"/>
        </a:fillRef>
        <a:effectRef idx="0">
          <a:scrgbClr r="0" g="0" b="0"/>
        </a:effectRef>
        <a:fontRef idx="minor">
          <a:schemeClr val="lt1"/>
        </a:fontRef>
      </dsp:style>
      <dsp:txBody>
        <a:bodyPr vert="horz" wrap="square" lIns="91439" tIns="45719" rIns="9143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核心问题</a:t>
          </a:r>
          <a:endPar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dsp:txBody>
      <dsp:txXfrm>
        <a:off x="256712" y="0"/>
        <a:ext cx="1950877" cy="710995"/>
      </dsp:txXfrm>
    </dsp:sp>
    <dsp:sp modelId="{6EB2A58E-CA03-4F76-94B6-D8FE50231963}">
      <dsp:nvSpPr>
        <dsp:cNvPr id="6" name="同侧圆角矩形 5"/>
        <dsp:cNvSpPr/>
      </dsp:nvSpPr>
      <dsp:spPr bwMode="white">
        <a:xfrm rot="5400000">
          <a:off x="5006765" y="-1971449"/>
          <a:ext cx="568796" cy="6146982"/>
        </a:xfrm>
        <a:prstGeom prst="round2Same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rot="-5400000" vert="horz" wrap="square" lIns="60960" tIns="30480" rIns="60960" bIns="3048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攻击者通过内存重用（如分配新对象占位）篡改数据</a:t>
          </a:r>
          <a:r>
            <a:rPr lang="en-US" altLang="zh-CN"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a:t>
          </a:r>
          <a:r>
            <a:rPr lang="en-US"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a:t>
          </a:r>
          <a:r>
            <a:rPr lang="en-US" altLang="zh-CN"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控制流劫持或信息泄露</a:t>
          </a:r>
          <a:endPar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dsp:txBody>
      <dsp:txXfrm rot="5400000">
        <a:off x="5006765" y="-1971449"/>
        <a:ext cx="568796" cy="6146982"/>
      </dsp:txXfrm>
    </dsp:sp>
    <dsp:sp modelId="{EBD335B5-8308-49CB-9630-99D852747B1F}">
      <dsp:nvSpPr>
        <dsp:cNvPr id="5" name="圆角矩形 4"/>
        <dsp:cNvSpPr/>
      </dsp:nvSpPr>
      <dsp:spPr bwMode="white">
        <a:xfrm>
          <a:off x="256712" y="746545"/>
          <a:ext cx="1960961" cy="710995"/>
        </a:xfrm>
        <a:prstGeom prst="roundRect">
          <a:avLst/>
        </a:prstGeom>
        <a:solidFill>
          <a:srgbClr val="6B0261"/>
        </a:solidFill>
      </dsp:spPr>
      <dsp:style>
        <a:lnRef idx="2">
          <a:schemeClr val="lt1"/>
        </a:lnRef>
        <a:fillRef idx="1">
          <a:schemeClr val="accent1"/>
        </a:fillRef>
        <a:effectRef idx="0">
          <a:scrgbClr r="0" g="0" b="0"/>
        </a:effectRef>
        <a:fontRef idx="minor">
          <a:schemeClr val="lt1"/>
        </a:fontRef>
      </dsp:style>
      <dsp:txBody>
        <a:bodyPr vert="horz" wrap="square" lIns="91439" tIns="45719" rIns="9143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攻击原理</a:t>
          </a:r>
          <a:endPar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dsp:txBody>
      <dsp:txXfrm>
        <a:off x="256712" y="746545"/>
        <a:ext cx="1960961" cy="710995"/>
      </dsp:txXfrm>
    </dsp:sp>
    <dsp:sp modelId="{64028F0D-BE57-4642-92F7-303D4E45C524}">
      <dsp:nvSpPr>
        <dsp:cNvPr id="8" name="同侧圆角矩形 7"/>
        <dsp:cNvSpPr/>
      </dsp:nvSpPr>
      <dsp:spPr bwMode="white">
        <a:xfrm rot="5400000">
          <a:off x="5025225" y="-1223692"/>
          <a:ext cx="568796" cy="6158380"/>
        </a:xfrm>
        <a:prstGeom prst="round2Same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rot="-5400000" vert="horz" wrap="square" lIns="60960" tIns="30480" rIns="60960" bIns="3048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en-US" altLang="zh-CN"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CWE </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排名第</a:t>
          </a:r>
          <a:r>
            <a:rPr lang="en-US" altLang="zh-CN"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7 </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的致命漏洞（占软件漏洞</a:t>
          </a:r>
          <a:r>
            <a:rPr lang="en-US" altLang="zh-CN"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 12%</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a:t>
          </a:r>
          <a:endParaRPr lang="zh-CN" altLang="en-US" sz="1600">
            <a:solidFill>
              <a:schemeClr val="dk1"/>
            </a:solidFill>
          </a:endParaRPr>
        </a:p>
        <a:p>
          <a:pPr marL="171450" lvl="1" indent="-171450">
            <a:lnSpc>
              <a:spcPct val="100000"/>
            </a:lnSpc>
            <a:spcBef>
              <a:spcPct val="0"/>
            </a:spcBef>
            <a:spcAft>
              <a:spcPct val="15000"/>
            </a:spcAft>
            <a:buChar char="•"/>
          </a:pPr>
          <a:r>
            <a:rPr lang="en-US" altLang="zh-CN"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Microsoft </a:t>
          </a:r>
          <a:r>
            <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统计：第二大漏洞根源（仅次于缓冲区溢出）</a:t>
          </a:r>
          <a:endPar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dsp:txBody>
      <dsp:txXfrm rot="5400000">
        <a:off x="5025225" y="-1223692"/>
        <a:ext cx="568796" cy="6158380"/>
      </dsp:txXfrm>
    </dsp:sp>
    <dsp:sp modelId="{B093CE78-670B-40EB-95CF-315E334D550F}">
      <dsp:nvSpPr>
        <dsp:cNvPr id="7" name="圆角矩形 6"/>
        <dsp:cNvSpPr/>
      </dsp:nvSpPr>
      <dsp:spPr bwMode="white">
        <a:xfrm>
          <a:off x="256712" y="1493090"/>
          <a:ext cx="1973721" cy="710995"/>
        </a:xfrm>
        <a:prstGeom prst="roundRect">
          <a:avLst/>
        </a:prstGeom>
        <a:solidFill>
          <a:srgbClr val="6B0261"/>
        </a:solidFill>
      </dsp:spPr>
      <dsp:style>
        <a:lnRef idx="2">
          <a:schemeClr val="lt1"/>
        </a:lnRef>
        <a:fillRef idx="1">
          <a:schemeClr val="accent1"/>
        </a:fillRef>
        <a:effectRef idx="0">
          <a:scrgbClr r="0" g="0" b="0"/>
        </a:effectRef>
        <a:fontRef idx="minor">
          <a:schemeClr val="lt1"/>
        </a:fontRef>
      </dsp:style>
      <dsp:txBody>
        <a:bodyPr vert="horz" wrap="square" lIns="91439" tIns="45719" rIns="9143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现实影响</a:t>
          </a:r>
          <a:endPar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dsp:txBody>
      <dsp:txXfrm>
        <a:off x="256712" y="1493090"/>
        <a:ext cx="1973721" cy="71099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239250" cy="3294380"/>
        <a:chOff x="0" y="0"/>
        <a:chExt cx="9239250" cy="3294380"/>
      </a:xfrm>
    </dsp:grpSpPr>
    <dsp:sp modelId="{DD9406C3-FC80-4468-A55B-122D744D43F0}">
      <dsp:nvSpPr>
        <dsp:cNvPr id="4" name="同侧圆角矩形 3"/>
        <dsp:cNvSpPr/>
      </dsp:nvSpPr>
      <dsp:spPr bwMode="white">
        <a:xfrm rot="5400000">
          <a:off x="5011525" y="-2469130"/>
          <a:ext cx="1285612" cy="6573970"/>
        </a:xfrm>
        <a:prstGeom prst="round2Same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rot="-5400000" vert="horz" wrap="square" lIns="60960" tIns="30480" rIns="60960" bIns="3048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600" dirty="0" smtClean="0">
              <a:solidFill>
                <a:schemeClr val="dk1"/>
              </a:solidFill>
              <a:latin typeface="Arial" panose="020B0604020202020204" pitchFamily="34" charset="0"/>
              <a:ea typeface="微软雅黑" panose="020B0503020204020204" pitchFamily="34" charset="-122"/>
              <a:sym typeface="+mn-ea"/>
            </a:rPr>
            <a:t>地址转换：</a:t>
          </a:r>
          <a:r>
            <a:rPr lang="en-US" altLang="zh-CN" sz="1600" dirty="0" smtClean="0">
              <a:solidFill>
                <a:schemeClr val="dk1"/>
              </a:solidFill>
              <a:latin typeface="Arial" panose="020B0604020202020204" pitchFamily="34" charset="0"/>
              <a:ea typeface="微软雅黑" panose="020B0503020204020204" pitchFamily="34" charset="-122"/>
              <a:sym typeface="+mn-ea"/>
            </a:rPr>
            <a:t>CPU </a:t>
          </a:r>
          <a:r>
            <a:rPr lang="zh-CN" altLang="en-US" sz="1600" dirty="0" smtClean="0">
              <a:solidFill>
                <a:schemeClr val="dk1"/>
              </a:solidFill>
              <a:latin typeface="Arial" panose="020B0604020202020204" pitchFamily="34" charset="0"/>
              <a:ea typeface="微软雅黑" panose="020B0503020204020204" pitchFamily="34" charset="-122"/>
              <a:sym typeface="+mn-ea"/>
            </a:rPr>
            <a:t>的</a:t>
          </a:r>
          <a:r>
            <a:rPr lang="en-US" altLang="zh-CN" sz="1600" dirty="0" smtClean="0">
              <a:solidFill>
                <a:schemeClr val="dk1"/>
              </a:solidFill>
              <a:latin typeface="Arial" panose="020B0604020202020204" pitchFamily="34" charset="0"/>
              <a:ea typeface="微软雅黑" panose="020B0503020204020204" pitchFamily="34" charset="-122"/>
              <a:sym typeface="+mn-ea"/>
            </a:rPr>
            <a:t> </a:t>
          </a:r>
          <a:r>
            <a:rPr lang="zh-CN" altLang="en-US" sz="1600" dirty="0" smtClean="0">
              <a:solidFill>
                <a:schemeClr val="dk1"/>
              </a:solidFill>
              <a:latin typeface="Arial" panose="020B0604020202020204" pitchFamily="34" charset="0"/>
              <a:ea typeface="微软雅黑" panose="020B0503020204020204" pitchFamily="34" charset="-122"/>
              <a:sym typeface="+mn-ea"/>
            </a:rPr>
            <a:t>内存管理单元（</a:t>
          </a:r>
          <a:r>
            <a:rPr lang="en-US" altLang="zh-CN" sz="1600" dirty="0" smtClean="0">
              <a:solidFill>
                <a:schemeClr val="dk1"/>
              </a:solidFill>
              <a:latin typeface="Arial" panose="020B0604020202020204" pitchFamily="34" charset="0"/>
              <a:ea typeface="微软雅黑" panose="020B0503020204020204" pitchFamily="34" charset="-122"/>
              <a:sym typeface="+mn-ea"/>
            </a:rPr>
            <a:t>MMU</a:t>
          </a:r>
          <a:r>
            <a:rPr lang="en-US" altLang="zh-CN" sz="1600" dirty="0" smtClean="0">
              <a:solidFill>
                <a:schemeClr val="dk1"/>
              </a:solidFill>
              <a:latin typeface="Arial" panose="020B0604020202020204" pitchFamily="34" charset="0"/>
              <a:ea typeface="微软雅黑" panose="020B0503020204020204" pitchFamily="34" charset="-122"/>
              <a:sym typeface="+mn-ea"/>
            </a:rPr>
            <a:t>, </a:t>
          </a:r>
          <a:r>
            <a:rPr lang="en-US" altLang="zh-CN" sz="1600" dirty="0" smtClean="0">
              <a:solidFill>
                <a:schemeClr val="dk1"/>
              </a:solidFill>
              <a:latin typeface="Arial" panose="020B0604020202020204" pitchFamily="34" charset="0"/>
              <a:ea typeface="微软雅黑" panose="020B0503020204020204" pitchFamily="34" charset="-122"/>
              <a:sym typeface="+mn-ea"/>
            </a:rPr>
            <a:t>memory management unit</a:t>
          </a:r>
          <a:r>
            <a:rPr lang="zh-CN" altLang="en-US" sz="1600" dirty="0" smtClean="0">
              <a:solidFill>
                <a:schemeClr val="dk1"/>
              </a:solidFill>
              <a:latin typeface="Arial" panose="020B0604020202020204" pitchFamily="34" charset="0"/>
              <a:ea typeface="微软雅黑" panose="020B0503020204020204" pitchFamily="34" charset="-122"/>
              <a:sym typeface="+mn-ea"/>
            </a:rPr>
            <a:t>）</a:t>
          </a:r>
          <a:r>
            <a:rPr lang="zh-CN" altLang="en-US" sz="1600" dirty="0" smtClean="0">
              <a:solidFill>
                <a:schemeClr val="dk1"/>
              </a:solidFill>
              <a:latin typeface="Arial" panose="020B0604020202020204" pitchFamily="34" charset="0"/>
              <a:ea typeface="微软雅黑" panose="020B0503020204020204" pitchFamily="34" charset="-122"/>
              <a:sym typeface="+mn-ea"/>
            </a:rPr>
            <a:t>通过页表将</a:t>
          </a:r>
          <a:r>
            <a:rPr lang="zh-CN" altLang="en-US" sz="1600" b="1" dirty="0" smtClean="0">
              <a:solidFill>
                <a:schemeClr val="dk1"/>
              </a:solidFill>
              <a:latin typeface="Arial" panose="020B0604020202020204" pitchFamily="34" charset="0"/>
              <a:ea typeface="微软雅黑" panose="020B0503020204020204" pitchFamily="34" charset="-122"/>
              <a:sym typeface="+mn-ea"/>
            </a:rPr>
            <a:t>虚拟地址</a:t>
          </a:r>
          <a:r>
            <a:rPr lang="en-US" altLang="zh-CN" sz="1600" dirty="0" smtClean="0">
              <a:solidFill>
                <a:schemeClr val="dk1"/>
              </a:solidFill>
              <a:latin typeface="Arial" panose="020B0604020202020204" pitchFamily="34" charset="0"/>
              <a:ea typeface="微软雅黑" panose="020B0503020204020204" pitchFamily="34" charset="-122"/>
              <a:sym typeface="+mn-ea"/>
            </a:rPr>
            <a:t> (VA) </a:t>
          </a:r>
          <a:r>
            <a:rPr lang="zh-CN" altLang="en-US" sz="1600" dirty="0" smtClean="0">
              <a:solidFill>
                <a:schemeClr val="dk1"/>
              </a:solidFill>
              <a:latin typeface="Arial" panose="020B0604020202020204" pitchFamily="34" charset="0"/>
              <a:ea typeface="微软雅黑" panose="020B0503020204020204" pitchFamily="34" charset="-122"/>
              <a:sym typeface="+mn-ea"/>
            </a:rPr>
            <a:t>转为</a:t>
          </a:r>
          <a:r>
            <a:rPr lang="zh-CN" altLang="en-US" sz="1600" b="1" dirty="0" smtClean="0">
              <a:solidFill>
                <a:schemeClr val="dk1"/>
              </a:solidFill>
              <a:latin typeface="Arial" panose="020B0604020202020204" pitchFamily="34" charset="0"/>
              <a:ea typeface="微软雅黑" panose="020B0503020204020204" pitchFamily="34" charset="-122"/>
              <a:sym typeface="+mn-ea"/>
            </a:rPr>
            <a:t>物理地址</a:t>
          </a:r>
          <a:r>
            <a:rPr lang="en-US" altLang="zh-CN" sz="1600" dirty="0" smtClean="0">
              <a:solidFill>
                <a:schemeClr val="dk1"/>
              </a:solidFill>
              <a:latin typeface="Arial" panose="020B0604020202020204" pitchFamily="34" charset="0"/>
              <a:ea typeface="微软雅黑" panose="020B0503020204020204" pitchFamily="34" charset="-122"/>
              <a:sym typeface="+mn-ea"/>
            </a:rPr>
            <a:t> (PA)</a:t>
          </a:r>
          <a:endPar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marL="171450" lvl="1" indent="-171450">
            <a:lnSpc>
              <a:spcPct val="100000"/>
            </a:lnSpc>
            <a:spcBef>
              <a:spcPct val="0"/>
            </a:spcBef>
            <a:spcAft>
              <a:spcPct val="15000"/>
            </a:spcAft>
            <a:buChar char="•"/>
          </a:pPr>
          <a:r>
            <a:rPr lang="zh-CN" altLang="en-US" sz="1600" dirty="0" smtClean="0">
              <a:solidFill>
                <a:schemeClr val="dk1"/>
              </a:solidFill>
              <a:latin typeface="Arial" panose="020B0604020202020204" pitchFamily="34" charset="0"/>
              <a:ea typeface="微软雅黑" panose="020B0503020204020204" pitchFamily="34" charset="-122"/>
              <a:sym typeface="+mn-ea"/>
            </a:rPr>
            <a:t>权限控制：页表项（</a:t>
          </a:r>
          <a:r>
            <a:rPr lang="en-US" altLang="zh-CN" sz="1600" dirty="0" smtClean="0">
              <a:solidFill>
                <a:schemeClr val="dk1"/>
              </a:solidFill>
              <a:latin typeface="Arial" panose="020B0604020202020204" pitchFamily="34" charset="0"/>
              <a:ea typeface="微软雅黑" panose="020B0503020204020204" pitchFamily="34" charset="-122"/>
              <a:sym typeface="+mn-ea"/>
            </a:rPr>
            <a:t>PTE, </a:t>
          </a:r>
          <a:r>
            <a:rPr lang="en-US" altLang="zh-CN" sz="1600" dirty="0" smtClean="0">
              <a:solidFill>
                <a:schemeClr val="dk1"/>
              </a:solidFill>
              <a:latin typeface="Arial" panose="020B0604020202020204" pitchFamily="34" charset="0"/>
              <a:ea typeface="微软雅黑" panose="020B0503020204020204" pitchFamily="34" charset="-122"/>
              <a:sym typeface="+mn-ea"/>
            </a:rPr>
            <a:t>page table entry</a:t>
          </a:r>
          <a:r>
            <a:rPr lang="zh-CN" altLang="en-US" sz="1600" dirty="0" smtClean="0">
              <a:solidFill>
                <a:schemeClr val="dk1"/>
              </a:solidFill>
              <a:latin typeface="Arial" panose="020B0604020202020204" pitchFamily="34" charset="0"/>
              <a:ea typeface="微软雅黑" panose="020B0503020204020204" pitchFamily="34" charset="-122"/>
              <a:sym typeface="+mn-ea"/>
            </a:rPr>
            <a:t>）存储权限位，控制页面访问（如只读、不可执行）</a:t>
          </a:r>
          <a:endPar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dsp:txBody>
      <dsp:txXfrm rot="5400000">
        <a:off x="5011525" y="-2469130"/>
        <a:ext cx="1285612" cy="6573970"/>
      </dsp:txXfrm>
    </dsp:sp>
    <dsp:sp modelId="{96BE2B31-D87C-43E1-BE64-4C27B13F4AA4}">
      <dsp:nvSpPr>
        <dsp:cNvPr id="3" name="圆角矩形 2"/>
        <dsp:cNvSpPr/>
      </dsp:nvSpPr>
      <dsp:spPr bwMode="white">
        <a:xfrm>
          <a:off x="287250" y="0"/>
          <a:ext cx="2084852" cy="1607015"/>
        </a:xfrm>
        <a:prstGeom prst="roundRect">
          <a:avLst/>
        </a:prstGeom>
        <a:solidFill>
          <a:srgbClr val="6B0261"/>
        </a:solidFill>
        <a:ln>
          <a:noFill/>
        </a:ln>
      </dsp:spPr>
      <dsp:style>
        <a:lnRef idx="2">
          <a:schemeClr val="lt1"/>
        </a:lnRef>
        <a:fillRef idx="1">
          <a:schemeClr val="accent1"/>
        </a:fillRef>
        <a:effectRef idx="0">
          <a:scrgbClr r="0" g="0" b="0"/>
        </a:effectRef>
        <a:fontRef idx="minor">
          <a:schemeClr val="lt1"/>
        </a:fontRef>
      </dsp:style>
      <dsp:txBody>
        <a:bodyPr vert="horz" wrap="square" lIns="91439" tIns="45719" rIns="9143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400" dirty="0" smtClean="0">
              <a:latin typeface="Arial" panose="020B0604020202020204" pitchFamily="34" charset="0"/>
              <a:ea typeface="微软雅黑" panose="020B0503020204020204" pitchFamily="34" charset="-122"/>
              <a:sym typeface="+mn-ea"/>
            </a:rPr>
            <a:t>核心功能</a:t>
          </a:r>
          <a:endPar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dsp:txBody>
      <dsp:txXfrm>
        <a:off x="287250" y="0"/>
        <a:ext cx="2084852" cy="1607015"/>
      </dsp:txXfrm>
    </dsp:sp>
    <dsp:sp modelId="{6EB2A58E-CA03-4F76-94B6-D8FE50231963}">
      <dsp:nvSpPr>
        <dsp:cNvPr id="6" name="同侧圆角矩形 5"/>
        <dsp:cNvSpPr/>
      </dsp:nvSpPr>
      <dsp:spPr bwMode="white">
        <a:xfrm rot="5400000">
          <a:off x="5024633" y="-793688"/>
          <a:ext cx="1285612" cy="6569122"/>
        </a:xfrm>
        <a:prstGeom prst="round2Same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rot="-5400000" vert="horz" wrap="square" lIns="60960" tIns="30480" rIns="60960" bIns="3048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600" dirty="0" smtClean="0">
              <a:solidFill>
                <a:schemeClr val="dk1"/>
              </a:solidFill>
              <a:latin typeface="Arial" panose="020B0604020202020204" pitchFamily="34" charset="0"/>
              <a:ea typeface="微软雅黑" panose="020B0503020204020204" pitchFamily="34" charset="-122"/>
              <a:sym typeface="+mn-ea"/>
            </a:rPr>
            <a:t>典型层级：</a:t>
          </a:r>
          <a:r>
            <a:rPr lang="en-US" altLang="zh-CN" sz="1600" dirty="0" smtClean="0">
              <a:solidFill>
                <a:schemeClr val="dk1"/>
              </a:solidFill>
              <a:latin typeface="Arial" panose="020B0604020202020204" pitchFamily="34" charset="0"/>
              <a:ea typeface="微软雅黑" panose="020B0503020204020204" pitchFamily="34" charset="-122"/>
              <a:sym typeface="+mn-ea"/>
            </a:rPr>
            <a:t>4 </a:t>
          </a:r>
          <a:r>
            <a:rPr lang="zh-CN" altLang="en-US" sz="1600" dirty="0" smtClean="0">
              <a:solidFill>
                <a:schemeClr val="dk1"/>
              </a:solidFill>
              <a:latin typeface="Arial" panose="020B0604020202020204" pitchFamily="34" charset="0"/>
              <a:ea typeface="微软雅黑" panose="020B0503020204020204" pitchFamily="34" charset="-122"/>
              <a:sym typeface="+mn-ea"/>
            </a:rPr>
            <a:t>级树结构（</a:t>
          </a:r>
          <a:r>
            <a:rPr lang="en-US" altLang="zh-CN" sz="1600" dirty="0" smtClean="0">
              <a:solidFill>
                <a:schemeClr val="dk1"/>
              </a:solidFill>
              <a:latin typeface="Arial" panose="020B0604020202020204" pitchFamily="34" charset="0"/>
              <a:ea typeface="微软雅黑" panose="020B0503020204020204" pitchFamily="34" charset="-122"/>
              <a:sym typeface="+mn-ea"/>
            </a:rPr>
            <a:t>L4(</a:t>
          </a:r>
          <a:r>
            <a:rPr lang="zh-CN" altLang="en-US" sz="1600" dirty="0" smtClean="0">
              <a:solidFill>
                <a:schemeClr val="dk1"/>
              </a:solidFill>
              <a:latin typeface="Arial" panose="020B0604020202020204" pitchFamily="34" charset="0"/>
              <a:ea typeface="微软雅黑" panose="020B0503020204020204" pitchFamily="34" charset="-122"/>
              <a:sym typeface="+mn-ea"/>
            </a:rPr>
            <a:t>根</a:t>
          </a:r>
          <a:r>
            <a:rPr lang="en-US" altLang="zh-CN" sz="1600" dirty="0" smtClean="0">
              <a:solidFill>
                <a:schemeClr val="dk1"/>
              </a:solidFill>
              <a:latin typeface="Arial" panose="020B0604020202020204" pitchFamily="34" charset="0"/>
              <a:ea typeface="微软雅黑" panose="020B0503020204020204" pitchFamily="34" charset="-122"/>
              <a:sym typeface="+mn-ea"/>
            </a:rPr>
            <a:t>)</a:t>
          </a:r>
          <a:r>
            <a:rPr lang="en-US" altLang="en-US" sz="1600" dirty="0" smtClean="0">
              <a:solidFill>
                <a:schemeClr val="dk1"/>
              </a:solidFill>
              <a:latin typeface="Arial" panose="020B0604020202020204" pitchFamily="34" charset="0"/>
              <a:ea typeface="微软雅黑" panose="020B0503020204020204" pitchFamily="34" charset="-122"/>
              <a:sym typeface="+mn-ea"/>
            </a:rPr>
            <a:t>→</a:t>
          </a:r>
          <a:r>
            <a:rPr lang="en-US" altLang="zh-CN" sz="1600" dirty="0" smtClean="0">
              <a:solidFill>
                <a:schemeClr val="dk1"/>
              </a:solidFill>
              <a:latin typeface="Arial" panose="020B0604020202020204" pitchFamily="34" charset="0"/>
              <a:ea typeface="微软雅黑" panose="020B0503020204020204" pitchFamily="34" charset="-122"/>
              <a:sym typeface="+mn-ea"/>
            </a:rPr>
            <a:t>L3</a:t>
          </a:r>
          <a:r>
            <a:rPr lang="en-US" altLang="en-US" sz="1600" dirty="0" smtClean="0">
              <a:solidFill>
                <a:schemeClr val="dk1"/>
              </a:solidFill>
              <a:latin typeface="Arial" panose="020B0604020202020204" pitchFamily="34" charset="0"/>
              <a:ea typeface="微软雅黑" panose="020B0503020204020204" pitchFamily="34" charset="-122"/>
              <a:sym typeface="+mn-ea"/>
            </a:rPr>
            <a:t>→</a:t>
          </a:r>
          <a:r>
            <a:rPr lang="en-US" altLang="zh-CN" sz="1600" dirty="0" smtClean="0">
              <a:solidFill>
                <a:schemeClr val="dk1"/>
              </a:solidFill>
              <a:latin typeface="Arial" panose="020B0604020202020204" pitchFamily="34" charset="0"/>
              <a:ea typeface="微软雅黑" panose="020B0503020204020204" pitchFamily="34" charset="-122"/>
              <a:sym typeface="+mn-ea"/>
            </a:rPr>
            <a:t>L2</a:t>
          </a:r>
          <a:r>
            <a:rPr lang="en-US" altLang="en-US" sz="1600" dirty="0" smtClean="0">
              <a:solidFill>
                <a:schemeClr val="dk1"/>
              </a:solidFill>
              <a:latin typeface="Arial" panose="020B0604020202020204" pitchFamily="34" charset="0"/>
              <a:ea typeface="微软雅黑" panose="020B0503020204020204" pitchFamily="34" charset="-122"/>
              <a:sym typeface="+mn-ea"/>
            </a:rPr>
            <a:t>→</a:t>
          </a:r>
          <a:r>
            <a:rPr lang="en-US" altLang="zh-CN" sz="1600" dirty="0" smtClean="0">
              <a:solidFill>
                <a:schemeClr val="dk1"/>
              </a:solidFill>
              <a:latin typeface="Arial" panose="020B0604020202020204" pitchFamily="34" charset="0"/>
              <a:ea typeface="微软雅黑" panose="020B0503020204020204" pitchFamily="34" charset="-122"/>
              <a:sym typeface="+mn-ea"/>
            </a:rPr>
            <a:t>L1(</a:t>
          </a:r>
          <a:r>
            <a:rPr lang="zh-CN" altLang="en-US" sz="1600" dirty="0" smtClean="0">
              <a:solidFill>
                <a:schemeClr val="dk1"/>
              </a:solidFill>
              <a:latin typeface="Arial" panose="020B0604020202020204" pitchFamily="34" charset="0"/>
              <a:ea typeface="微软雅黑" panose="020B0503020204020204" pitchFamily="34" charset="-122"/>
              <a:sym typeface="+mn-ea"/>
            </a:rPr>
            <a:t>叶</a:t>
          </a:r>
          <a:r>
            <a:rPr lang="en-US" altLang="zh-CN" sz="1600" dirty="0" smtClean="0">
              <a:solidFill>
                <a:schemeClr val="dk1"/>
              </a:solidFill>
              <a:latin typeface="Arial" panose="020B0604020202020204" pitchFamily="34" charset="0"/>
              <a:ea typeface="微软雅黑" panose="020B0503020204020204" pitchFamily="34" charset="-122"/>
              <a:sym typeface="+mn-ea"/>
            </a:rPr>
            <a:t>)</a:t>
          </a:r>
          <a:r>
            <a:rPr lang="zh-CN" altLang="en-US" sz="1600" dirty="0" smtClean="0">
              <a:solidFill>
                <a:schemeClr val="dk1"/>
              </a:solidFill>
              <a:latin typeface="Arial" panose="020B0604020202020204" pitchFamily="34" charset="0"/>
              <a:ea typeface="微软雅黑" panose="020B0503020204020204" pitchFamily="34" charset="-122"/>
              <a:sym typeface="+mn-ea"/>
            </a:rPr>
            <a:t>），每级</a:t>
          </a:r>
          <a:r>
            <a:rPr lang="en-US" altLang="zh-CN" sz="1600" dirty="0" smtClean="0">
              <a:solidFill>
                <a:schemeClr val="dk1"/>
              </a:solidFill>
              <a:latin typeface="Arial" panose="020B0604020202020204" pitchFamily="34" charset="0"/>
              <a:ea typeface="微软雅黑" panose="020B0503020204020204" pitchFamily="34" charset="-122"/>
              <a:sym typeface="+mn-ea"/>
            </a:rPr>
            <a:t> 512 </a:t>
          </a:r>
          <a:r>
            <a:rPr lang="zh-CN" altLang="en-US" sz="1600" dirty="0" smtClean="0">
              <a:solidFill>
                <a:schemeClr val="dk1"/>
              </a:solidFill>
              <a:latin typeface="Arial" panose="020B0604020202020204" pitchFamily="34" charset="0"/>
              <a:ea typeface="微软雅黑" panose="020B0503020204020204" pitchFamily="34" charset="-122"/>
              <a:sym typeface="+mn-ea"/>
            </a:rPr>
            <a:t>项</a:t>
          </a:r>
          <a:endParaRPr lang="zh-CN" altLang="en-US" sz="1600" dirty="0" smtClean="0">
            <a:solidFill>
              <a:schemeClr val="dk1"/>
            </a:solidFill>
            <a:latin typeface="Arial" panose="020B0604020202020204" pitchFamily="34" charset="0"/>
            <a:ea typeface="微软雅黑" panose="020B0503020204020204" pitchFamily="34" charset="-122"/>
            <a:sym typeface="+mn-ea"/>
          </a:endParaRPr>
        </a:p>
        <a:p>
          <a:pPr marL="171450" lvl="1" indent="-171450">
            <a:lnSpc>
              <a:spcPct val="100000"/>
            </a:lnSpc>
            <a:spcBef>
              <a:spcPct val="0"/>
            </a:spcBef>
            <a:spcAft>
              <a:spcPct val="15000"/>
            </a:spcAft>
            <a:buChar char="•"/>
          </a:pPr>
          <a:r>
            <a:rPr lang="zh-CN" altLang="en-US" sz="1600" dirty="0" smtClean="0">
              <a:solidFill>
                <a:schemeClr val="dk1"/>
              </a:solidFill>
              <a:latin typeface="Arial" panose="020B0604020202020204" pitchFamily="34" charset="0"/>
              <a:ea typeface="微软雅黑" panose="020B0503020204020204" pitchFamily="34" charset="-122"/>
              <a:sym typeface="+mn-ea"/>
            </a:rPr>
            <a:t>地址空间：</a:t>
          </a:r>
          <a:r>
            <a:rPr lang="en-US" altLang="zh-CN" sz="1600" dirty="0" smtClean="0">
              <a:solidFill>
                <a:schemeClr val="dk1"/>
              </a:solidFill>
              <a:latin typeface="Arial" panose="020B0604020202020204" pitchFamily="34" charset="0"/>
              <a:ea typeface="微软雅黑" panose="020B0503020204020204" pitchFamily="34" charset="-122"/>
              <a:sym typeface="+mn-ea"/>
            </a:rPr>
            <a:t>48 </a:t>
          </a:r>
          <a:r>
            <a:rPr lang="zh-CN" altLang="en-US" sz="1600" dirty="0" smtClean="0">
              <a:solidFill>
                <a:schemeClr val="dk1"/>
              </a:solidFill>
              <a:latin typeface="Arial" panose="020B0604020202020204" pitchFamily="34" charset="0"/>
              <a:ea typeface="微软雅黑" panose="020B0503020204020204" pitchFamily="34" charset="-122"/>
              <a:sym typeface="+mn-ea"/>
            </a:rPr>
            <a:t>位虚拟地址</a:t>
          </a:r>
          <a:r>
            <a:rPr lang="en-US" altLang="zh-CN" sz="1600" dirty="0" smtClean="0">
              <a:solidFill>
                <a:schemeClr val="dk1"/>
              </a:solidFill>
              <a:latin typeface="Arial" panose="020B0604020202020204" pitchFamily="34" charset="0"/>
              <a:ea typeface="微软雅黑" panose="020B0503020204020204" pitchFamily="34" charset="-122"/>
              <a:sym typeface="+mn-ea"/>
            </a:rPr>
            <a:t> </a:t>
          </a:r>
          <a:r>
            <a:rPr lang="en-US" altLang="en-US" sz="1600" dirty="0" smtClean="0">
              <a:solidFill>
                <a:schemeClr val="dk1"/>
              </a:solidFill>
              <a:latin typeface="Arial" panose="020B0604020202020204" pitchFamily="34" charset="0"/>
              <a:ea typeface="微软雅黑" panose="020B0503020204020204" pitchFamily="34" charset="-122"/>
              <a:sym typeface="+mn-ea"/>
            </a:rPr>
            <a:t>→</a:t>
          </a:r>
          <a:r>
            <a:rPr lang="en-US" altLang="zh-CN" sz="1600" dirty="0" smtClean="0">
              <a:solidFill>
                <a:schemeClr val="dk1"/>
              </a:solidFill>
              <a:latin typeface="Arial" panose="020B0604020202020204" pitchFamily="34" charset="0"/>
              <a:ea typeface="微软雅黑" panose="020B0503020204020204" pitchFamily="34" charset="-122"/>
              <a:sym typeface="+mn-ea"/>
            </a:rPr>
            <a:t> 256 TB </a:t>
          </a:r>
          <a:r>
            <a:rPr lang="zh-CN" altLang="en-US" sz="1600" dirty="0" smtClean="0">
              <a:solidFill>
                <a:schemeClr val="dk1"/>
              </a:solidFill>
              <a:latin typeface="Arial" panose="020B0604020202020204" pitchFamily="34" charset="0"/>
              <a:ea typeface="微软雅黑" panose="020B0503020204020204" pitchFamily="34" charset="-122"/>
              <a:sym typeface="+mn-ea"/>
            </a:rPr>
            <a:t>总空间（分为两半，其中用户空间占</a:t>
          </a:r>
          <a:r>
            <a:rPr lang="en-US" altLang="zh-CN" sz="1600" dirty="0" smtClean="0">
              <a:solidFill>
                <a:schemeClr val="dk1"/>
              </a:solidFill>
              <a:latin typeface="Arial" panose="020B0604020202020204" pitchFamily="34" charset="0"/>
              <a:ea typeface="微软雅黑" panose="020B0503020204020204" pitchFamily="34" charset="-122"/>
              <a:sym typeface="+mn-ea"/>
            </a:rPr>
            <a:t> 128 TB</a:t>
          </a:r>
          <a:r>
            <a:rPr lang="zh-CN" altLang="en-US" sz="1600" dirty="0" smtClean="0">
              <a:solidFill>
                <a:schemeClr val="dk1"/>
              </a:solidFill>
              <a:latin typeface="Arial" panose="020B0604020202020204" pitchFamily="34" charset="0"/>
              <a:ea typeface="微软雅黑" panose="020B0503020204020204" pitchFamily="34" charset="-122"/>
              <a:sym typeface="+mn-ea"/>
            </a:rPr>
            <a:t>）</a:t>
          </a:r>
          <a:endParaRPr lang="zh-CN" altLang="en-US" sz="1600" kern="120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dsp:txBody>
      <dsp:txXfrm rot="5400000">
        <a:off x="5024633" y="-793688"/>
        <a:ext cx="1285612" cy="6569122"/>
      </dsp:txXfrm>
    </dsp:sp>
    <dsp:sp modelId="{EBD335B5-8308-49CB-9630-99D852747B1F}">
      <dsp:nvSpPr>
        <dsp:cNvPr id="5" name="圆角矩形 4"/>
        <dsp:cNvSpPr/>
      </dsp:nvSpPr>
      <dsp:spPr bwMode="white">
        <a:xfrm>
          <a:off x="287250" y="1687365"/>
          <a:ext cx="2095628" cy="1607015"/>
        </a:xfrm>
        <a:prstGeom prst="roundRect">
          <a:avLst/>
        </a:prstGeom>
        <a:solidFill>
          <a:srgbClr val="6B0261"/>
        </a:solidFill>
      </dsp:spPr>
      <dsp:style>
        <a:lnRef idx="2">
          <a:schemeClr val="lt1"/>
        </a:lnRef>
        <a:fillRef idx="1">
          <a:schemeClr val="accent1"/>
        </a:fillRef>
        <a:effectRef idx="0">
          <a:scrgbClr r="0" g="0" b="0"/>
        </a:effectRef>
        <a:fontRef idx="minor">
          <a:schemeClr val="lt1"/>
        </a:fontRef>
      </dsp:style>
      <dsp:txBody>
        <a:bodyPr vert="horz" wrap="square" lIns="91439" tIns="45719" rIns="9143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400" dirty="0" smtClean="0">
              <a:latin typeface="Arial" panose="020B0604020202020204" pitchFamily="34" charset="0"/>
              <a:ea typeface="微软雅黑" panose="020B0503020204020204" pitchFamily="34" charset="-122"/>
              <a:sym typeface="+mn-ea"/>
            </a:rPr>
            <a:t>多级结构</a:t>
          </a:r>
          <a:endParaRPr lang="zh-CN" altLang="en-US" sz="2400" kern="120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dsp:txBody>
      <dsp:txXfrm>
        <a:off x="287250" y="1687365"/>
        <a:ext cx="2095628" cy="1607015"/>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66462C-907F-45C2-A006-2E7633B05F8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326A39-68CB-4B71-BA5D-C18A8967C3F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showMasterSp="0">
  <p:cSld name="空白">
    <p:bg>
      <p:bgPr>
        <a:solidFill>
          <a:schemeClr val="bg1">
            <a:lumMod val="95000"/>
          </a:schemeClr>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showMasterSp="0">
  <p:cSld name="正文">
    <p:bg>
      <p:bgPr>
        <a:solidFill>
          <a:schemeClr val="bg1">
            <a:lumMod val="95000"/>
          </a:schemeClr>
        </a:solidFill>
        <a:effectLst/>
      </p:bgPr>
    </p:bg>
    <p:spTree>
      <p:nvGrpSpPr>
        <p:cNvPr id="1" name=""/>
        <p:cNvGrpSpPr/>
        <p:nvPr/>
      </p:nvGrpSpPr>
      <p:grpSpPr>
        <a:xfrm>
          <a:off x="0" y="0"/>
          <a:ext cx="0" cy="0"/>
          <a:chOff x="0" y="0"/>
          <a:chExt cx="0" cy="0"/>
        </a:xfrm>
      </p:grpSpPr>
      <p:sp>
        <p:nvSpPr>
          <p:cNvPr id="2" name="矩形 1"/>
          <p:cNvSpPr/>
          <p:nvPr userDrawn="1"/>
        </p:nvSpPr>
        <p:spPr>
          <a:xfrm>
            <a:off x="10849147" y="6382534"/>
            <a:ext cx="1093711" cy="369332"/>
          </a:xfrm>
          <a:prstGeom prst="rect">
            <a:avLst/>
          </a:prstGeom>
        </p:spPr>
        <p:txBody>
          <a:bodyPr lIns="91440" tIns="45720" rIns="91440" bIns="45720"/>
          <a:lstStyle/>
          <a:p>
            <a:pPr algn="ctr">
              <a:defRPr/>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第 </a:t>
            </a:r>
            <a:fld id="{2EEF1883-7A0E-4F66-9932-E581691AD397}" type="slidenum">
              <a:rPr lang="zh-CN" altLang="en-US" sz="1600">
                <a:solidFill>
                  <a:schemeClr val="tx1">
                    <a:lumMod val="65000"/>
                    <a:lumOff val="35000"/>
                  </a:schemeClr>
                </a:solidFill>
              </a:rPr>
            </a:fld>
            <a:r>
              <a:rPr lang="zh-CN" altLang="en-US" sz="1600" dirty="0">
                <a:solidFill>
                  <a:schemeClr val="tx1">
                    <a:lumMod val="65000"/>
                    <a:lumOff val="35000"/>
                  </a:schemeClr>
                </a:solidFill>
              </a:rPr>
              <a:t>  </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页</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userDrawn="1"/>
        </p:nvPicPr>
        <p:blipFill rotWithShape="1">
          <a:blip r:embed="rId2" cstate="print">
            <a:extLst>
              <a:ext uri="{28A0092B-C50C-407E-A947-70E740481C1C}">
                <a14:useLocalDpi xmlns:a14="http://schemas.microsoft.com/office/drawing/2010/main" val="0"/>
              </a:ext>
            </a:extLst>
          </a:blip>
          <a:srcRect l="7586" t="36068" r="13573" b="36906"/>
          <a:stretch>
            <a:fillRect/>
          </a:stretch>
        </p:blipFill>
        <p:spPr>
          <a:xfrm>
            <a:off x="9554477" y="126620"/>
            <a:ext cx="2428195" cy="832366"/>
          </a:xfrm>
          <a:prstGeom prst="rect">
            <a:avLst/>
          </a:prstGeom>
        </p:spPr>
      </p:pic>
      <p:pic>
        <p:nvPicPr>
          <p:cNvPr id="4" name="图片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34390" y="6417057"/>
            <a:ext cx="2839156" cy="40763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5167"/>
            <a:ext cx="10972800" cy="1143000"/>
          </a:xfrm>
          <a:prstGeom prst="rect">
            <a:avLst/>
          </a:prstGeom>
        </p:spPr>
        <p:txBody>
          <a:bodyPr/>
          <a:lstStyle/>
          <a:p>
            <a:r>
              <a:rPr lang="zh-CN" altLang="en-US"/>
              <a:t>单击此处编辑母版标题样式</a:t>
            </a:r>
            <a:endParaRPr lang="zh-CN" altLang="en-US"/>
          </a:p>
        </p:txBody>
      </p:sp>
      <p:sp>
        <p:nvSpPr>
          <p:cNvPr id="3" name="矩形 2"/>
          <p:cNvSpPr/>
          <p:nvPr userDrawn="1"/>
        </p:nvSpPr>
        <p:spPr>
          <a:xfrm>
            <a:off x="10330283" y="6529705"/>
            <a:ext cx="1033515" cy="296876"/>
          </a:xfrm>
          <a:prstGeom prst="rect">
            <a:avLst/>
          </a:prstGeom>
        </p:spPr>
        <p:txBody>
          <a:bodyPr wrap="square">
            <a:spAutoFit/>
          </a:bodyPr>
          <a:lstStyle/>
          <a:p>
            <a:pPr defTabSz="1219200"/>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模板下载：</a:t>
            </a:r>
            <a:r>
              <a:rPr lang="en-US" altLang="zh-CN" sz="135" dirty="0">
                <a:solidFill>
                  <a:prstClr val="white"/>
                </a:solidFill>
                <a:latin typeface="Calibri" panose="020F0502020204030204"/>
                <a:ea typeface="宋体" panose="02010600030101010101" pitchFamily="2" charset="-122"/>
              </a:rPr>
              <a:t>www.1ppt.com/moban/     </a:t>
            </a:r>
            <a:r>
              <a:rPr lang="zh-CN" altLang="en-US" sz="135" dirty="0">
                <a:solidFill>
                  <a:prstClr val="white"/>
                </a:solidFill>
                <a:latin typeface="Calibri" panose="020F0502020204030204"/>
                <a:ea typeface="宋体" panose="02010600030101010101" pitchFamily="2" charset="-122"/>
              </a:rPr>
              <a:t>行业</a:t>
            </a:r>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模板：</a:t>
            </a:r>
            <a:r>
              <a:rPr lang="en-US" altLang="zh-CN" sz="135" dirty="0">
                <a:solidFill>
                  <a:prstClr val="white"/>
                </a:solidFill>
                <a:latin typeface="Calibri" panose="020F0502020204030204"/>
                <a:ea typeface="宋体" panose="02010600030101010101" pitchFamily="2" charset="-122"/>
              </a:rPr>
              <a:t>www.1ppt.com/hangye/ </a:t>
            </a:r>
            <a:endParaRPr lang="en-US" altLang="zh-CN" sz="135" dirty="0">
              <a:solidFill>
                <a:prstClr val="white"/>
              </a:solidFill>
              <a:latin typeface="Calibri" panose="020F0502020204030204"/>
              <a:ea typeface="宋体" panose="02010600030101010101" pitchFamily="2" charset="-122"/>
            </a:endParaRPr>
          </a:p>
          <a:p>
            <a:pPr defTabSz="1219200"/>
            <a:r>
              <a:rPr lang="zh-CN" altLang="en-US" sz="135" dirty="0">
                <a:solidFill>
                  <a:prstClr val="white"/>
                </a:solidFill>
                <a:latin typeface="Calibri" panose="020F0502020204030204"/>
                <a:ea typeface="宋体" panose="02010600030101010101" pitchFamily="2" charset="-122"/>
              </a:rPr>
              <a:t>节日</a:t>
            </a:r>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模板：</a:t>
            </a:r>
            <a:r>
              <a:rPr lang="en-US" altLang="zh-CN" sz="135" dirty="0">
                <a:solidFill>
                  <a:prstClr val="white"/>
                </a:solidFill>
                <a:latin typeface="Calibri" panose="020F0502020204030204"/>
                <a:ea typeface="宋体" panose="02010600030101010101" pitchFamily="2" charset="-122"/>
              </a:rPr>
              <a:t>www.1ppt.com/jieri/           PPT</a:t>
            </a:r>
            <a:r>
              <a:rPr lang="zh-CN" altLang="en-US" sz="135" dirty="0">
                <a:solidFill>
                  <a:prstClr val="white"/>
                </a:solidFill>
                <a:latin typeface="Calibri" panose="020F0502020204030204"/>
                <a:ea typeface="宋体" panose="02010600030101010101" pitchFamily="2" charset="-122"/>
              </a:rPr>
              <a:t>素材下载：</a:t>
            </a:r>
            <a:r>
              <a:rPr lang="en-US" altLang="zh-CN" sz="135" dirty="0">
                <a:solidFill>
                  <a:prstClr val="white"/>
                </a:solidFill>
                <a:latin typeface="Calibri" panose="020F0502020204030204"/>
                <a:ea typeface="宋体" panose="02010600030101010101" pitchFamily="2" charset="-122"/>
              </a:rPr>
              <a:t>www.1ppt.com/sucai/</a:t>
            </a:r>
            <a:endParaRPr lang="en-US" altLang="zh-CN" sz="135" dirty="0">
              <a:solidFill>
                <a:prstClr val="white"/>
              </a:solidFill>
              <a:latin typeface="Calibri" panose="020F0502020204030204"/>
              <a:ea typeface="宋体" panose="02010600030101010101" pitchFamily="2" charset="-122"/>
            </a:endParaRPr>
          </a:p>
          <a:p>
            <a:pPr defTabSz="1219200"/>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背景图片：</a:t>
            </a:r>
            <a:r>
              <a:rPr lang="en-US" altLang="zh-CN" sz="135" dirty="0">
                <a:solidFill>
                  <a:prstClr val="white"/>
                </a:solidFill>
                <a:latin typeface="Calibri" panose="020F0502020204030204"/>
                <a:ea typeface="宋体" panose="02010600030101010101" pitchFamily="2" charset="-122"/>
              </a:rPr>
              <a:t>www.1ppt.com/beijing/      PPT</a:t>
            </a:r>
            <a:r>
              <a:rPr lang="zh-CN" altLang="en-US" sz="135" dirty="0">
                <a:solidFill>
                  <a:prstClr val="white"/>
                </a:solidFill>
                <a:latin typeface="Calibri" panose="020F0502020204030204"/>
                <a:ea typeface="宋体" panose="02010600030101010101" pitchFamily="2" charset="-122"/>
              </a:rPr>
              <a:t>图表下载：</a:t>
            </a:r>
            <a:r>
              <a:rPr lang="en-US" altLang="zh-CN" sz="135" dirty="0">
                <a:solidFill>
                  <a:prstClr val="white"/>
                </a:solidFill>
                <a:latin typeface="Calibri" panose="020F0502020204030204"/>
                <a:ea typeface="宋体" panose="02010600030101010101" pitchFamily="2" charset="-122"/>
              </a:rPr>
              <a:t>www.1ppt.com/tubiao/      </a:t>
            </a:r>
            <a:endParaRPr lang="en-US" altLang="zh-CN" sz="135" dirty="0">
              <a:solidFill>
                <a:prstClr val="white"/>
              </a:solidFill>
              <a:latin typeface="Calibri" panose="020F0502020204030204"/>
              <a:ea typeface="宋体" panose="02010600030101010101" pitchFamily="2" charset="-122"/>
            </a:endParaRPr>
          </a:p>
          <a:p>
            <a:pPr defTabSz="1219200"/>
            <a:r>
              <a:rPr lang="zh-CN" altLang="en-US" sz="135" dirty="0">
                <a:solidFill>
                  <a:prstClr val="white"/>
                </a:solidFill>
                <a:latin typeface="Calibri" panose="020F0502020204030204"/>
                <a:ea typeface="宋体" panose="02010600030101010101" pitchFamily="2" charset="-122"/>
              </a:rPr>
              <a:t>优秀</a:t>
            </a:r>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下载：</a:t>
            </a:r>
            <a:r>
              <a:rPr lang="en-US" altLang="zh-CN" sz="135" dirty="0">
                <a:solidFill>
                  <a:prstClr val="white"/>
                </a:solidFill>
                <a:latin typeface="Calibri" panose="020F0502020204030204"/>
                <a:ea typeface="宋体" panose="02010600030101010101" pitchFamily="2" charset="-122"/>
              </a:rPr>
              <a:t>www.1ppt.com/xiazai/        PPT</a:t>
            </a:r>
            <a:r>
              <a:rPr lang="zh-CN" altLang="en-US" sz="135" dirty="0">
                <a:solidFill>
                  <a:prstClr val="white"/>
                </a:solidFill>
                <a:latin typeface="Calibri" panose="020F0502020204030204"/>
                <a:ea typeface="宋体" panose="02010600030101010101" pitchFamily="2" charset="-122"/>
              </a:rPr>
              <a:t>教程： </a:t>
            </a:r>
            <a:r>
              <a:rPr lang="en-US" altLang="zh-CN" sz="135" dirty="0">
                <a:solidFill>
                  <a:prstClr val="white"/>
                </a:solidFill>
                <a:latin typeface="Calibri" panose="020F0502020204030204"/>
                <a:ea typeface="宋体" panose="02010600030101010101" pitchFamily="2" charset="-122"/>
              </a:rPr>
              <a:t>www.1ppt.com/powerpoint/      </a:t>
            </a:r>
            <a:endParaRPr lang="en-US" altLang="zh-CN" sz="135" dirty="0">
              <a:solidFill>
                <a:prstClr val="white"/>
              </a:solidFill>
              <a:latin typeface="Calibri" panose="020F0502020204030204"/>
              <a:ea typeface="宋体" panose="02010600030101010101" pitchFamily="2" charset="-122"/>
            </a:endParaRPr>
          </a:p>
          <a:p>
            <a:pPr defTabSz="1219200"/>
            <a:r>
              <a:rPr lang="en-US" altLang="zh-CN" sz="135" dirty="0">
                <a:solidFill>
                  <a:prstClr val="white"/>
                </a:solidFill>
                <a:latin typeface="Calibri" panose="020F0502020204030204"/>
                <a:ea typeface="宋体" panose="02010600030101010101" pitchFamily="2" charset="-122"/>
              </a:rPr>
              <a:t>Word</a:t>
            </a:r>
            <a:r>
              <a:rPr lang="zh-CN" altLang="en-US" sz="135" dirty="0">
                <a:solidFill>
                  <a:prstClr val="white"/>
                </a:solidFill>
                <a:latin typeface="Calibri" panose="020F0502020204030204"/>
                <a:ea typeface="宋体" panose="02010600030101010101" pitchFamily="2" charset="-122"/>
              </a:rPr>
              <a:t>教程： </a:t>
            </a:r>
            <a:r>
              <a:rPr lang="en-US" altLang="zh-CN" sz="135" dirty="0">
                <a:solidFill>
                  <a:prstClr val="white"/>
                </a:solidFill>
                <a:latin typeface="Calibri" panose="020F0502020204030204"/>
                <a:ea typeface="宋体" panose="02010600030101010101" pitchFamily="2" charset="-122"/>
              </a:rPr>
              <a:t>www.1ppt.com/word/              Excel</a:t>
            </a:r>
            <a:r>
              <a:rPr lang="zh-CN" altLang="en-US" sz="135" dirty="0">
                <a:solidFill>
                  <a:prstClr val="white"/>
                </a:solidFill>
                <a:latin typeface="Calibri" panose="020F0502020204030204"/>
                <a:ea typeface="宋体" panose="02010600030101010101" pitchFamily="2" charset="-122"/>
              </a:rPr>
              <a:t>教程：</a:t>
            </a:r>
            <a:r>
              <a:rPr lang="en-US" altLang="zh-CN" sz="135" dirty="0">
                <a:solidFill>
                  <a:prstClr val="white"/>
                </a:solidFill>
                <a:latin typeface="Calibri" panose="020F0502020204030204"/>
                <a:ea typeface="宋体" panose="02010600030101010101" pitchFamily="2" charset="-122"/>
              </a:rPr>
              <a:t>www.1ppt.com/excel/  </a:t>
            </a:r>
            <a:endParaRPr lang="en-US" altLang="zh-CN" sz="135" dirty="0">
              <a:solidFill>
                <a:prstClr val="white"/>
              </a:solidFill>
              <a:latin typeface="Calibri" panose="020F0502020204030204"/>
              <a:ea typeface="宋体" panose="02010600030101010101" pitchFamily="2" charset="-122"/>
            </a:endParaRPr>
          </a:p>
          <a:p>
            <a:pPr defTabSz="1219200"/>
            <a:r>
              <a:rPr lang="zh-CN" altLang="en-US" sz="135" dirty="0">
                <a:solidFill>
                  <a:prstClr val="white"/>
                </a:solidFill>
                <a:latin typeface="Calibri" panose="020F0502020204030204"/>
                <a:ea typeface="宋体" panose="02010600030101010101" pitchFamily="2" charset="-122"/>
              </a:rPr>
              <a:t>资料下载：</a:t>
            </a:r>
            <a:r>
              <a:rPr lang="en-US" altLang="zh-CN" sz="135" dirty="0">
                <a:solidFill>
                  <a:prstClr val="white"/>
                </a:solidFill>
                <a:latin typeface="Calibri" panose="020F0502020204030204"/>
                <a:ea typeface="宋体" panose="02010600030101010101" pitchFamily="2" charset="-122"/>
              </a:rPr>
              <a:t>www.1ppt.com/ziliao/                PPT</a:t>
            </a:r>
            <a:r>
              <a:rPr lang="zh-CN" altLang="en-US" sz="135" dirty="0">
                <a:solidFill>
                  <a:prstClr val="white"/>
                </a:solidFill>
                <a:latin typeface="Calibri" panose="020F0502020204030204"/>
                <a:ea typeface="宋体" panose="02010600030101010101" pitchFamily="2" charset="-122"/>
              </a:rPr>
              <a:t>课件下载：</a:t>
            </a:r>
            <a:r>
              <a:rPr lang="en-US" altLang="zh-CN" sz="135" dirty="0">
                <a:solidFill>
                  <a:prstClr val="white"/>
                </a:solidFill>
                <a:latin typeface="Calibri" panose="020F0502020204030204"/>
                <a:ea typeface="宋体" panose="02010600030101010101" pitchFamily="2" charset="-122"/>
              </a:rPr>
              <a:t>www.1ppt.com/kejian/ </a:t>
            </a:r>
            <a:endParaRPr lang="en-US" altLang="zh-CN" sz="135" dirty="0">
              <a:solidFill>
                <a:prstClr val="white"/>
              </a:solidFill>
              <a:latin typeface="Calibri" panose="020F0502020204030204"/>
              <a:ea typeface="宋体" panose="02010600030101010101" pitchFamily="2" charset="-122"/>
            </a:endParaRPr>
          </a:p>
          <a:p>
            <a:pPr defTabSz="1219200"/>
            <a:r>
              <a:rPr lang="zh-CN" altLang="en-US" sz="135" dirty="0">
                <a:solidFill>
                  <a:prstClr val="white"/>
                </a:solidFill>
                <a:latin typeface="Calibri" panose="020F0502020204030204"/>
                <a:ea typeface="宋体" panose="02010600030101010101" pitchFamily="2" charset="-122"/>
              </a:rPr>
              <a:t>范文下载：</a:t>
            </a:r>
            <a:r>
              <a:rPr lang="en-US" altLang="zh-CN" sz="135" dirty="0">
                <a:solidFill>
                  <a:prstClr val="white"/>
                </a:solidFill>
                <a:latin typeface="Calibri" panose="020F0502020204030204"/>
                <a:ea typeface="宋体" panose="02010600030101010101" pitchFamily="2" charset="-122"/>
              </a:rPr>
              <a:t>www.1ppt.com/fanwen/             </a:t>
            </a:r>
            <a:r>
              <a:rPr lang="zh-CN" altLang="en-US" sz="135" dirty="0">
                <a:solidFill>
                  <a:prstClr val="white"/>
                </a:solidFill>
                <a:latin typeface="Calibri" panose="020F0502020204030204"/>
                <a:ea typeface="宋体" panose="02010600030101010101" pitchFamily="2" charset="-122"/>
              </a:rPr>
              <a:t>试卷下载：</a:t>
            </a:r>
            <a:r>
              <a:rPr lang="en-US" altLang="zh-CN" sz="135" dirty="0">
                <a:solidFill>
                  <a:prstClr val="white"/>
                </a:solidFill>
                <a:latin typeface="Calibri" panose="020F0502020204030204"/>
                <a:ea typeface="宋体" panose="02010600030101010101" pitchFamily="2" charset="-122"/>
              </a:rPr>
              <a:t>www.1ppt.com/shiti/  </a:t>
            </a:r>
            <a:endParaRPr lang="en-US" altLang="zh-CN" sz="135" dirty="0">
              <a:solidFill>
                <a:prstClr val="white"/>
              </a:solidFill>
              <a:latin typeface="Calibri" panose="020F0502020204030204"/>
              <a:ea typeface="宋体" panose="02010600030101010101" pitchFamily="2" charset="-122"/>
            </a:endParaRPr>
          </a:p>
          <a:p>
            <a:pPr defTabSz="1219200"/>
            <a:r>
              <a:rPr lang="zh-CN" altLang="en-US" sz="135" dirty="0">
                <a:solidFill>
                  <a:prstClr val="white"/>
                </a:solidFill>
                <a:latin typeface="Calibri" panose="020F0502020204030204"/>
                <a:ea typeface="宋体" panose="02010600030101010101" pitchFamily="2" charset="-122"/>
              </a:rPr>
              <a:t>教案下载：</a:t>
            </a:r>
            <a:r>
              <a:rPr lang="en-US" altLang="zh-CN" sz="135" dirty="0">
                <a:solidFill>
                  <a:prstClr val="white"/>
                </a:solidFill>
                <a:latin typeface="Calibri" panose="020F0502020204030204"/>
                <a:ea typeface="宋体" panose="02010600030101010101" pitchFamily="2" charset="-122"/>
              </a:rPr>
              <a:t>www.1ppt.com/jiaoan/        </a:t>
            </a:r>
            <a:endParaRPr lang="en-US" altLang="zh-CN" sz="135" dirty="0">
              <a:solidFill>
                <a:prstClr val="white"/>
              </a:solidFill>
              <a:latin typeface="Calibri" panose="020F0502020204030204"/>
              <a:ea typeface="宋体" panose="02010600030101010101" pitchFamily="2" charset="-122"/>
            </a:endParaRPr>
          </a:p>
          <a:p>
            <a:pPr defTabSz="1219200"/>
            <a:r>
              <a:rPr lang="zh-CN" altLang="en-US" sz="135" dirty="0">
                <a:solidFill>
                  <a:prstClr val="white"/>
                </a:solidFill>
                <a:latin typeface="Calibri" panose="020F0502020204030204"/>
                <a:ea typeface="宋体" panose="02010600030101010101" pitchFamily="2" charset="-122"/>
              </a:rPr>
              <a:t>字体下载：</a:t>
            </a:r>
            <a:r>
              <a:rPr lang="en-US" altLang="zh-CN" sz="135" dirty="0">
                <a:solidFill>
                  <a:prstClr val="white"/>
                </a:solidFill>
                <a:latin typeface="Calibri" panose="020F0502020204030204"/>
                <a:ea typeface="宋体" panose="02010600030101010101" pitchFamily="2" charset="-122"/>
              </a:rPr>
              <a:t>www.1ppt.com/ziti/</a:t>
            </a:r>
            <a:endParaRPr lang="en-US" altLang="zh-CN" sz="135" dirty="0">
              <a:solidFill>
                <a:prstClr val="white"/>
              </a:solidFill>
              <a:latin typeface="Calibri" panose="020F0502020204030204"/>
              <a:ea typeface="宋体" panose="02010600030101010101" pitchFamily="2" charset="-122"/>
            </a:endParaRPr>
          </a:p>
          <a:p>
            <a:pPr defTabSz="1219200"/>
            <a:r>
              <a:rPr lang="en-US" altLang="zh-CN" sz="135" dirty="0">
                <a:solidFill>
                  <a:prstClr val="white"/>
                </a:solidFill>
                <a:latin typeface="Calibri" panose="020F0502020204030204"/>
                <a:ea typeface="宋体" panose="02010600030101010101" pitchFamily="2" charset="-122"/>
              </a:rPr>
              <a:t> </a:t>
            </a:r>
            <a:endParaRPr lang="zh-CN" altLang="en-US" sz="135" dirty="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bg>
      <p:bgPr>
        <a:solidFill>
          <a:schemeClr val="accent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mc:Choice xmlns:p14="http://schemas.microsoft.com/office/powerpoint/2010/main" Requires="p14">
      <p:transition spd="slow" p14:dur="1000"/>
    </mc:Choice>
    <mc:Fallback>
      <p:transition spd="slow"/>
    </mc:Fallback>
  </mc:AlternateContent>
  <p:hf hdr="0" dt="0"/>
  <p:txStyles>
    <p:titleStyle>
      <a:lvl1pPr algn="l" defTabSz="914400" rtl="0" eaLnBrk="1" latinLnBrk="0" hangingPunct="1">
        <a:lnSpc>
          <a:spcPct val="90000"/>
        </a:lnSpc>
        <a:spcBef>
          <a:spcPct val="0"/>
        </a:spcBef>
        <a:buNone/>
        <a:defRPr sz="3200" b="1" i="0" kern="1200" baseline="0">
          <a:solidFill>
            <a:srgbClr val="071F65"/>
          </a:solidFill>
          <a:effectLst/>
          <a:latin typeface="Arial Black" panose="020B0A04020102020204" pitchFamily="34" charset="0"/>
          <a:ea typeface="微软雅黑" panose="020B0503020204020204" pitchFamily="34" charset="-122"/>
          <a:cs typeface="+mj-cs"/>
        </a:defRPr>
      </a:lvl1pPr>
    </p:titleStyle>
    <p:bodyStyle>
      <a:lvl1pPr marL="356870" indent="-356870" algn="just" defTabSz="914400" rtl="0" eaLnBrk="1" latinLnBrk="0" hangingPunct="1">
        <a:lnSpc>
          <a:spcPct val="110000"/>
        </a:lnSpc>
        <a:spcBef>
          <a:spcPts val="1800"/>
        </a:spcBef>
        <a:spcAft>
          <a:spcPts val="0"/>
        </a:spcAft>
        <a:buClr>
          <a:schemeClr val="accent2">
            <a:lumMod val="75000"/>
          </a:schemeClr>
        </a:buClr>
        <a:buSzPct val="70000"/>
        <a:buFont typeface="Wingdings 2" panose="05020102010507070707" pitchFamily="18" charset="2"/>
        <a:buChar char=""/>
        <a:defRPr sz="2000" kern="1200" baseline="0">
          <a:solidFill>
            <a:srgbClr val="071F65"/>
          </a:solidFill>
          <a:latin typeface="Arial" panose="020B0604020202020204" pitchFamily="34" charset="0"/>
          <a:ea typeface="微软雅黑" panose="020B0503020204020204" pitchFamily="34" charset="-122"/>
          <a:cs typeface="+mn-cs"/>
        </a:defRPr>
      </a:lvl1pPr>
      <a:lvl2pPr marL="356870" indent="-356870" algn="just" defTabSz="914400" rtl="0" eaLnBrk="1" latinLnBrk="0" hangingPunct="1">
        <a:lnSpc>
          <a:spcPct val="130000"/>
        </a:lnSpc>
        <a:spcBef>
          <a:spcPts val="0"/>
        </a:spcBef>
        <a:spcAft>
          <a:spcPts val="600"/>
        </a:spcAft>
        <a:buClr>
          <a:schemeClr val="accent2">
            <a:lumMod val="60000"/>
            <a:lumOff val="40000"/>
          </a:schemeClr>
        </a:buClr>
        <a:buFont typeface="幼圆" panose="02010509060101010101" pitchFamily="49" charset="-122"/>
        <a:buChar char=" "/>
        <a:defRPr sz="1600" kern="1200" baseline="0">
          <a:solidFill>
            <a:srgbClr val="071F65"/>
          </a:solidFill>
          <a:latin typeface="幼圆" panose="02010509060101010101" pitchFamily="49" charset="-122"/>
          <a:ea typeface="幼圆" panose="020105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9pPr>
    </p:bodyStyle>
    <p:otherStyle>
      <a:defPPr>
        <a:defRPr lang="en-US"/>
      </a:defPPr>
      <a:lvl1pPr marL="0" algn="l" defTabSz="914400" rtl="0" eaLnBrk="1" latinLnBrk="0" hangingPunct="1">
        <a:defRPr sz="1865" kern="1200">
          <a:solidFill>
            <a:schemeClr val="tx1"/>
          </a:solidFill>
          <a:latin typeface="+mn-lt"/>
          <a:ea typeface="+mn-ea"/>
          <a:cs typeface="+mn-cs"/>
        </a:defRPr>
      </a:lvl1pPr>
      <a:lvl2pPr marL="457200" algn="l" defTabSz="914400" rtl="0" eaLnBrk="1" latinLnBrk="0" hangingPunct="1">
        <a:defRPr sz="1865" kern="1200">
          <a:solidFill>
            <a:schemeClr val="tx1"/>
          </a:solidFill>
          <a:latin typeface="+mn-lt"/>
          <a:ea typeface="+mn-ea"/>
          <a:cs typeface="+mn-cs"/>
        </a:defRPr>
      </a:lvl2pPr>
      <a:lvl3pPr marL="914400" algn="l" defTabSz="914400" rtl="0" eaLnBrk="1" latinLnBrk="0" hangingPunct="1">
        <a:defRPr sz="1865" kern="1200">
          <a:solidFill>
            <a:schemeClr val="tx1"/>
          </a:solidFill>
          <a:latin typeface="+mn-lt"/>
          <a:ea typeface="+mn-ea"/>
          <a:cs typeface="+mn-cs"/>
        </a:defRPr>
      </a:lvl3pPr>
      <a:lvl4pPr marL="1371600" algn="l" defTabSz="914400" rtl="0" eaLnBrk="1" latinLnBrk="0" hangingPunct="1">
        <a:defRPr sz="1865" kern="1200">
          <a:solidFill>
            <a:schemeClr val="tx1"/>
          </a:solidFill>
          <a:latin typeface="+mn-lt"/>
          <a:ea typeface="+mn-ea"/>
          <a:cs typeface="+mn-cs"/>
        </a:defRPr>
      </a:lvl4pPr>
      <a:lvl5pPr marL="1828800" algn="l" defTabSz="914400" rtl="0" eaLnBrk="1" latinLnBrk="0" hangingPunct="1">
        <a:defRPr sz="1865" kern="1200">
          <a:solidFill>
            <a:schemeClr val="tx1"/>
          </a:solidFill>
          <a:latin typeface="+mn-lt"/>
          <a:ea typeface="+mn-ea"/>
          <a:cs typeface="+mn-cs"/>
        </a:defRPr>
      </a:lvl5pPr>
      <a:lvl6pPr marL="2286000" algn="l" defTabSz="914400" rtl="0" eaLnBrk="1" latinLnBrk="0" hangingPunct="1">
        <a:defRPr sz="1865" kern="1200">
          <a:solidFill>
            <a:schemeClr val="tx1"/>
          </a:solidFill>
          <a:latin typeface="+mn-lt"/>
          <a:ea typeface="+mn-ea"/>
          <a:cs typeface="+mn-cs"/>
        </a:defRPr>
      </a:lvl6pPr>
      <a:lvl7pPr marL="2743200" algn="l" defTabSz="914400" rtl="0" eaLnBrk="1" latinLnBrk="0" hangingPunct="1">
        <a:defRPr sz="1865" kern="1200">
          <a:solidFill>
            <a:schemeClr val="tx1"/>
          </a:solidFill>
          <a:latin typeface="+mn-lt"/>
          <a:ea typeface="+mn-ea"/>
          <a:cs typeface="+mn-cs"/>
        </a:defRPr>
      </a:lvl7pPr>
      <a:lvl8pPr marL="3200400" algn="l" defTabSz="914400" rtl="0" eaLnBrk="1" latinLnBrk="0" hangingPunct="1">
        <a:defRPr sz="1865" kern="1200">
          <a:solidFill>
            <a:schemeClr val="tx1"/>
          </a:solidFill>
          <a:latin typeface="+mn-lt"/>
          <a:ea typeface="+mn-ea"/>
          <a:cs typeface="+mn-cs"/>
        </a:defRPr>
      </a:lvl8pPr>
      <a:lvl9pPr marL="3657600" algn="l" defTabSz="914400" rtl="0" eaLnBrk="1" latinLnBrk="0" hangingPunct="1">
        <a:defRPr sz="18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4.xml"/><Relationship Id="rId14" Type="http://schemas.openxmlformats.org/officeDocument/2006/relationships/slideLayout" Target="../slideLayouts/slideLayout2.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0" Type="http://schemas.openxmlformats.org/officeDocument/2006/relationships/notesSlide" Target="../notesSlides/notesSlide11.xml"/><Relationship Id="rId1" Type="http://schemas.openxmlformats.org/officeDocument/2006/relationships/tags" Target="../tags/tag2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0" Type="http://schemas.openxmlformats.org/officeDocument/2006/relationships/notesSlide" Target="../notesSlides/notesSlide16.xml"/><Relationship Id="rId1" Type="http://schemas.openxmlformats.org/officeDocument/2006/relationships/tags" Target="../tags/tag3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9.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4" Type="http://schemas.openxmlformats.org/officeDocument/2006/relationships/notesSlide" Target="../notesSlides/notesSlide28.xml"/><Relationship Id="rId13" Type="http://schemas.openxmlformats.org/officeDocument/2006/relationships/slideLayout" Target="../slideLayouts/slideLayout2.xml"/><Relationship Id="rId12" Type="http://schemas.openxmlformats.org/officeDocument/2006/relationships/tags" Target="../tags/tag55.xml"/><Relationship Id="rId11" Type="http://schemas.openxmlformats.org/officeDocument/2006/relationships/tags" Target="../tags/tag54.xml"/><Relationship Id="rId10" Type="http://schemas.openxmlformats.org/officeDocument/2006/relationships/tags" Target="../tags/tag53.xml"/><Relationship Id="rId1" Type="http://schemas.openxmlformats.org/officeDocument/2006/relationships/tags" Target="../tags/tag4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31.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5" Type="http://schemas.openxmlformats.org/officeDocument/2006/relationships/notesSlide" Target="../notesSlides/notesSlide30.xml"/><Relationship Id="rId14" Type="http://schemas.openxmlformats.org/officeDocument/2006/relationships/slideLayout" Target="../slideLayouts/slideLayout2.xml"/><Relationship Id="rId13" Type="http://schemas.openxmlformats.org/officeDocument/2006/relationships/tags" Target="../tags/tag68.xml"/><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tags" Target="../tags/tag56.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33.xml.rels><?xml version="1.0" encoding="UTF-8" standalone="yes"?>
<Relationships xmlns="http://schemas.openxmlformats.org/package/2006/relationships"><Relationship Id="rId9" Type="http://schemas.openxmlformats.org/officeDocument/2006/relationships/notesSlide" Target="../notesSlides/notesSlide32.xml"/><Relationship Id="rId8" Type="http://schemas.openxmlformats.org/officeDocument/2006/relationships/slideLayout" Target="../slideLayouts/slideLayout2.xml"/><Relationship Id="rId7" Type="http://schemas.openxmlformats.org/officeDocument/2006/relationships/image" Target="../media/image16.emf"/><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1">
            <a:alphaModFix amt="10000"/>
            <a:extLst>
              <a:ext uri="{28A0092B-C50C-407E-A947-70E740481C1C}">
                <a14:useLocalDpi xmlns:a14="http://schemas.microsoft.com/office/drawing/2010/main" val="0"/>
              </a:ext>
            </a:extLst>
          </a:blip>
          <a:srcRect/>
          <a:stretch>
            <a:fillRect/>
          </a:stretch>
        </p:blipFill>
        <p:spPr>
          <a:xfrm>
            <a:off x="6338468" y="829330"/>
            <a:ext cx="5234124" cy="5201369"/>
          </a:xfrm>
          <a:prstGeom prst="rect">
            <a:avLst/>
          </a:prstGeom>
        </p:spPr>
      </p:pic>
      <p:sp>
        <p:nvSpPr>
          <p:cNvPr id="22" name="矩形 21"/>
          <p:cNvSpPr/>
          <p:nvPr/>
        </p:nvSpPr>
        <p:spPr>
          <a:xfrm>
            <a:off x="3204688" y="4818562"/>
            <a:ext cx="5214620" cy="378460"/>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小组成员：张肇秋</a:t>
            </a:r>
            <a:r>
              <a:rPr kumimoji="1" lang="en-US" altLang="zh-CN"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蒋枘言</a:t>
            </a:r>
            <a:r>
              <a:rPr kumimoji="1" lang="en-US" altLang="zh-CN"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李胜林</a:t>
            </a:r>
            <a:r>
              <a:rPr kumimoji="1" lang="en-US" altLang="zh-CN"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于昊汐</a:t>
            </a:r>
            <a:r>
              <a:rPr kumimoji="1" lang="en-US" altLang="zh-CN"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王怡博</a:t>
            </a:r>
            <a:endPar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矩形 20"/>
          <p:cNvSpPr/>
          <p:nvPr/>
        </p:nvSpPr>
        <p:spPr>
          <a:xfrm>
            <a:off x="3204845" y="3823970"/>
            <a:ext cx="6783070" cy="954405"/>
          </a:xfrm>
          <a:prstGeom prst="rect">
            <a:avLst/>
          </a:prstGeom>
        </p:spPr>
        <p:txBody>
          <a:bodyPr wrap="square" lIns="91440" tIns="45720" rIns="91440" bIns="45720">
            <a:spAutoFit/>
          </a:bodyPr>
          <a:lstStyle/>
          <a:p>
            <a:pPr marL="0" marR="0" lvl="0" indent="0" algn="l" defTabSz="457200" rtl="0" eaLnBrk="1" fontAlgn="auto" latinLnBrk="0" hangingPunct="1">
              <a:lnSpc>
                <a:spcPct val="150000"/>
              </a:lnSpc>
              <a:spcBef>
                <a:spcPct val="0"/>
              </a:spcBef>
              <a:spcAft>
                <a:spcPts val="0"/>
              </a:spcAft>
              <a:buClrTx/>
              <a:buSzTx/>
              <a:buFontTx/>
              <a:buNone/>
              <a:defRPr/>
            </a:pPr>
            <a:r>
              <a:rPr kumimoji="0" lang="en-US" altLang="zh-CN"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DangZero: Efficient Use-After-Free Detection via Direct Page Table Access</a:t>
            </a:r>
            <a:endParaRPr kumimoji="0" lang="en-US" altLang="zh-CN"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3" name="矩形 22"/>
          <p:cNvSpPr/>
          <p:nvPr/>
        </p:nvSpPr>
        <p:spPr>
          <a:xfrm>
            <a:off x="3148480" y="2262799"/>
            <a:ext cx="7785980" cy="1322070"/>
          </a:xfrm>
          <a:prstGeom prst="rect">
            <a:avLst/>
          </a:prstGeom>
        </p:spPr>
        <p:txBody>
          <a:bodyPr wrap="squar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mn-cs"/>
              </a:rPr>
              <a:t>DangZero——</a:t>
            </a:r>
            <a:r>
              <a:rPr kumimoji="0" lang="zh-CN" altLang="en-US" sz="4000"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mn-cs"/>
              </a:rPr>
              <a:t>一种通过直接访问页表的高效</a:t>
            </a:r>
            <a:r>
              <a:rPr kumimoji="0" lang="en-US" altLang="zh-CN" sz="4000"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mn-cs"/>
              </a:rPr>
              <a:t>UAF</a:t>
            </a:r>
            <a:r>
              <a:rPr kumimoji="0" lang="zh-CN" altLang="en-US" sz="4000"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mn-cs"/>
              </a:rPr>
              <a:t>漏洞检测方式</a:t>
            </a:r>
            <a:endParaRPr kumimoji="0" lang="zh-CN" altLang="en-US" sz="4000"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mn-cs"/>
            </a:endParaRPr>
          </a:p>
        </p:txBody>
      </p:sp>
      <p:cxnSp>
        <p:nvCxnSpPr>
          <p:cNvPr id="24" name="直接连接符 23"/>
          <p:cNvCxnSpPr/>
          <p:nvPr/>
        </p:nvCxnSpPr>
        <p:spPr>
          <a:xfrm flipH="1">
            <a:off x="3278983" y="3875861"/>
            <a:ext cx="67090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Freeform 5"/>
          <p:cNvSpPr>
            <a:spLocks noEditPoints="1"/>
          </p:cNvSpPr>
          <p:nvPr/>
        </p:nvSpPr>
        <p:spPr bwMode="auto">
          <a:xfrm>
            <a:off x="1" y="1552169"/>
            <a:ext cx="2387969" cy="3826419"/>
          </a:xfrm>
          <a:custGeom>
            <a:avLst/>
            <a:gdLst>
              <a:gd name="T0" fmla="*/ 0 w 7449"/>
              <a:gd name="T1" fmla="*/ 0 h 11906"/>
              <a:gd name="T2" fmla="*/ 7449 w 7449"/>
              <a:gd name="T3" fmla="*/ 4223 h 11906"/>
              <a:gd name="T4" fmla="*/ 0 w 7449"/>
              <a:gd name="T5" fmla="*/ 4223 h 11906"/>
              <a:gd name="T6" fmla="*/ 0 w 7449"/>
              <a:gd name="T7" fmla="*/ 0 h 11906"/>
              <a:gd name="T8" fmla="*/ 7449 w 7449"/>
              <a:gd name="T9" fmla="*/ 4302 h 11906"/>
              <a:gd name="T10" fmla="*/ 0 w 7449"/>
              <a:gd name="T11" fmla="*/ 8525 h 11906"/>
              <a:gd name="T12" fmla="*/ 0 w 7449"/>
              <a:gd name="T13" fmla="*/ 4302 h 11906"/>
              <a:gd name="T14" fmla="*/ 7449 w 7449"/>
              <a:gd name="T15" fmla="*/ 4302 h 11906"/>
              <a:gd name="T16" fmla="*/ 2857 w 7449"/>
              <a:gd name="T17" fmla="*/ 10038 h 11906"/>
              <a:gd name="T18" fmla="*/ 5 w 7449"/>
              <a:gd name="T19" fmla="*/ 11903 h 11906"/>
              <a:gd name="T20" fmla="*/ 0 w 7449"/>
              <a:gd name="T21" fmla="*/ 11906 h 11906"/>
              <a:gd name="T22" fmla="*/ 0 w 7449"/>
              <a:gd name="T23" fmla="*/ 8789 h 11906"/>
              <a:gd name="T24" fmla="*/ 2857 w 7449"/>
              <a:gd name="T25" fmla="*/ 7136 h 11906"/>
              <a:gd name="T26" fmla="*/ 2857 w 7449"/>
              <a:gd name="T27" fmla="*/ 10038 h 11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49" h="11906">
                <a:moveTo>
                  <a:pt x="0" y="0"/>
                </a:moveTo>
                <a:lnTo>
                  <a:pt x="7449" y="4223"/>
                </a:lnTo>
                <a:lnTo>
                  <a:pt x="0" y="4223"/>
                </a:lnTo>
                <a:lnTo>
                  <a:pt x="0" y="0"/>
                </a:lnTo>
                <a:close/>
                <a:moveTo>
                  <a:pt x="7449" y="4302"/>
                </a:moveTo>
                <a:lnTo>
                  <a:pt x="0" y="8525"/>
                </a:lnTo>
                <a:lnTo>
                  <a:pt x="0" y="4302"/>
                </a:lnTo>
                <a:lnTo>
                  <a:pt x="7449" y="4302"/>
                </a:lnTo>
                <a:close/>
                <a:moveTo>
                  <a:pt x="2857" y="10038"/>
                </a:moveTo>
                <a:cubicBezTo>
                  <a:pt x="2537" y="11326"/>
                  <a:pt x="721" y="11825"/>
                  <a:pt x="5" y="11903"/>
                </a:cubicBezTo>
                <a:lnTo>
                  <a:pt x="0" y="11906"/>
                </a:lnTo>
                <a:lnTo>
                  <a:pt x="0" y="8789"/>
                </a:lnTo>
                <a:lnTo>
                  <a:pt x="2857" y="7136"/>
                </a:lnTo>
                <a:lnTo>
                  <a:pt x="2857" y="10038"/>
                </a:lnTo>
                <a:close/>
              </a:path>
            </a:pathLst>
          </a:custGeom>
          <a:solidFill>
            <a:srgbClr val="6B0261"/>
          </a:solidFill>
          <a:ln w="5" cap="flat">
            <a:solidFill>
              <a:srgbClr val="6B0261"/>
            </a:solidFill>
            <a:prstDash val="solid"/>
            <a:miter lim="800000"/>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 name="Freeform 6"/>
          <p:cNvSpPr>
            <a:spLocks noEditPoints="1"/>
          </p:cNvSpPr>
          <p:nvPr/>
        </p:nvSpPr>
        <p:spPr bwMode="auto">
          <a:xfrm>
            <a:off x="2296560" y="2937549"/>
            <a:ext cx="182819" cy="2259004"/>
          </a:xfrm>
          <a:custGeom>
            <a:avLst/>
            <a:gdLst>
              <a:gd name="T0" fmla="*/ 246 w 571"/>
              <a:gd name="T1" fmla="*/ 0 h 7028"/>
              <a:gd name="T2" fmla="*/ 246 w 571"/>
              <a:gd name="T3" fmla="*/ 2716 h 7028"/>
              <a:gd name="T4" fmla="*/ 178 w 571"/>
              <a:gd name="T5" fmla="*/ 2816 h 7028"/>
              <a:gd name="T6" fmla="*/ 286 w 571"/>
              <a:gd name="T7" fmla="*/ 2924 h 7028"/>
              <a:gd name="T8" fmla="*/ 394 w 571"/>
              <a:gd name="T9" fmla="*/ 2816 h 7028"/>
              <a:gd name="T10" fmla="*/ 325 w 571"/>
              <a:gd name="T11" fmla="*/ 2716 h 7028"/>
              <a:gd name="T12" fmla="*/ 325 w 571"/>
              <a:gd name="T13" fmla="*/ 0 h 7028"/>
              <a:gd name="T14" fmla="*/ 246 w 571"/>
              <a:gd name="T15" fmla="*/ 0 h 7028"/>
              <a:gd name="T16" fmla="*/ 0 w 571"/>
              <a:gd name="T17" fmla="*/ 3749 h 7028"/>
              <a:gd name="T18" fmla="*/ 571 w 571"/>
              <a:gd name="T19" fmla="*/ 3749 h 7028"/>
              <a:gd name="T20" fmla="*/ 571 w 571"/>
              <a:gd name="T21" fmla="*/ 3790 h 7028"/>
              <a:gd name="T22" fmla="*/ 0 w 571"/>
              <a:gd name="T23" fmla="*/ 3790 h 7028"/>
              <a:gd name="T24" fmla="*/ 0 w 571"/>
              <a:gd name="T25" fmla="*/ 3749 h 7028"/>
              <a:gd name="T26" fmla="*/ 0 w 571"/>
              <a:gd name="T27" fmla="*/ 3323 h 7028"/>
              <a:gd name="T28" fmla="*/ 0 w 571"/>
              <a:gd name="T29" fmla="*/ 3323 h 7028"/>
              <a:gd name="T30" fmla="*/ 0 w 571"/>
              <a:gd name="T31" fmla="*/ 3323 h 7028"/>
              <a:gd name="T32" fmla="*/ 286 w 571"/>
              <a:gd name="T33" fmla="*/ 3037 h 7028"/>
              <a:gd name="T34" fmla="*/ 571 w 571"/>
              <a:gd name="T35" fmla="*/ 3323 h 7028"/>
              <a:gd name="T36" fmla="*/ 571 w 571"/>
              <a:gd name="T37" fmla="*/ 3323 h 7028"/>
              <a:gd name="T38" fmla="*/ 571 w 571"/>
              <a:gd name="T39" fmla="*/ 3323 h 7028"/>
              <a:gd name="T40" fmla="*/ 571 w 571"/>
              <a:gd name="T41" fmla="*/ 3683 h 7028"/>
              <a:gd name="T42" fmla="*/ 0 w 571"/>
              <a:gd name="T43" fmla="*/ 3683 h 7028"/>
              <a:gd name="T44" fmla="*/ 0 w 571"/>
              <a:gd name="T45" fmla="*/ 3323 h 7028"/>
              <a:gd name="T46" fmla="*/ 37 w 571"/>
              <a:gd name="T47" fmla="*/ 3885 h 7028"/>
              <a:gd name="T48" fmla="*/ 0 w 571"/>
              <a:gd name="T49" fmla="*/ 3885 h 7028"/>
              <a:gd name="T50" fmla="*/ 0 w 571"/>
              <a:gd name="T51" fmla="*/ 7028 h 7028"/>
              <a:gd name="T52" fmla="*/ 37 w 571"/>
              <a:gd name="T53" fmla="*/ 7028 h 7028"/>
              <a:gd name="T54" fmla="*/ 37 w 571"/>
              <a:gd name="T55" fmla="*/ 3885 h 7028"/>
              <a:gd name="T56" fmla="*/ 126 w 571"/>
              <a:gd name="T57" fmla="*/ 3885 h 7028"/>
              <a:gd name="T58" fmla="*/ 89 w 571"/>
              <a:gd name="T59" fmla="*/ 3885 h 7028"/>
              <a:gd name="T60" fmla="*/ 89 w 571"/>
              <a:gd name="T61" fmla="*/ 7028 h 7028"/>
              <a:gd name="T62" fmla="*/ 126 w 571"/>
              <a:gd name="T63" fmla="*/ 7028 h 7028"/>
              <a:gd name="T64" fmla="*/ 126 w 571"/>
              <a:gd name="T65" fmla="*/ 3885 h 7028"/>
              <a:gd name="T66" fmla="*/ 215 w 571"/>
              <a:gd name="T67" fmla="*/ 3885 h 7028"/>
              <a:gd name="T68" fmla="*/ 178 w 571"/>
              <a:gd name="T69" fmla="*/ 3885 h 7028"/>
              <a:gd name="T70" fmla="*/ 178 w 571"/>
              <a:gd name="T71" fmla="*/ 7028 h 7028"/>
              <a:gd name="T72" fmla="*/ 215 w 571"/>
              <a:gd name="T73" fmla="*/ 7028 h 7028"/>
              <a:gd name="T74" fmla="*/ 215 w 571"/>
              <a:gd name="T75" fmla="*/ 3885 h 7028"/>
              <a:gd name="T76" fmla="*/ 304 w 571"/>
              <a:gd name="T77" fmla="*/ 3885 h 7028"/>
              <a:gd name="T78" fmla="*/ 267 w 571"/>
              <a:gd name="T79" fmla="*/ 3885 h 7028"/>
              <a:gd name="T80" fmla="*/ 267 w 571"/>
              <a:gd name="T81" fmla="*/ 7028 h 7028"/>
              <a:gd name="T82" fmla="*/ 304 w 571"/>
              <a:gd name="T83" fmla="*/ 7028 h 7028"/>
              <a:gd name="T84" fmla="*/ 304 w 571"/>
              <a:gd name="T85" fmla="*/ 3885 h 7028"/>
              <a:gd name="T86" fmla="*/ 393 w 571"/>
              <a:gd name="T87" fmla="*/ 3885 h 7028"/>
              <a:gd name="T88" fmla="*/ 356 w 571"/>
              <a:gd name="T89" fmla="*/ 3885 h 7028"/>
              <a:gd name="T90" fmla="*/ 356 w 571"/>
              <a:gd name="T91" fmla="*/ 7028 h 7028"/>
              <a:gd name="T92" fmla="*/ 393 w 571"/>
              <a:gd name="T93" fmla="*/ 7028 h 7028"/>
              <a:gd name="T94" fmla="*/ 393 w 571"/>
              <a:gd name="T95" fmla="*/ 3885 h 7028"/>
              <a:gd name="T96" fmla="*/ 482 w 571"/>
              <a:gd name="T97" fmla="*/ 3885 h 7028"/>
              <a:gd name="T98" fmla="*/ 445 w 571"/>
              <a:gd name="T99" fmla="*/ 3885 h 7028"/>
              <a:gd name="T100" fmla="*/ 445 w 571"/>
              <a:gd name="T101" fmla="*/ 7028 h 7028"/>
              <a:gd name="T102" fmla="*/ 482 w 571"/>
              <a:gd name="T103" fmla="*/ 7028 h 7028"/>
              <a:gd name="T104" fmla="*/ 482 w 571"/>
              <a:gd name="T105" fmla="*/ 3885 h 7028"/>
              <a:gd name="T106" fmla="*/ 571 w 571"/>
              <a:gd name="T107" fmla="*/ 3885 h 7028"/>
              <a:gd name="T108" fmla="*/ 534 w 571"/>
              <a:gd name="T109" fmla="*/ 3885 h 7028"/>
              <a:gd name="T110" fmla="*/ 534 w 571"/>
              <a:gd name="T111" fmla="*/ 7028 h 7028"/>
              <a:gd name="T112" fmla="*/ 571 w 571"/>
              <a:gd name="T113" fmla="*/ 7028 h 7028"/>
              <a:gd name="T114" fmla="*/ 571 w 571"/>
              <a:gd name="T115" fmla="*/ 3885 h 7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71" h="7028">
                <a:moveTo>
                  <a:pt x="246" y="0"/>
                </a:moveTo>
                <a:lnTo>
                  <a:pt x="246" y="2716"/>
                </a:lnTo>
                <a:cubicBezTo>
                  <a:pt x="206" y="2731"/>
                  <a:pt x="178" y="2770"/>
                  <a:pt x="178" y="2816"/>
                </a:cubicBezTo>
                <a:cubicBezTo>
                  <a:pt x="178" y="2876"/>
                  <a:pt x="226" y="2924"/>
                  <a:pt x="286" y="2924"/>
                </a:cubicBezTo>
                <a:cubicBezTo>
                  <a:pt x="345" y="2924"/>
                  <a:pt x="394" y="2876"/>
                  <a:pt x="394" y="2816"/>
                </a:cubicBezTo>
                <a:cubicBezTo>
                  <a:pt x="394" y="2770"/>
                  <a:pt x="365" y="2731"/>
                  <a:pt x="325" y="2716"/>
                </a:cubicBezTo>
                <a:lnTo>
                  <a:pt x="325" y="0"/>
                </a:lnTo>
                <a:lnTo>
                  <a:pt x="246" y="0"/>
                </a:lnTo>
                <a:close/>
                <a:moveTo>
                  <a:pt x="0" y="3749"/>
                </a:moveTo>
                <a:lnTo>
                  <a:pt x="571" y="3749"/>
                </a:lnTo>
                <a:lnTo>
                  <a:pt x="571" y="3790"/>
                </a:lnTo>
                <a:lnTo>
                  <a:pt x="0" y="3790"/>
                </a:lnTo>
                <a:lnTo>
                  <a:pt x="0" y="3749"/>
                </a:lnTo>
                <a:close/>
                <a:moveTo>
                  <a:pt x="0" y="3323"/>
                </a:moveTo>
                <a:lnTo>
                  <a:pt x="0" y="3323"/>
                </a:lnTo>
                <a:lnTo>
                  <a:pt x="0" y="3323"/>
                </a:lnTo>
                <a:cubicBezTo>
                  <a:pt x="0" y="3165"/>
                  <a:pt x="128" y="3037"/>
                  <a:pt x="286" y="3037"/>
                </a:cubicBezTo>
                <a:cubicBezTo>
                  <a:pt x="443" y="3037"/>
                  <a:pt x="571" y="3165"/>
                  <a:pt x="571" y="3323"/>
                </a:cubicBezTo>
                <a:lnTo>
                  <a:pt x="571" y="3323"/>
                </a:lnTo>
                <a:lnTo>
                  <a:pt x="571" y="3323"/>
                </a:lnTo>
                <a:lnTo>
                  <a:pt x="571" y="3683"/>
                </a:lnTo>
                <a:lnTo>
                  <a:pt x="0" y="3683"/>
                </a:lnTo>
                <a:lnTo>
                  <a:pt x="0" y="3323"/>
                </a:lnTo>
                <a:close/>
                <a:moveTo>
                  <a:pt x="37" y="3885"/>
                </a:moveTo>
                <a:lnTo>
                  <a:pt x="0" y="3885"/>
                </a:lnTo>
                <a:lnTo>
                  <a:pt x="0" y="7028"/>
                </a:lnTo>
                <a:lnTo>
                  <a:pt x="37" y="7028"/>
                </a:lnTo>
                <a:lnTo>
                  <a:pt x="37" y="3885"/>
                </a:lnTo>
                <a:close/>
                <a:moveTo>
                  <a:pt x="126" y="3885"/>
                </a:moveTo>
                <a:lnTo>
                  <a:pt x="89" y="3885"/>
                </a:lnTo>
                <a:lnTo>
                  <a:pt x="89" y="7028"/>
                </a:lnTo>
                <a:lnTo>
                  <a:pt x="126" y="7028"/>
                </a:lnTo>
                <a:lnTo>
                  <a:pt x="126" y="3885"/>
                </a:lnTo>
                <a:close/>
                <a:moveTo>
                  <a:pt x="215" y="3885"/>
                </a:moveTo>
                <a:lnTo>
                  <a:pt x="178" y="3885"/>
                </a:lnTo>
                <a:lnTo>
                  <a:pt x="178" y="7028"/>
                </a:lnTo>
                <a:lnTo>
                  <a:pt x="215" y="7028"/>
                </a:lnTo>
                <a:lnTo>
                  <a:pt x="215" y="3885"/>
                </a:lnTo>
                <a:close/>
                <a:moveTo>
                  <a:pt x="304" y="3885"/>
                </a:moveTo>
                <a:lnTo>
                  <a:pt x="267" y="3885"/>
                </a:lnTo>
                <a:lnTo>
                  <a:pt x="267" y="7028"/>
                </a:lnTo>
                <a:lnTo>
                  <a:pt x="304" y="7028"/>
                </a:lnTo>
                <a:lnTo>
                  <a:pt x="304" y="3885"/>
                </a:lnTo>
                <a:close/>
                <a:moveTo>
                  <a:pt x="393" y="3885"/>
                </a:moveTo>
                <a:lnTo>
                  <a:pt x="356" y="3885"/>
                </a:lnTo>
                <a:lnTo>
                  <a:pt x="356" y="7028"/>
                </a:lnTo>
                <a:lnTo>
                  <a:pt x="393" y="7028"/>
                </a:lnTo>
                <a:lnTo>
                  <a:pt x="393" y="3885"/>
                </a:lnTo>
                <a:close/>
                <a:moveTo>
                  <a:pt x="482" y="3885"/>
                </a:moveTo>
                <a:lnTo>
                  <a:pt x="445" y="3885"/>
                </a:lnTo>
                <a:lnTo>
                  <a:pt x="445" y="7028"/>
                </a:lnTo>
                <a:lnTo>
                  <a:pt x="482" y="7028"/>
                </a:lnTo>
                <a:lnTo>
                  <a:pt x="482" y="3885"/>
                </a:lnTo>
                <a:close/>
                <a:moveTo>
                  <a:pt x="571" y="3885"/>
                </a:moveTo>
                <a:lnTo>
                  <a:pt x="534" y="3885"/>
                </a:lnTo>
                <a:lnTo>
                  <a:pt x="534" y="7028"/>
                </a:lnTo>
                <a:lnTo>
                  <a:pt x="571" y="7028"/>
                </a:lnTo>
                <a:lnTo>
                  <a:pt x="571" y="3885"/>
                </a:lnTo>
                <a:close/>
              </a:path>
            </a:pathLst>
          </a:custGeom>
          <a:solidFill>
            <a:srgbClr val="6B0261"/>
          </a:solidFill>
          <a:ln>
            <a:solidFill>
              <a:srgbClr val="6B0261"/>
            </a:solid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pic>
        <p:nvPicPr>
          <p:cNvPr id="4" name="图片 3"/>
          <p:cNvPicPr>
            <a:picLocks noChangeAspect="1"/>
          </p:cNvPicPr>
          <p:nvPr/>
        </p:nvPicPr>
        <p:blipFill rotWithShape="1">
          <a:blip r:embed="rId2" cstate="print">
            <a:extLst>
              <a:ext uri="{28A0092B-C50C-407E-A947-70E740481C1C}">
                <a14:useLocalDpi xmlns:a14="http://schemas.microsoft.com/office/drawing/2010/main" val="0"/>
              </a:ext>
            </a:extLst>
          </a:blip>
          <a:srcRect l="7586" t="36068" r="13573" b="36906"/>
          <a:stretch>
            <a:fillRect/>
          </a:stretch>
        </p:blipFill>
        <p:spPr>
          <a:xfrm>
            <a:off x="289560" y="149225"/>
            <a:ext cx="2377440" cy="815340"/>
          </a:xfrm>
          <a:prstGeom prst="rect">
            <a:avLst/>
          </a:prstGeom>
        </p:spPr>
      </p:pic>
      <p:grpSp>
        <p:nvGrpSpPr>
          <p:cNvPr id="9" name="组合 8"/>
          <p:cNvGrpSpPr/>
          <p:nvPr/>
        </p:nvGrpSpPr>
        <p:grpSpPr>
          <a:xfrm>
            <a:off x="9863839" y="5580305"/>
            <a:ext cx="1956886" cy="1125141"/>
            <a:chOff x="9915418" y="5732859"/>
            <a:chExt cx="1956886" cy="1125141"/>
          </a:xfrm>
        </p:grpSpPr>
        <p:pic>
          <p:nvPicPr>
            <p:cNvPr id="6" name="图片 5"/>
            <p:cNvPicPr>
              <a:picLocks noChangeAspect="1"/>
            </p:cNvPicPr>
            <p:nvPr/>
          </p:nvPicPr>
          <p:blipFill rotWithShape="1">
            <a:blip r:embed="rId3">
              <a:alphaModFix amt="70000"/>
              <a:extLst>
                <a:ext uri="{28A0092B-C50C-407E-A947-70E740481C1C}">
                  <a14:useLocalDpi xmlns:a14="http://schemas.microsoft.com/office/drawing/2010/main" val="0"/>
                </a:ext>
              </a:extLst>
            </a:blip>
            <a:srcRect r="51439" b="9544"/>
            <a:stretch>
              <a:fillRect/>
            </a:stretch>
          </p:blipFill>
          <p:spPr>
            <a:xfrm>
              <a:off x="9915419" y="5732859"/>
              <a:ext cx="1956885" cy="523359"/>
            </a:xfrm>
            <a:prstGeom prst="rect">
              <a:avLst/>
            </a:prstGeom>
          </p:spPr>
        </p:pic>
        <p:pic>
          <p:nvPicPr>
            <p:cNvPr id="8" name="图片 7"/>
            <p:cNvPicPr>
              <a:picLocks noChangeAspect="1"/>
            </p:cNvPicPr>
            <p:nvPr/>
          </p:nvPicPr>
          <p:blipFill rotWithShape="1">
            <a:blip r:embed="rId3">
              <a:alphaModFix amt="70000"/>
              <a:extLst>
                <a:ext uri="{28A0092B-C50C-407E-A947-70E740481C1C}">
                  <a14:useLocalDpi xmlns:a14="http://schemas.microsoft.com/office/drawing/2010/main" val="0"/>
                </a:ext>
              </a:extLst>
            </a:blip>
            <a:srcRect l="53312"/>
            <a:stretch>
              <a:fillRect/>
            </a:stretch>
          </p:blipFill>
          <p:spPr>
            <a:xfrm>
              <a:off x="9915418" y="6256218"/>
              <a:ext cx="1956886" cy="601782"/>
            </a:xfrm>
            <a:prstGeom prst="rect">
              <a:avLst/>
            </a:prstGeom>
          </p:spPr>
        </p:pic>
      </p:grpSp>
      <p:sp>
        <p:nvSpPr>
          <p:cNvPr id="2" name="矩形 1"/>
          <p:cNvSpPr/>
          <p:nvPr/>
        </p:nvSpPr>
        <p:spPr>
          <a:xfrm>
            <a:off x="3204688" y="5237027"/>
            <a:ext cx="1922145" cy="378460"/>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2025</a:t>
            </a:r>
            <a:r>
              <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a:t>
            </a:r>
            <a:r>
              <a:rPr kumimoji="1" lang="en-US" altLang="zh-CN"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6</a:t>
            </a:r>
            <a:r>
              <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月</a:t>
            </a:r>
            <a:r>
              <a:rPr kumimoji="1" lang="en-US" altLang="zh-CN"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30</a:t>
            </a:r>
            <a:r>
              <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日</a:t>
            </a:r>
            <a:endPar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851660" y="568325"/>
            <a:ext cx="4064000" cy="811530"/>
          </a:xfrm>
          <a:prstGeom prst="rect">
            <a:avLst/>
          </a:prstGeom>
          <a:noFill/>
        </p:spPr>
        <p:txBody>
          <a:bodyPr wrap="square" rtlCol="0">
            <a:spAutoFit/>
          </a:bodyPr>
          <a:p>
            <a:pPr algn="ctr">
              <a:lnSpc>
                <a:spcPct val="130000"/>
              </a:lnSpc>
            </a:pPr>
            <a:r>
              <a:rPr lang="zh-CN" altLang="en-US" sz="3600" dirty="0" smtClean="0">
                <a:ln/>
                <a:gradFill>
                  <a:gsLst>
                    <a:gs pos="21000">
                      <a:srgbClr val="53575C"/>
                    </a:gs>
                    <a:gs pos="88000">
                      <a:srgbClr val="C5C7CA"/>
                    </a:gs>
                  </a:gsLst>
                  <a:lin ang="5400000"/>
                </a:gradFill>
                <a:effectLst/>
                <a:latin typeface="Arial" panose="020B0604020202020204" pitchFamily="34" charset="0"/>
                <a:ea typeface="微软雅黑" panose="020B0503020204020204" pitchFamily="34" charset="-122"/>
              </a:rPr>
              <a:t>目录</a:t>
            </a:r>
            <a:endParaRPr lang="zh-CN" altLang="en-US" sz="3600" dirty="0" smtClean="0">
              <a:ln/>
              <a:gradFill>
                <a:gsLst>
                  <a:gs pos="21000">
                    <a:srgbClr val="53575C"/>
                  </a:gs>
                  <a:gs pos="88000">
                    <a:srgbClr val="C5C7CA"/>
                  </a:gs>
                </a:gsLst>
                <a:lin ang="5400000"/>
              </a:gradFill>
              <a:effectLst/>
              <a:latin typeface="Arial" panose="020B0604020202020204" pitchFamily="34" charset="0"/>
              <a:ea typeface="微软雅黑" panose="020B0503020204020204" pitchFamily="34" charset="-122"/>
            </a:endParaRPr>
          </a:p>
        </p:txBody>
      </p:sp>
      <p:sp>
        <p:nvSpPr>
          <p:cNvPr id="3" name="文本框 2"/>
          <p:cNvSpPr txBox="1"/>
          <p:nvPr/>
        </p:nvSpPr>
        <p:spPr>
          <a:xfrm>
            <a:off x="1913255" y="1936115"/>
            <a:ext cx="4064000" cy="3448685"/>
          </a:xfrm>
          <a:prstGeom prst="rect">
            <a:avLst/>
          </a:prstGeom>
          <a:noFill/>
        </p:spPr>
        <p:txBody>
          <a:bodyPr wrap="square" rtlCol="0">
            <a:spAutoFit/>
          </a:bodyPr>
          <a:p>
            <a:pPr>
              <a:lnSpc>
                <a:spcPct val="130000"/>
              </a:lnSpc>
            </a:pPr>
            <a:r>
              <a:rPr lang="en-US" altLang="zh-CN" sz="2400" dirty="0" smtClean="0">
                <a:latin typeface="Times New Roman" panose="02020603050405020304" pitchFamily="18" charset="0"/>
                <a:ea typeface="仿宋" panose="02010609060101010101" charset="-122"/>
                <a:cs typeface="Times New Roman" panose="02020603050405020304" pitchFamily="18" charset="0"/>
              </a:rPr>
              <a:t>1</a:t>
            </a:r>
            <a:r>
              <a:rPr lang="zh-CN" altLang="en-US" sz="2400" dirty="0" smtClean="0">
                <a:latin typeface="Times New Roman" panose="02020603050405020304" pitchFamily="18" charset="0"/>
                <a:ea typeface="仿宋" panose="02010609060101010101" charset="-122"/>
                <a:cs typeface="Times New Roman" panose="02020603050405020304" pitchFamily="18" charset="0"/>
              </a:rPr>
              <a:t>、引言与背景</a:t>
            </a:r>
            <a:endParaRPr lang="zh-CN" altLang="en-US" sz="2400" dirty="0" smtClean="0">
              <a:latin typeface="Times New Roman" panose="02020603050405020304" pitchFamily="18" charset="0"/>
              <a:ea typeface="仿宋" panose="02010609060101010101" charset="-122"/>
              <a:cs typeface="Times New Roman" panose="02020603050405020304" pitchFamily="18" charset="0"/>
            </a:endParaRPr>
          </a:p>
          <a:p>
            <a:pPr>
              <a:lnSpc>
                <a:spcPct val="130000"/>
              </a:lnSpc>
            </a:pPr>
            <a:r>
              <a:rPr lang="en-US" altLang="zh-CN" sz="2400" dirty="0" smtClean="0">
                <a:latin typeface="Times New Roman" panose="02020603050405020304" pitchFamily="18" charset="0"/>
                <a:ea typeface="仿宋" panose="02010609060101010101" charset="-122"/>
                <a:cs typeface="Times New Roman" panose="02020603050405020304" pitchFamily="18" charset="0"/>
              </a:rPr>
              <a:t>2</a:t>
            </a:r>
            <a:r>
              <a:rPr lang="zh-CN" altLang="en-US" sz="2400" dirty="0" smtClean="0">
                <a:latin typeface="Times New Roman" panose="02020603050405020304" pitchFamily="18" charset="0"/>
                <a:ea typeface="仿宋" panose="02010609060101010101" charset="-122"/>
                <a:cs typeface="Times New Roman" panose="02020603050405020304" pitchFamily="18" charset="0"/>
              </a:rPr>
              <a:t>、实现思路</a:t>
            </a:r>
            <a:endParaRPr lang="zh-CN" altLang="en-US" sz="2400" dirty="0" smtClean="0">
              <a:latin typeface="Times New Roman" panose="02020603050405020304" pitchFamily="18" charset="0"/>
              <a:ea typeface="仿宋" panose="02010609060101010101" charset="-122"/>
              <a:cs typeface="Times New Roman" panose="02020603050405020304" pitchFamily="18" charset="0"/>
            </a:endParaRPr>
          </a:p>
          <a:p>
            <a:pPr>
              <a:lnSpc>
                <a:spcPct val="130000"/>
              </a:lnSpc>
            </a:pPr>
            <a:r>
              <a:rPr lang="en-US" altLang="zh-CN" sz="2400" dirty="0" smtClean="0">
                <a:latin typeface="Times New Roman" panose="02020603050405020304" pitchFamily="18" charset="0"/>
                <a:ea typeface="仿宋" panose="02010609060101010101" charset="-122"/>
                <a:cs typeface="Times New Roman" panose="02020603050405020304" pitchFamily="18" charset="0"/>
              </a:rPr>
              <a:t>3</a:t>
            </a:r>
            <a:r>
              <a:rPr lang="zh-CN" altLang="en-US" sz="2400" dirty="0" smtClean="0">
                <a:latin typeface="Times New Roman" panose="02020603050405020304" pitchFamily="18" charset="0"/>
                <a:ea typeface="仿宋" panose="02010609060101010101" charset="-122"/>
                <a:cs typeface="Times New Roman" panose="02020603050405020304" pitchFamily="18" charset="0"/>
              </a:rPr>
              <a:t>、实现过程</a:t>
            </a:r>
            <a:endParaRPr lang="zh-CN" altLang="en-US" sz="2400" dirty="0" smtClean="0">
              <a:latin typeface="Times New Roman" panose="02020603050405020304" pitchFamily="18" charset="0"/>
              <a:ea typeface="仿宋" panose="02010609060101010101" charset="-122"/>
              <a:cs typeface="Times New Roman" panose="02020603050405020304" pitchFamily="18" charset="0"/>
            </a:endParaRPr>
          </a:p>
          <a:p>
            <a:pPr>
              <a:lnSpc>
                <a:spcPct val="130000"/>
              </a:lnSpc>
            </a:pPr>
            <a:r>
              <a:rPr lang="en-US" altLang="zh-CN" sz="2400" dirty="0" smtClean="0">
                <a:latin typeface="Times New Roman" panose="02020603050405020304" pitchFamily="18" charset="0"/>
                <a:ea typeface="仿宋" panose="02010609060101010101" charset="-122"/>
                <a:cs typeface="Times New Roman" panose="02020603050405020304" pitchFamily="18" charset="0"/>
              </a:rPr>
              <a:t>4</a:t>
            </a:r>
            <a:r>
              <a:rPr lang="zh-CN" altLang="en-US" sz="2400" dirty="0" smtClean="0">
                <a:latin typeface="Times New Roman" panose="02020603050405020304" pitchFamily="18" charset="0"/>
                <a:ea typeface="仿宋" panose="02010609060101010101" charset="-122"/>
                <a:cs typeface="Times New Roman" panose="02020603050405020304" pitchFamily="18" charset="0"/>
              </a:rPr>
              <a:t>、评价</a:t>
            </a:r>
            <a:endParaRPr lang="zh-CN" altLang="en-US" sz="2400" dirty="0" smtClean="0">
              <a:latin typeface="Times New Roman" panose="02020603050405020304" pitchFamily="18" charset="0"/>
              <a:ea typeface="仿宋" panose="02010609060101010101" charset="-122"/>
              <a:cs typeface="Times New Roman" panose="02020603050405020304" pitchFamily="18" charset="0"/>
            </a:endParaRPr>
          </a:p>
          <a:p>
            <a:pPr>
              <a:lnSpc>
                <a:spcPct val="130000"/>
              </a:lnSpc>
            </a:pPr>
            <a:r>
              <a:rPr lang="en-US" altLang="zh-CN" sz="2400" dirty="0" smtClean="0">
                <a:latin typeface="Times New Roman" panose="02020603050405020304" pitchFamily="18" charset="0"/>
                <a:ea typeface="仿宋" panose="02010609060101010101" charset="-122"/>
                <a:cs typeface="Times New Roman" panose="02020603050405020304" pitchFamily="18" charset="0"/>
              </a:rPr>
              <a:t>5</a:t>
            </a:r>
            <a:r>
              <a:rPr lang="zh-CN" altLang="en-US" sz="2400" dirty="0" smtClean="0">
                <a:latin typeface="Times New Roman" panose="02020603050405020304" pitchFamily="18" charset="0"/>
                <a:ea typeface="仿宋" panose="02010609060101010101" charset="-122"/>
                <a:cs typeface="Times New Roman" panose="02020603050405020304" pitchFamily="18" charset="0"/>
              </a:rPr>
              <a:t>、相关工作</a:t>
            </a:r>
            <a:endParaRPr lang="zh-CN" altLang="en-US" sz="2400" dirty="0" smtClean="0">
              <a:latin typeface="Times New Roman" panose="02020603050405020304" pitchFamily="18" charset="0"/>
              <a:ea typeface="仿宋" panose="02010609060101010101" charset="-122"/>
              <a:cs typeface="Times New Roman" panose="02020603050405020304" pitchFamily="18" charset="0"/>
            </a:endParaRPr>
          </a:p>
          <a:p>
            <a:pPr>
              <a:lnSpc>
                <a:spcPct val="130000"/>
              </a:lnSpc>
            </a:pPr>
            <a:r>
              <a:rPr lang="en-US" altLang="zh-CN" sz="2400" dirty="0" smtClean="0">
                <a:latin typeface="Times New Roman" panose="02020603050405020304" pitchFamily="18" charset="0"/>
                <a:ea typeface="仿宋" panose="02010609060101010101" charset="-122"/>
                <a:cs typeface="Times New Roman" panose="02020603050405020304" pitchFamily="18" charset="0"/>
              </a:rPr>
              <a:t>6</a:t>
            </a:r>
            <a:r>
              <a:rPr lang="zh-CN" altLang="en-US" sz="2400" dirty="0" smtClean="0">
                <a:latin typeface="Times New Roman" panose="02020603050405020304" pitchFamily="18" charset="0"/>
                <a:ea typeface="仿宋" panose="02010609060101010101" charset="-122"/>
                <a:cs typeface="Times New Roman" panose="02020603050405020304" pitchFamily="18" charset="0"/>
              </a:rPr>
              <a:t>、局限与不足</a:t>
            </a:r>
            <a:endParaRPr lang="zh-CN" altLang="en-US" sz="2400" dirty="0" smtClean="0">
              <a:latin typeface="Times New Roman" panose="02020603050405020304" pitchFamily="18" charset="0"/>
              <a:ea typeface="仿宋" panose="02010609060101010101" charset="-122"/>
              <a:cs typeface="Times New Roman" panose="02020603050405020304" pitchFamily="18" charset="0"/>
            </a:endParaRPr>
          </a:p>
          <a:p>
            <a:pPr>
              <a:lnSpc>
                <a:spcPct val="130000"/>
              </a:lnSpc>
            </a:pPr>
            <a:r>
              <a:rPr lang="en-US" altLang="zh-CN" sz="2400" dirty="0" smtClean="0">
                <a:latin typeface="Times New Roman" panose="02020603050405020304" pitchFamily="18" charset="0"/>
                <a:ea typeface="仿宋" panose="02010609060101010101" charset="-122"/>
                <a:cs typeface="Times New Roman" panose="02020603050405020304" pitchFamily="18" charset="0"/>
              </a:rPr>
              <a:t>7</a:t>
            </a:r>
            <a:r>
              <a:rPr lang="zh-CN" altLang="en-US" sz="2400" dirty="0" smtClean="0">
                <a:latin typeface="Times New Roman" panose="02020603050405020304" pitchFamily="18" charset="0"/>
                <a:ea typeface="仿宋" panose="02010609060101010101" charset="-122"/>
                <a:cs typeface="Times New Roman" panose="02020603050405020304" pitchFamily="18" charset="0"/>
              </a:rPr>
              <a:t>、总结</a:t>
            </a:r>
            <a:endParaRPr lang="zh-CN" altLang="en-US" sz="2400" dirty="0" smtClean="0">
              <a:latin typeface="Times New Roman" panose="02020603050405020304" pitchFamily="18" charset="0"/>
              <a:ea typeface="仿宋" panose="02010609060101010101" charset="-122"/>
              <a:cs typeface="Times New Roman" panose="02020603050405020304" pitchFamily="18" charset="0"/>
            </a:endParaRPr>
          </a:p>
        </p:txBody>
      </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01436" y="2026874"/>
            <a:ext cx="2823720" cy="280467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梯形 36"/>
          <p:cNvSpPr/>
          <p:nvPr/>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5" name="梯形 34"/>
          <p:cNvSpPr/>
          <p:nvPr/>
        </p:nvSpPr>
        <p:spPr>
          <a:xfrm rot="16200000">
            <a:off x="7446198" y="-451317"/>
            <a:ext cx="2291737" cy="7199871"/>
          </a:xfrm>
          <a:prstGeom prst="trapezoid">
            <a:avLst>
              <a:gd name="adj" fmla="val 16935"/>
            </a:avLst>
          </a:prstGeom>
          <a:solidFill>
            <a:srgbClr val="6B026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64101" cy="1200329"/>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1</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638798" y="2692405"/>
            <a:ext cx="3230880" cy="829945"/>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引言与背景</a:t>
            </a: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30836" y="1705564"/>
            <a:ext cx="2823720" cy="280467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矩形 95"/>
          <p:cNvSpPr/>
          <p:nvPr/>
        </p:nvSpPr>
        <p:spPr>
          <a:xfrm>
            <a:off x="831215" y="931545"/>
            <a:ext cx="4189095" cy="46037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Use-After-Free (UAF) </a:t>
            </a: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漏洞</a:t>
            </a:r>
            <a:endPar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33" name="矩形 46"/>
          <p:cNvSpPr>
            <a:spLocks noChangeArrowheads="1"/>
          </p:cNvSpPr>
          <p:nvPr/>
        </p:nvSpPr>
        <p:spPr bwMode="auto">
          <a:xfrm>
            <a:off x="634918" y="237124"/>
            <a:ext cx="22745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6B0261"/>
                </a:solidFill>
                <a:effectLst/>
                <a:uLnTx/>
                <a:uFillTx/>
                <a:ea typeface="微软雅黑" panose="020B0503020204020204" pitchFamily="34" charset="-122"/>
                <a:cs typeface="+mn-cs"/>
                <a:sym typeface="Calibri" panose="020F0502020204030204" pitchFamily="34" charset="0"/>
              </a:rPr>
              <a:t>引言与背景</a:t>
            </a:r>
            <a:endPar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 name="矩形 5"/>
          <p:cNvSpPr/>
          <p:nvPr/>
        </p:nvSpPr>
        <p:spPr>
          <a:xfrm>
            <a:off x="1238250" y="4497070"/>
            <a:ext cx="7856855" cy="1287145"/>
          </a:xfrm>
          <a:prstGeom prst="rect">
            <a:avLst/>
          </a:prstGeom>
          <a:solidFill>
            <a:schemeClr val="bg1"/>
          </a:solidFill>
          <a:effectLst>
            <a:outerShdw blurRad="50800" dist="38100" dir="13500000" algn="br" rotWithShape="0">
              <a:prstClr val="black">
                <a:alpha val="40000"/>
              </a:prstClr>
            </a:outerShdw>
          </a:effectLst>
        </p:spPr>
        <p:txBody>
          <a:bodyPr wrap="square">
            <a:noAutofit/>
          </a:bodyPr>
          <a:lstStyle/>
          <a:p>
            <a:pPr marL="0" marR="0" lvl="0" indent="0" algn="l" defTabSz="457200" rtl="0" eaLnBrk="1" fontAlgn="auto" latinLnBrk="0" hangingPunct="1">
              <a:lnSpc>
                <a:spcPts val="2805"/>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Consolas" panose="020B0609020204030204" charset="0"/>
                <a:ea typeface="微软雅黑" panose="020B0503020204020204" pitchFamily="34" charset="-122"/>
                <a:cs typeface="Consolas" panose="020B0609020204030204" charset="0"/>
              </a:rPr>
              <a:t>int* ptr = malloc(sizeof(int));		// </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Consolas" panose="020B0609020204030204" charset="0"/>
                <a:ea typeface="微软雅黑" panose="020B0503020204020204" pitchFamily="34" charset="-122"/>
                <a:cs typeface="Consolas" panose="020B0609020204030204" charset="0"/>
              </a:rPr>
              <a:t>分配对象</a:t>
            </a: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Consolas" panose="020B0609020204030204" charset="0"/>
              <a:ea typeface="微软雅黑" panose="020B0503020204020204" pitchFamily="34" charset="-122"/>
              <a:cs typeface="Consolas" panose="020B0609020204030204" charset="0"/>
            </a:endParaRPr>
          </a:p>
          <a:p>
            <a:pPr marL="0" marR="0" lvl="0" indent="0" algn="l" defTabSz="457200" rtl="0" eaLnBrk="1" fontAlgn="auto" latinLnBrk="0" hangingPunct="1">
              <a:lnSpc>
                <a:spcPts val="2805"/>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Consolas" panose="020B0609020204030204" charset="0"/>
                <a:ea typeface="微软雅黑" panose="020B0503020204020204" pitchFamily="34" charset="-122"/>
                <a:cs typeface="Consolas" panose="020B0609020204030204" charset="0"/>
              </a:rPr>
              <a:t>free(ptr);							// </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Consolas" panose="020B0609020204030204" charset="0"/>
                <a:ea typeface="微软雅黑" panose="020B0503020204020204" pitchFamily="34" charset="-122"/>
                <a:cs typeface="Consolas" panose="020B0609020204030204" charset="0"/>
              </a:rPr>
              <a:t>释放对象</a:t>
            </a: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Consolas" panose="020B0609020204030204" charset="0"/>
              <a:ea typeface="微软雅黑" panose="020B0503020204020204" pitchFamily="34" charset="-122"/>
              <a:cs typeface="Consolas" panose="020B0609020204030204" charset="0"/>
            </a:endParaRPr>
          </a:p>
          <a:p>
            <a:pPr marL="0" marR="0" lvl="0" indent="0" algn="l" defTabSz="457200" rtl="0" eaLnBrk="1" fontAlgn="auto" latinLnBrk="0" hangingPunct="1">
              <a:lnSpc>
                <a:spcPts val="2805"/>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Consolas" panose="020B0609020204030204" charset="0"/>
                <a:ea typeface="微软雅黑" panose="020B0503020204020204" pitchFamily="34" charset="-122"/>
                <a:cs typeface="Consolas" panose="020B0609020204030204" charset="0"/>
              </a:rPr>
              <a:t>int b = *ptr;						// UAF</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Consolas" panose="020B0609020204030204" charset="0"/>
                <a:ea typeface="微软雅黑" panose="020B0503020204020204" pitchFamily="34" charset="-122"/>
                <a:cs typeface="Consolas" panose="020B0609020204030204" charset="0"/>
              </a:rPr>
              <a:t>！解引用悬挂指针</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Consolas" panose="020B0609020204030204" charset="0"/>
              <a:ea typeface="微软雅黑" panose="020B0503020204020204" pitchFamily="34" charset="-122"/>
              <a:cs typeface="Consolas" panose="020B0609020204030204" charset="0"/>
            </a:endParaRPr>
          </a:p>
        </p:txBody>
      </p:sp>
      <p:graphicFrame>
        <p:nvGraphicFramePr>
          <p:cNvPr id="15" name="图示 14"/>
          <p:cNvGraphicFramePr/>
          <p:nvPr/>
        </p:nvGraphicFramePr>
        <p:xfrm>
          <a:off x="882650" y="1631950"/>
          <a:ext cx="8645525" cy="220408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634918" y="237124"/>
            <a:ext cx="22745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b="1" noProof="0" dirty="0">
                <a:ln>
                  <a:noFill/>
                </a:ln>
                <a:solidFill>
                  <a:srgbClr val="6B0261"/>
                </a:solidFill>
                <a:effectLst/>
                <a:uLnTx/>
                <a:uFillTx/>
                <a:sym typeface="Calibri" panose="020F0502020204030204" pitchFamily="34" charset="0"/>
              </a:rPr>
              <a:t>引言与背景</a:t>
            </a:r>
            <a:endPar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7" name="等腰三角形 16"/>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TextBox 18"/>
          <p:cNvSpPr txBox="1"/>
          <p:nvPr>
            <p:custDataLst>
              <p:tags r:id="rId1"/>
            </p:custDataLst>
          </p:nvPr>
        </p:nvSpPr>
        <p:spPr>
          <a:xfrm>
            <a:off x="808355" y="1442720"/>
            <a:ext cx="3286760" cy="1682115"/>
          </a:xfrm>
          <a:prstGeom prst="rect">
            <a:avLst/>
          </a:prstGeom>
          <a:noFill/>
        </p:spPr>
        <p:txBody>
          <a:bodyPr wrap="square" lIns="0" tIns="0" rIns="0" bIns="0" rtlCol="0">
            <a:no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marR="0" lvl="0" indent="457200" algn="l" defTabSz="457200" rtl="0" fontAlgn="auto">
              <a:lnSpc>
                <a:spcPts val="2435"/>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mn-ea"/>
                <a:ea typeface="+mn-ea"/>
                <a:cs typeface="+mn-ea"/>
              </a:rPr>
              <a:t>大多数以</a:t>
            </a:r>
            <a:r>
              <a:rPr kumimoji="0" lang="en-US" altLang="zh-CN" sz="2000" b="0" i="0" u="none" strike="noStrike" kern="1200" cap="none" spc="0" normalizeH="0" baseline="0" noProof="0" dirty="0">
                <a:ln>
                  <a:noFill/>
                </a:ln>
                <a:solidFill>
                  <a:schemeClr val="tx1"/>
                </a:solidFill>
                <a:effectLst/>
                <a:uLnTx/>
                <a:uFillTx/>
                <a:latin typeface="+mn-ea"/>
                <a:ea typeface="+mn-ea"/>
                <a:cs typeface="+mn-ea"/>
              </a:rPr>
              <a:t>UAF</a:t>
            </a:r>
            <a:r>
              <a:rPr kumimoji="0" lang="zh-CN" altLang="en-US" sz="2000" b="0" i="0" u="none" strike="noStrike" kern="1200" cap="none" spc="0" normalizeH="0" baseline="0" noProof="0" dirty="0">
                <a:ln>
                  <a:noFill/>
                </a:ln>
                <a:solidFill>
                  <a:schemeClr val="tx1"/>
                </a:solidFill>
                <a:effectLst/>
                <a:uLnTx/>
                <a:uFillTx/>
                <a:latin typeface="+mn-ea"/>
                <a:ea typeface="+mn-ea"/>
                <a:cs typeface="+mn-ea"/>
              </a:rPr>
              <a:t>检测为重点的系统依赖于编译器插桩来追踪和使已释放对象的指针失效，此类方案会带来不小的性能开销。</a:t>
            </a:r>
            <a:endParaRPr kumimoji="0" lang="zh-CN" altLang="en-US" sz="2000" b="0" i="0" u="none" strike="noStrike" kern="1200" cap="none" spc="0" normalizeH="0" baseline="0" noProof="0" dirty="0">
              <a:ln>
                <a:noFill/>
              </a:ln>
              <a:solidFill>
                <a:schemeClr val="tx1"/>
              </a:solidFill>
              <a:effectLst/>
              <a:uLnTx/>
              <a:uFillTx/>
              <a:latin typeface="+mn-ea"/>
              <a:ea typeface="+mn-ea"/>
              <a:cs typeface="+mn-ea"/>
            </a:endParaRPr>
          </a:p>
        </p:txBody>
      </p:sp>
      <p:sp>
        <p:nvSpPr>
          <p:cNvPr id="20" name="TextBox 19"/>
          <p:cNvSpPr txBox="1"/>
          <p:nvPr>
            <p:custDataLst>
              <p:tags r:id="rId2"/>
            </p:custDataLst>
          </p:nvPr>
        </p:nvSpPr>
        <p:spPr>
          <a:xfrm>
            <a:off x="7477125" y="1189990"/>
            <a:ext cx="3230245" cy="1560830"/>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marR="0" lvl="0" indent="457200" algn="just" defTabSz="457200" rtl="0" fontAlgn="auto">
              <a:lnSpc>
                <a:spcPts val="2435"/>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成本较低的方案依赖于特殊硬件支持等来检测</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UAF</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，这限制了安全保障，并且大多数方案也无法处理未修改的二进制文件。</a:t>
            </a:r>
            <a:endPar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1" name="TextBox 20"/>
          <p:cNvSpPr txBox="1"/>
          <p:nvPr>
            <p:custDataLst>
              <p:tags r:id="rId3"/>
            </p:custDataLst>
          </p:nvPr>
        </p:nvSpPr>
        <p:spPr>
          <a:xfrm>
            <a:off x="808355" y="4856480"/>
            <a:ext cx="3202940" cy="936625"/>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marR="0" lvl="0" indent="457200" algn="just" defTabSz="457200" rtl="0" fontAlgn="auto">
              <a:lnSpc>
                <a:spcPts val="2435"/>
              </a:lnSpc>
              <a:spcBef>
                <a:spcPts val="0"/>
              </a:spcBef>
              <a:spcAft>
                <a:spcPts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最先进的方案仍因虚拟内存地址空间耗尽而面临不切实际的扩展性问题。</a:t>
            </a:r>
            <a:endPar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2" name="TextBox 21"/>
          <p:cNvSpPr txBox="1"/>
          <p:nvPr>
            <p:custDataLst>
              <p:tags r:id="rId4"/>
            </p:custDataLst>
          </p:nvPr>
        </p:nvSpPr>
        <p:spPr>
          <a:xfrm>
            <a:off x="7606665" y="4080510"/>
            <a:ext cx="3232150" cy="1873250"/>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marR="0" lvl="0" indent="457200" algn="just" defTabSz="457200" rtl="0" fontAlgn="auto">
              <a:lnSpc>
                <a:spcPts val="2435"/>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另一种是二进制兼容的</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UAF</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检测系统，但是这些基于别名的方案依赖内核进行页面保护和别名处理，由于额外的系统调用和内核管理成本，开销较大。</a:t>
            </a:r>
            <a:endPar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nvGrpSpPr>
          <p:cNvPr id="23" name="组合 22"/>
          <p:cNvGrpSpPr/>
          <p:nvPr>
            <p:custDataLst>
              <p:tags r:id="rId5"/>
            </p:custDataLst>
          </p:nvPr>
        </p:nvGrpSpPr>
        <p:grpSpPr>
          <a:xfrm>
            <a:off x="4052783" y="2105201"/>
            <a:ext cx="3323167" cy="3335868"/>
            <a:chOff x="3325813" y="1973262"/>
            <a:chExt cx="2492375" cy="2501901"/>
          </a:xfrm>
        </p:grpSpPr>
        <p:sp>
          <p:nvSpPr>
            <p:cNvPr id="24" name="Freeform 5"/>
            <p:cNvSpPr/>
            <p:nvPr>
              <p:custDataLst>
                <p:tags r:id="rId6"/>
              </p:custDataLst>
            </p:nvPr>
          </p:nvSpPr>
          <p:spPr bwMode="auto">
            <a:xfrm>
              <a:off x="3325813" y="3276600"/>
              <a:ext cx="1193800" cy="1198563"/>
            </a:xfrm>
            <a:custGeom>
              <a:avLst/>
              <a:gdLst>
                <a:gd name="T0" fmla="*/ 1809 w 4497"/>
                <a:gd name="T1" fmla="*/ 3511 h 4497"/>
                <a:gd name="T2" fmla="*/ 986 w 4497"/>
                <a:gd name="T3" fmla="*/ 3511 h 4497"/>
                <a:gd name="T4" fmla="*/ 986 w 4497"/>
                <a:gd name="T5" fmla="*/ 2687 h 4497"/>
                <a:gd name="T6" fmla="*/ 0 w 4497"/>
                <a:gd name="T7" fmla="*/ 0 h 4497"/>
                <a:gd name="T8" fmla="*/ 1873 w 4497"/>
                <a:gd name="T9" fmla="*/ 0 h 4497"/>
                <a:gd name="T10" fmla="*/ 2721 w 4497"/>
                <a:gd name="T11" fmla="*/ 1776 h 4497"/>
                <a:gd name="T12" fmla="*/ 4497 w 4497"/>
                <a:gd name="T13" fmla="*/ 2624 h 4497"/>
                <a:gd name="T14" fmla="*/ 4497 w 4497"/>
                <a:gd name="T15" fmla="*/ 4497 h 4497"/>
                <a:gd name="T16" fmla="*/ 1809 w 4497"/>
                <a:gd name="T17" fmla="*/ 3511 h 4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97" h="4497">
                  <a:moveTo>
                    <a:pt x="1809" y="3511"/>
                  </a:moveTo>
                  <a:lnTo>
                    <a:pt x="986" y="3511"/>
                  </a:lnTo>
                  <a:lnTo>
                    <a:pt x="986" y="2687"/>
                  </a:lnTo>
                  <a:cubicBezTo>
                    <a:pt x="369" y="1896"/>
                    <a:pt x="40" y="953"/>
                    <a:pt x="0" y="0"/>
                  </a:cubicBezTo>
                  <a:lnTo>
                    <a:pt x="1873" y="0"/>
                  </a:lnTo>
                  <a:cubicBezTo>
                    <a:pt x="1938" y="644"/>
                    <a:pt x="2222" y="1276"/>
                    <a:pt x="2721" y="1776"/>
                  </a:cubicBezTo>
                  <a:cubicBezTo>
                    <a:pt x="3221" y="2275"/>
                    <a:pt x="3853" y="2558"/>
                    <a:pt x="4497" y="2624"/>
                  </a:cubicBezTo>
                  <a:lnTo>
                    <a:pt x="4497" y="4497"/>
                  </a:lnTo>
                  <a:cubicBezTo>
                    <a:pt x="3544" y="4457"/>
                    <a:pt x="2601" y="4128"/>
                    <a:pt x="1809" y="3511"/>
                  </a:cubicBezTo>
                  <a:close/>
                </a:path>
              </a:pathLst>
            </a:custGeom>
            <a:solidFill>
              <a:srgbClr val="6B0261"/>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sp>
          <p:nvSpPr>
            <p:cNvPr id="25" name="Freeform 6"/>
            <p:cNvSpPr/>
            <p:nvPr>
              <p:custDataLst>
                <p:tags r:id="rId7"/>
              </p:custDataLst>
            </p:nvPr>
          </p:nvSpPr>
          <p:spPr bwMode="auto">
            <a:xfrm>
              <a:off x="3325813" y="1973262"/>
              <a:ext cx="1193800" cy="1196975"/>
            </a:xfrm>
            <a:custGeom>
              <a:avLst/>
              <a:gdLst>
                <a:gd name="T0" fmla="*/ 986 w 4497"/>
                <a:gd name="T1" fmla="*/ 1809 h 4497"/>
                <a:gd name="T2" fmla="*/ 986 w 4497"/>
                <a:gd name="T3" fmla="*/ 986 h 4497"/>
                <a:gd name="T4" fmla="*/ 1809 w 4497"/>
                <a:gd name="T5" fmla="*/ 986 h 4497"/>
                <a:gd name="T6" fmla="*/ 4497 w 4497"/>
                <a:gd name="T7" fmla="*/ 0 h 4497"/>
                <a:gd name="T8" fmla="*/ 4497 w 4497"/>
                <a:gd name="T9" fmla="*/ 1861 h 4497"/>
                <a:gd name="T10" fmla="*/ 2659 w 4497"/>
                <a:gd name="T11" fmla="*/ 2659 h 4497"/>
                <a:gd name="T12" fmla="*/ 1861 w 4497"/>
                <a:gd name="T13" fmla="*/ 4497 h 4497"/>
                <a:gd name="T14" fmla="*/ 0 w 4497"/>
                <a:gd name="T15" fmla="*/ 4497 h 4497"/>
                <a:gd name="T16" fmla="*/ 986 w 4497"/>
                <a:gd name="T17" fmla="*/ 1809 h 4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97" h="4497">
                  <a:moveTo>
                    <a:pt x="986" y="1809"/>
                  </a:moveTo>
                  <a:lnTo>
                    <a:pt x="986" y="986"/>
                  </a:lnTo>
                  <a:lnTo>
                    <a:pt x="1809" y="986"/>
                  </a:lnTo>
                  <a:cubicBezTo>
                    <a:pt x="2601" y="369"/>
                    <a:pt x="3544" y="40"/>
                    <a:pt x="4497" y="0"/>
                  </a:cubicBezTo>
                  <a:lnTo>
                    <a:pt x="4497" y="1861"/>
                  </a:lnTo>
                  <a:cubicBezTo>
                    <a:pt x="3824" y="1887"/>
                    <a:pt x="3165" y="2152"/>
                    <a:pt x="2659" y="2659"/>
                  </a:cubicBezTo>
                  <a:cubicBezTo>
                    <a:pt x="2152" y="3165"/>
                    <a:pt x="1887" y="3824"/>
                    <a:pt x="1861" y="4497"/>
                  </a:cubicBezTo>
                  <a:lnTo>
                    <a:pt x="0" y="4497"/>
                  </a:lnTo>
                  <a:cubicBezTo>
                    <a:pt x="40" y="3544"/>
                    <a:pt x="369" y="2601"/>
                    <a:pt x="986" y="1809"/>
                  </a:cubicBezTo>
                  <a:close/>
                </a:path>
              </a:pathLst>
            </a:custGeom>
            <a:solidFill>
              <a:schemeClr val="accent2"/>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6" name="Freeform 7"/>
            <p:cNvSpPr/>
            <p:nvPr>
              <p:custDataLst>
                <p:tags r:id="rId8"/>
              </p:custDataLst>
            </p:nvPr>
          </p:nvSpPr>
          <p:spPr bwMode="auto">
            <a:xfrm>
              <a:off x="4624388" y="3276600"/>
              <a:ext cx="1193800" cy="1198563"/>
            </a:xfrm>
            <a:custGeom>
              <a:avLst/>
              <a:gdLst>
                <a:gd name="T0" fmla="*/ 3511 w 4497"/>
                <a:gd name="T1" fmla="*/ 3511 h 4497"/>
                <a:gd name="T2" fmla="*/ 2687 w 4497"/>
                <a:gd name="T3" fmla="*/ 3511 h 4497"/>
                <a:gd name="T4" fmla="*/ 0 w 4497"/>
                <a:gd name="T5" fmla="*/ 4497 h 4497"/>
                <a:gd name="T6" fmla="*/ 0 w 4497"/>
                <a:gd name="T7" fmla="*/ 2636 h 4497"/>
                <a:gd name="T8" fmla="*/ 1838 w 4497"/>
                <a:gd name="T9" fmla="*/ 1838 h 4497"/>
                <a:gd name="T10" fmla="*/ 2636 w 4497"/>
                <a:gd name="T11" fmla="*/ 0 h 4497"/>
                <a:gd name="T12" fmla="*/ 4497 w 4497"/>
                <a:gd name="T13" fmla="*/ 0 h 4497"/>
                <a:gd name="T14" fmla="*/ 3511 w 4497"/>
                <a:gd name="T15" fmla="*/ 2687 h 4497"/>
                <a:gd name="T16" fmla="*/ 3511 w 4497"/>
                <a:gd name="T17" fmla="*/ 3511 h 4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97" h="4497">
                  <a:moveTo>
                    <a:pt x="3511" y="3511"/>
                  </a:moveTo>
                  <a:lnTo>
                    <a:pt x="2687" y="3511"/>
                  </a:lnTo>
                  <a:cubicBezTo>
                    <a:pt x="1896" y="4128"/>
                    <a:pt x="953" y="4457"/>
                    <a:pt x="0" y="4497"/>
                  </a:cubicBezTo>
                  <a:lnTo>
                    <a:pt x="0" y="2636"/>
                  </a:lnTo>
                  <a:cubicBezTo>
                    <a:pt x="673" y="2610"/>
                    <a:pt x="1332" y="2345"/>
                    <a:pt x="1838" y="1838"/>
                  </a:cubicBezTo>
                  <a:cubicBezTo>
                    <a:pt x="2345" y="1332"/>
                    <a:pt x="2610" y="673"/>
                    <a:pt x="2636" y="0"/>
                  </a:cubicBezTo>
                  <a:lnTo>
                    <a:pt x="4497" y="0"/>
                  </a:lnTo>
                  <a:cubicBezTo>
                    <a:pt x="4457" y="953"/>
                    <a:pt x="4128" y="1896"/>
                    <a:pt x="3511" y="2687"/>
                  </a:cubicBezTo>
                  <a:lnTo>
                    <a:pt x="3511" y="3511"/>
                  </a:lnTo>
                  <a:close/>
                </a:path>
              </a:pathLst>
            </a:custGeom>
            <a:solidFill>
              <a:schemeClr val="accent2"/>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7" name="Freeform 8"/>
            <p:cNvSpPr/>
            <p:nvPr>
              <p:custDataLst>
                <p:tags r:id="rId9"/>
              </p:custDataLst>
            </p:nvPr>
          </p:nvSpPr>
          <p:spPr bwMode="auto">
            <a:xfrm>
              <a:off x="4624388" y="1973262"/>
              <a:ext cx="1193800" cy="1196975"/>
            </a:xfrm>
            <a:custGeom>
              <a:avLst/>
              <a:gdLst>
                <a:gd name="T0" fmla="*/ 3511 w 4497"/>
                <a:gd name="T1" fmla="*/ 1809 h 4497"/>
                <a:gd name="T2" fmla="*/ 4497 w 4497"/>
                <a:gd name="T3" fmla="*/ 4497 h 4497"/>
                <a:gd name="T4" fmla="*/ 2624 w 4497"/>
                <a:gd name="T5" fmla="*/ 4497 h 4497"/>
                <a:gd name="T6" fmla="*/ 1776 w 4497"/>
                <a:gd name="T7" fmla="*/ 2721 h 4497"/>
                <a:gd name="T8" fmla="*/ 0 w 4497"/>
                <a:gd name="T9" fmla="*/ 1873 h 4497"/>
                <a:gd name="T10" fmla="*/ 0 w 4497"/>
                <a:gd name="T11" fmla="*/ 0 h 4497"/>
                <a:gd name="T12" fmla="*/ 2687 w 4497"/>
                <a:gd name="T13" fmla="*/ 986 h 4497"/>
                <a:gd name="T14" fmla="*/ 3511 w 4497"/>
                <a:gd name="T15" fmla="*/ 986 h 4497"/>
                <a:gd name="T16" fmla="*/ 3511 w 4497"/>
                <a:gd name="T17" fmla="*/ 1809 h 4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97" h="4497">
                  <a:moveTo>
                    <a:pt x="3511" y="1809"/>
                  </a:moveTo>
                  <a:cubicBezTo>
                    <a:pt x="4128" y="2601"/>
                    <a:pt x="4457" y="3544"/>
                    <a:pt x="4497" y="4497"/>
                  </a:cubicBezTo>
                  <a:lnTo>
                    <a:pt x="2624" y="4497"/>
                  </a:lnTo>
                  <a:cubicBezTo>
                    <a:pt x="2558" y="3853"/>
                    <a:pt x="2275" y="3221"/>
                    <a:pt x="1776" y="2721"/>
                  </a:cubicBezTo>
                  <a:cubicBezTo>
                    <a:pt x="1276" y="2222"/>
                    <a:pt x="644" y="1938"/>
                    <a:pt x="0" y="1873"/>
                  </a:cubicBezTo>
                  <a:lnTo>
                    <a:pt x="0" y="0"/>
                  </a:lnTo>
                  <a:cubicBezTo>
                    <a:pt x="953" y="40"/>
                    <a:pt x="1896" y="369"/>
                    <a:pt x="2687" y="986"/>
                  </a:cubicBezTo>
                  <a:lnTo>
                    <a:pt x="3511" y="986"/>
                  </a:lnTo>
                  <a:lnTo>
                    <a:pt x="3511" y="1809"/>
                  </a:lnTo>
                  <a:close/>
                </a:path>
              </a:pathLst>
            </a:custGeom>
            <a:solidFill>
              <a:srgbClr val="6B0261"/>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sp>
          <p:nvSpPr>
            <p:cNvPr id="51" name="TextBox 50"/>
            <p:cNvSpPr txBox="1"/>
            <p:nvPr>
              <p:custDataLst>
                <p:tags r:id="rId10"/>
              </p:custDataLst>
            </p:nvPr>
          </p:nvSpPr>
          <p:spPr>
            <a:xfrm>
              <a:off x="3786883" y="2348629"/>
              <a:ext cx="144016" cy="338614"/>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93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a:t>
              </a:r>
              <a:endParaRPr kumimoji="0" lang="zh-CN" altLang="en-US" sz="293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7" name="TextBox 36"/>
            <p:cNvSpPr txBox="1"/>
            <p:nvPr>
              <p:custDataLst>
                <p:tags r:id="rId11"/>
              </p:custDataLst>
            </p:nvPr>
          </p:nvSpPr>
          <p:spPr>
            <a:xfrm>
              <a:off x="5251579" y="2348629"/>
              <a:ext cx="144016" cy="338614"/>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93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a:t>
              </a:r>
              <a:endParaRPr kumimoji="0" lang="zh-CN" altLang="en-US" sz="293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5" name="TextBox 34"/>
            <p:cNvSpPr txBox="1"/>
            <p:nvPr>
              <p:custDataLst>
                <p:tags r:id="rId12"/>
              </p:custDataLst>
            </p:nvPr>
          </p:nvSpPr>
          <p:spPr>
            <a:xfrm>
              <a:off x="3786883" y="3767794"/>
              <a:ext cx="144016" cy="338614"/>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93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4</a:t>
              </a:r>
              <a:endParaRPr kumimoji="0" lang="zh-CN" altLang="en-US" sz="293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3" name="TextBox 32"/>
            <p:cNvSpPr txBox="1"/>
            <p:nvPr>
              <p:custDataLst>
                <p:tags r:id="rId13"/>
              </p:custDataLst>
            </p:nvPr>
          </p:nvSpPr>
          <p:spPr>
            <a:xfrm>
              <a:off x="5251579" y="3767794"/>
              <a:ext cx="144016" cy="338614"/>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93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3</a:t>
              </a:r>
              <a:endParaRPr kumimoji="0" lang="zh-CN" altLang="en-US" sz="293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 name="矩形 1"/>
          <p:cNvSpPr>
            <a:spLocks noChangeArrowheads="1"/>
          </p:cNvSpPr>
          <p:nvPr/>
        </p:nvSpPr>
        <p:spPr bwMode="auto">
          <a:xfrm>
            <a:off x="4752258" y="3176539"/>
            <a:ext cx="1868170"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b="1" noProof="0" dirty="0">
                <a:ln>
                  <a:noFill/>
                </a:ln>
                <a:solidFill>
                  <a:srgbClr val="6B0261"/>
                </a:solidFill>
                <a:effectLst/>
                <a:uLnTx/>
                <a:uFillTx/>
                <a:latin typeface="Arial" panose="020B0604020202020204" pitchFamily="34" charset="0"/>
                <a:sym typeface="Calibri" panose="020F0502020204030204" pitchFamily="34" charset="0"/>
              </a:rPr>
              <a:t>已有技术</a:t>
            </a:r>
            <a:endParaRPr lang="zh-CN" altLang="en-US" b="1" noProof="0" dirty="0">
              <a:ln>
                <a:noFill/>
              </a:ln>
              <a:solidFill>
                <a:srgbClr val="6B0261"/>
              </a:solidFill>
              <a:effectLst/>
              <a:uLnTx/>
              <a:uFillTx/>
              <a:latin typeface="Arial" panose="020B0604020202020204" pitchFamily="34" charset="0"/>
              <a:sym typeface="Calibri" panose="020F0502020204030204" pitchFamily="34" charset="0"/>
            </a:endParaRPr>
          </a:p>
          <a:p>
            <a:pPr marL="0" marR="0" lvl="0" indent="0" algn="ctr"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b="1" noProof="0" dirty="0">
                <a:ln>
                  <a:noFill/>
                </a:ln>
                <a:solidFill>
                  <a:srgbClr val="6B0261"/>
                </a:solidFill>
                <a:effectLst/>
                <a:uLnTx/>
                <a:uFillTx/>
                <a:latin typeface="Arial" panose="020B0604020202020204" pitchFamily="34" charset="0"/>
                <a:sym typeface="Calibri" panose="020F0502020204030204" pitchFamily="34" charset="0"/>
              </a:rPr>
              <a:t>与局限</a:t>
            </a:r>
            <a:endPar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7"/>
          <p:cNvSpPr txBox="1"/>
          <p:nvPr>
            <p:custDataLst>
              <p:tags r:id="rId1"/>
            </p:custDataLst>
          </p:nvPr>
        </p:nvSpPr>
        <p:spPr>
          <a:xfrm>
            <a:off x="1022350" y="1347470"/>
            <a:ext cx="10079355" cy="2091690"/>
          </a:xfrm>
          <a:prstGeom prst="rect">
            <a:avLst/>
          </a:prstGeom>
          <a:solidFill>
            <a:schemeClr val="bg1">
              <a:lumMod val="95000"/>
            </a:schemeClr>
          </a:solidFill>
          <a:ln w="12700">
            <a:solidFill>
              <a:srgbClr val="6B0261"/>
            </a:solidFill>
          </a:ln>
        </p:spPr>
        <p:txBody>
          <a:bodyPr wrap="square" lIns="91440" tIns="45720" rIns="91440" bIns="45720" rtlCol="0">
            <a:spAutoFit/>
          </a:bodyPr>
          <a:lstStyle/>
          <a:p>
            <a:pPr marL="0" marR="0" lvl="0" indent="720090" algn="l" defTabSz="4572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本文主要介绍了一种高效、可扩展且与二进制兼容的</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UAF</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检测系统</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DangZero</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。其依赖</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ring0</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中的直接页表访问，以更高效的方式实现传统的基于别名的方案。</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DangZero</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依赖虚拟化扩展和特权后端提供对页表的直接访问。这一策略使我们能够在</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ring 0</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客户机模式下透明地运行并隔离任意用户空间程序，同时安全地为它们提供对自身页表的直接访问。</a:t>
            </a:r>
            <a:endPar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矩形 6"/>
          <p:cNvSpPr/>
          <p:nvPr>
            <p:custDataLst>
              <p:tags r:id="rId2"/>
            </p:custDataLst>
          </p:nvPr>
        </p:nvSpPr>
        <p:spPr bwMode="auto">
          <a:xfrm>
            <a:off x="668573" y="913476"/>
            <a:ext cx="1929741" cy="424633"/>
          </a:xfrm>
          <a:prstGeom prst="rect">
            <a:avLst/>
          </a:prstGeom>
          <a:solidFill>
            <a:srgbClr val="6B0261"/>
          </a:solidFill>
          <a:ln>
            <a:no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核心思想</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文本框 15"/>
          <p:cNvSpPr txBox="1"/>
          <p:nvPr>
            <p:custDataLst>
              <p:tags r:id="rId3"/>
            </p:custDataLst>
          </p:nvPr>
        </p:nvSpPr>
        <p:spPr>
          <a:xfrm>
            <a:off x="1022350" y="4058920"/>
            <a:ext cx="10079355" cy="2462530"/>
          </a:xfrm>
          <a:prstGeom prst="rect">
            <a:avLst/>
          </a:prstGeom>
          <a:solidFill>
            <a:schemeClr val="bg1">
              <a:lumMod val="95000"/>
            </a:schemeClr>
          </a:solidFill>
          <a:ln w="12700">
            <a:solidFill>
              <a:srgbClr val="6B0261"/>
            </a:solidFill>
          </a:ln>
        </p:spPr>
        <p:txBody>
          <a:bodyPr wrap="square" lIns="91440" tIns="45720" rIns="91440" bIns="45720" rtlCol="0">
            <a:noAutofit/>
          </a:bodyPr>
          <a:lstStyle/>
          <a:p>
            <a:pPr marL="0" marR="0" lvl="0" indent="720090" algn="l" defTabSz="4572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针对两个方面使基于别名的</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UAF</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检测系统变得切实可行：</a:t>
            </a:r>
            <a:endPar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indent="720090" algn="l" defTabSz="4572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首先，通过授予程序的内存分配器对页表的访问权限，使其通过直接更新页表映射高效管理别名，从而省去操作系统的介入以及相关的系统调用和内核管理开销。</a:t>
            </a:r>
            <a:endPar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indent="720090" algn="l" defTabSz="4572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其次，设计了一种高效的别名回收系统并解决了先前基于别名方案中虚拟内存地址空间耗尽的问题。在确认不存在悬空指针后，安全地重用虚拟地址，设计上类似于之前的</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GC</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（垃圾回收）风格方案。</a:t>
            </a:r>
            <a:endPar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custDataLst>
              <p:tags r:id="rId4"/>
            </p:custDataLst>
          </p:nvPr>
        </p:nvSpPr>
        <p:spPr bwMode="auto">
          <a:xfrm>
            <a:off x="668573" y="3634547"/>
            <a:ext cx="1929741" cy="424633"/>
          </a:xfrm>
          <a:prstGeom prst="rect">
            <a:avLst/>
          </a:prstGeom>
          <a:solidFill>
            <a:srgbClr val="6B0261"/>
          </a:solidFill>
          <a:ln>
            <a:no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方法</a:t>
            </a: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改进</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矩形 13"/>
          <p:cNvSpPr>
            <a:spLocks noChangeArrowheads="1"/>
          </p:cNvSpPr>
          <p:nvPr/>
        </p:nvSpPr>
        <p:spPr bwMode="auto">
          <a:xfrm>
            <a:off x="634918" y="237124"/>
            <a:ext cx="22745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b="1" noProof="0" dirty="0">
                <a:ln>
                  <a:noFill/>
                </a:ln>
                <a:solidFill>
                  <a:srgbClr val="6B0261"/>
                </a:solidFill>
                <a:effectLst/>
                <a:uLnTx/>
                <a:uFillTx/>
                <a:sym typeface="Calibri" panose="020F0502020204030204" pitchFamily="34" charset="0"/>
              </a:rPr>
              <a:t>引言与背景</a:t>
            </a:r>
            <a:endParaRPr lang="zh-CN" altLang="en-US" b="1" noProof="0" dirty="0">
              <a:ln>
                <a:noFill/>
              </a:ln>
              <a:solidFill>
                <a:srgbClr val="6B0261"/>
              </a:solidFill>
              <a:effectLst/>
              <a:uLnTx/>
              <a:uFillTx/>
              <a:latin typeface="Arial" panose="020B0604020202020204" pitchFamily="34" charset="0"/>
              <a:sym typeface="Calibri" panose="020F0502020204030204" pitchFamily="34" charset="0"/>
            </a:endParaRPr>
          </a:p>
        </p:txBody>
      </p:sp>
      <p:sp>
        <p:nvSpPr>
          <p:cNvPr id="15" name="等腰三角形 14"/>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矩形 95"/>
          <p:cNvSpPr/>
          <p:nvPr/>
        </p:nvSpPr>
        <p:spPr>
          <a:xfrm>
            <a:off x="831215" y="931545"/>
            <a:ext cx="4189095" cy="46037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sz="2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页表（</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Page Table</a:t>
            </a:r>
            <a:r>
              <a:rPr kumimoji="0" lang="zh-CN" sz="2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endParaRPr kumimoji="0" lang="zh-CN" sz="2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33" name="矩形 46"/>
          <p:cNvSpPr>
            <a:spLocks noChangeArrowheads="1"/>
          </p:cNvSpPr>
          <p:nvPr/>
        </p:nvSpPr>
        <p:spPr bwMode="auto">
          <a:xfrm>
            <a:off x="634918" y="237124"/>
            <a:ext cx="22745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b="1" noProof="0" dirty="0">
                <a:ln>
                  <a:noFill/>
                </a:ln>
                <a:solidFill>
                  <a:srgbClr val="6B0261"/>
                </a:solidFill>
                <a:effectLst/>
                <a:uLnTx/>
                <a:uFillTx/>
                <a:sym typeface="Calibri" panose="020F0502020204030204" pitchFamily="34" charset="0"/>
              </a:rPr>
              <a:t>引言与</a:t>
            </a:r>
            <a:r>
              <a:rPr kumimoji="0" lang="zh-CN" altLang="en-US" sz="3200" b="1" i="0" u="none" strike="noStrike" kern="1200" cap="none" spc="0" normalizeH="0" baseline="0" noProof="0" dirty="0">
                <a:ln>
                  <a:noFill/>
                </a:ln>
                <a:solidFill>
                  <a:srgbClr val="6B0261"/>
                </a:solidFill>
                <a:effectLst/>
                <a:uLnTx/>
                <a:uFillTx/>
                <a:ea typeface="微软雅黑" panose="020B0503020204020204" pitchFamily="34" charset="-122"/>
                <a:cs typeface="+mn-cs"/>
                <a:sym typeface="Calibri" panose="020F0502020204030204" pitchFamily="34" charset="0"/>
              </a:rPr>
              <a:t>背景</a:t>
            </a:r>
            <a:endPar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aphicFrame>
        <p:nvGraphicFramePr>
          <p:cNvPr id="15" name="图示 14"/>
          <p:cNvGraphicFramePr/>
          <p:nvPr/>
        </p:nvGraphicFramePr>
        <p:xfrm>
          <a:off x="882650" y="1872615"/>
          <a:ext cx="9239250" cy="32943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矩形 95"/>
          <p:cNvSpPr/>
          <p:nvPr/>
        </p:nvSpPr>
        <p:spPr>
          <a:xfrm>
            <a:off x="831215" y="931545"/>
            <a:ext cx="7781290" cy="46037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特权访问技术</a:t>
            </a:r>
            <a:r>
              <a:rPr kumimoji="0" lang="zh-CN" sz="2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Access to privileged CPU features</a:t>
            </a:r>
            <a:r>
              <a:rPr kumimoji="0" lang="zh-CN" sz="2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endParaRPr kumimoji="0" lang="zh-CN" sz="2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33" name="矩形 46"/>
          <p:cNvSpPr>
            <a:spLocks noChangeArrowheads="1"/>
          </p:cNvSpPr>
          <p:nvPr/>
        </p:nvSpPr>
        <p:spPr bwMode="auto">
          <a:xfrm>
            <a:off x="634918" y="237124"/>
            <a:ext cx="22745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b="1" noProof="0" dirty="0">
                <a:ln>
                  <a:noFill/>
                </a:ln>
                <a:solidFill>
                  <a:srgbClr val="6B0261"/>
                </a:solidFill>
                <a:effectLst/>
                <a:uLnTx/>
                <a:uFillTx/>
                <a:sym typeface="Calibri" panose="020F0502020204030204" pitchFamily="34" charset="0"/>
              </a:rPr>
              <a:t>引言与</a:t>
            </a:r>
            <a:r>
              <a:rPr kumimoji="0" lang="zh-CN" altLang="en-US" sz="3200" b="1" i="0" u="none" strike="noStrike" kern="1200" cap="none" spc="0" normalizeH="0" baseline="0" noProof="0" dirty="0">
                <a:ln>
                  <a:noFill/>
                </a:ln>
                <a:solidFill>
                  <a:srgbClr val="6B0261"/>
                </a:solidFill>
                <a:effectLst/>
                <a:uLnTx/>
                <a:uFillTx/>
                <a:ea typeface="微软雅黑" panose="020B0503020204020204" pitchFamily="34" charset="-122"/>
                <a:cs typeface="+mn-cs"/>
                <a:sym typeface="Calibri" panose="020F0502020204030204" pitchFamily="34" charset="0"/>
              </a:rPr>
              <a:t>背景</a:t>
            </a:r>
            <a:endPar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7" name="箭头3"/>
          <p:cNvSpPr/>
          <p:nvPr/>
        </p:nvSpPr>
        <p:spPr bwMode="gray">
          <a:xfrm flipV="1">
            <a:off x="1590675" y="3852545"/>
            <a:ext cx="1544320" cy="1279525"/>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65000"/>
            </a:schemeClr>
          </a:solidFill>
          <a:ln>
            <a:noFill/>
          </a:ln>
          <a:effectLst/>
        </p:spPr>
        <p:txBody>
          <a:bodyPr wrap="none" lIns="82824" tIns="41411" rIns="82824" bIns="4141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9" name="箭头1"/>
          <p:cNvSpPr/>
          <p:nvPr/>
        </p:nvSpPr>
        <p:spPr bwMode="gray">
          <a:xfrm>
            <a:off x="1590040" y="2660650"/>
            <a:ext cx="1537970" cy="1292225"/>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65000"/>
            </a:schemeClr>
          </a:solidFill>
          <a:ln>
            <a:noFill/>
          </a:ln>
          <a:effectLst/>
        </p:spPr>
        <p:txBody>
          <a:bodyPr wrap="none" lIns="82824" tIns="41411" rIns="82824" bIns="4141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20" name="文本1"/>
          <p:cNvSpPr>
            <a:spLocks noChangeArrowheads="1"/>
          </p:cNvSpPr>
          <p:nvPr>
            <p:custDataLst>
              <p:tags r:id="rId1"/>
            </p:custDataLst>
          </p:nvPr>
        </p:nvSpPr>
        <p:spPr bwMode="gray">
          <a:xfrm>
            <a:off x="4819317" y="2180766"/>
            <a:ext cx="5912124" cy="1195991"/>
          </a:xfrm>
          <a:prstGeom prst="roundRect">
            <a:avLst>
              <a:gd name="adj" fmla="val 11505"/>
            </a:avLst>
          </a:prstGeom>
          <a:noFill/>
          <a:ln w="15875" cap="flat" cmpd="sng" algn="ctr">
            <a:solidFill>
              <a:srgbClr val="6B0261"/>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base" latinLnBrk="0" hangingPunct="1">
              <a:lnSpc>
                <a:spcPct val="120000"/>
              </a:lnSpc>
              <a:spcBef>
                <a:spcPct val="0"/>
              </a:spcBef>
              <a:spcAft>
                <a:spcPct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将应用在</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Ring 0</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上的一种特殊的</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虚拟进程</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(virtual process)”</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中运行，使得应用可以访问注入</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EPT</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（主机扩展页表）的所有特殊权限。</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1" name="标题1"/>
          <p:cNvSpPr>
            <a:spLocks noChangeArrowheads="1"/>
          </p:cNvSpPr>
          <p:nvPr>
            <p:custDataLst>
              <p:tags r:id="rId2"/>
            </p:custDataLst>
          </p:nvPr>
        </p:nvSpPr>
        <p:spPr bwMode="gray">
          <a:xfrm>
            <a:off x="3134995" y="2191385"/>
            <a:ext cx="1677035" cy="1202055"/>
          </a:xfrm>
          <a:prstGeom prst="roundRect">
            <a:avLst>
              <a:gd name="adj" fmla="val 11921"/>
            </a:avLst>
          </a:prstGeom>
          <a:solidFill>
            <a:srgbClr val="6B0261"/>
          </a:solidFill>
          <a:ln w="25400" cap="flat" cmpd="sng" algn="ctr">
            <a:no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200" rtl="0" eaLnBrk="1" fontAlgn="base" latinLnBrk="0" hangingPunct="1">
              <a:lnSpc>
                <a:spcPct val="120000"/>
              </a:lnSpc>
              <a:spcBef>
                <a:spcPct val="0"/>
              </a:spcBef>
              <a:spcAft>
                <a:spcPct val="0"/>
              </a:spcAft>
              <a:buClrTx/>
              <a:buSzTx/>
              <a:buFontTx/>
              <a:buNone/>
              <a:defRPr/>
            </a:pPr>
            <a:r>
              <a:rPr kumimoji="0" lang="en-US" altLang="zh-CN" sz="1865" b="1" i="0" u="none" strike="noStrike" kern="120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rPr>
              <a:t>Dune</a:t>
            </a:r>
            <a:r>
              <a:rPr kumimoji="0" lang="zh-CN" altLang="en-US" sz="1865" b="1" i="0" u="none" strike="noStrike" kern="120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rPr>
              <a:t>项目</a:t>
            </a:r>
            <a:endParaRPr kumimoji="0" lang="zh-CN" altLang="en-US" sz="1865" b="1" i="0" u="none" strike="noStrike" kern="120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endParaRPr>
          </a:p>
        </p:txBody>
      </p:sp>
      <p:sp>
        <p:nvSpPr>
          <p:cNvPr id="24" name="文本3"/>
          <p:cNvSpPr>
            <a:spLocks noChangeArrowheads="1"/>
          </p:cNvSpPr>
          <p:nvPr>
            <p:custDataLst>
              <p:tags r:id="rId3"/>
            </p:custDataLst>
          </p:nvPr>
        </p:nvSpPr>
        <p:spPr bwMode="ltGray">
          <a:xfrm>
            <a:off x="4811697" y="4376080"/>
            <a:ext cx="5912124" cy="1181401"/>
          </a:xfrm>
          <a:prstGeom prst="roundRect">
            <a:avLst>
              <a:gd name="adj" fmla="val 11505"/>
            </a:avLst>
          </a:prstGeom>
          <a:noFill/>
          <a:ln w="15875" cap="flat" cmpd="sng" algn="ctr">
            <a:solidFill>
              <a:srgbClr val="6B0261"/>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base" latinLnBrk="0" hangingPunct="1">
              <a:lnSpc>
                <a:spcPct val="120000"/>
              </a:lnSpc>
              <a:spcBef>
                <a:spcPct val="0"/>
              </a:spcBef>
              <a:spcAft>
                <a:spcPct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与</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Dune </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有类似的功效，但与</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Dune </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不同的是，其不需要为每个系统维护一个开销大的虚拟机，有一个独立的虚拟环境即可。</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5" name="标题3"/>
          <p:cNvSpPr>
            <a:spLocks noChangeArrowheads="1"/>
          </p:cNvSpPr>
          <p:nvPr>
            <p:custDataLst>
              <p:tags r:id="rId4"/>
            </p:custDataLst>
          </p:nvPr>
        </p:nvSpPr>
        <p:spPr bwMode="gray">
          <a:xfrm>
            <a:off x="3128010" y="4375785"/>
            <a:ext cx="1683385" cy="1181100"/>
          </a:xfrm>
          <a:prstGeom prst="roundRect">
            <a:avLst>
              <a:gd name="adj" fmla="val 11921"/>
            </a:avLst>
          </a:prstGeom>
          <a:solidFill>
            <a:srgbClr val="6B0261"/>
          </a:solidFill>
          <a:ln w="25400" cap="flat" cmpd="sng" algn="ctr">
            <a:no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200" rtl="0" eaLnBrk="1" fontAlgn="base" latinLnBrk="0" hangingPunct="1">
              <a:lnSpc>
                <a:spcPct val="120000"/>
              </a:lnSpc>
              <a:spcBef>
                <a:spcPct val="0"/>
              </a:spcBef>
              <a:spcAft>
                <a:spcPct val="0"/>
              </a:spcAft>
              <a:buClrTx/>
              <a:buSzTx/>
              <a:buFontTx/>
              <a:buNone/>
              <a:defRPr/>
            </a:pPr>
            <a:r>
              <a:rPr kumimoji="0" lang="en-US" altLang="zh-CN" sz="1865" b="1" i="0" u="none" strike="noStrike" kern="120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rPr>
              <a:t>KML(Kernel Mode Linux)</a:t>
            </a:r>
            <a:endParaRPr kumimoji="0" lang="en-US" altLang="zh-CN" sz="1865" b="1" i="0" u="none" strike="noStrike" kern="120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endParaRPr>
          </a:p>
        </p:txBody>
      </p:sp>
      <p:sp>
        <p:nvSpPr>
          <p:cNvPr id="26" name="Oval 19"/>
          <p:cNvSpPr>
            <a:spLocks noChangeArrowheads="1"/>
          </p:cNvSpPr>
          <p:nvPr/>
        </p:nvSpPr>
        <p:spPr bwMode="auto">
          <a:xfrm>
            <a:off x="439420" y="3256280"/>
            <a:ext cx="2483485" cy="1191895"/>
          </a:xfrm>
          <a:prstGeom prst="ellipse">
            <a:avLst/>
          </a:prstGeom>
          <a:solidFill>
            <a:srgbClr val="6B0261"/>
          </a:solidFill>
          <a:ln w="9525">
            <a:noFill/>
            <a:round/>
          </a:ln>
          <a:effectLst/>
        </p:spPr>
        <p:txBody>
          <a:bodyPr lIns="82824" tIns="41411" rIns="82824" bIns="41411" anchor="ct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2535" b="1"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虚拟化</a:t>
            </a:r>
            <a:endParaRPr kumimoji="0" lang="zh-CN" altLang="en-US" sz="2535" b="1"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2535" b="1"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特权访问</a:t>
            </a:r>
            <a:endParaRPr kumimoji="0" lang="zh-CN" altLang="en-US" sz="2535" b="1"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3" name="矩形 2"/>
          <p:cNvSpPr/>
          <p:nvPr/>
        </p:nvSpPr>
        <p:spPr>
          <a:xfrm>
            <a:off x="902335" y="1473835"/>
            <a:ext cx="3181350" cy="706755"/>
          </a:xfrm>
          <a:prstGeom prst="rect">
            <a:avLst/>
          </a:prstGeom>
        </p:spPr>
        <p:txBody>
          <a:bodyPr wrap="square">
            <a:sp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zh-CN" sz="200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访问页表</a:t>
            </a:r>
            <a:r>
              <a:rPr kumimoji="0" lang="en-US" altLang="zh-CN" sz="200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 </a:t>
            </a:r>
            <a:r>
              <a:rPr kumimoji="0" lang="en-US" altLang="en-US" sz="200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 </a:t>
            </a:r>
            <a:r>
              <a:rPr kumimoji="0" lang="zh-CN" altLang="en-US" sz="200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需</a:t>
            </a:r>
            <a:r>
              <a:rPr kumimoji="0" lang="en-US" altLang="zh-CN" sz="200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Ring 0</a:t>
            </a:r>
            <a:r>
              <a:rPr kumimoji="0" lang="zh-CN" altLang="en-US" sz="200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权限</a:t>
            </a:r>
            <a:r>
              <a:rPr kumimoji="0" lang="en-US" altLang="zh-CN" sz="200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  </a:t>
            </a:r>
            <a:r>
              <a:rPr kumimoji="0" lang="zh-CN" altLang="en-US" sz="200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如何解决？</a:t>
            </a:r>
            <a:endParaRPr kumimoji="0" lang="zh-CN" altLang="en-US" sz="200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梯形 36"/>
          <p:cNvSpPr/>
          <p:nvPr/>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5" name="梯形 34"/>
          <p:cNvSpPr/>
          <p:nvPr/>
        </p:nvSpPr>
        <p:spPr>
          <a:xfrm rot="16200000">
            <a:off x="7446198" y="-451317"/>
            <a:ext cx="2291737" cy="7199871"/>
          </a:xfrm>
          <a:prstGeom prst="trapezoid">
            <a:avLst>
              <a:gd name="adj" fmla="val 16935"/>
            </a:avLst>
          </a:prstGeom>
          <a:solidFill>
            <a:srgbClr val="6B026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53795" cy="1198880"/>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2</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551803" y="2692405"/>
            <a:ext cx="2621280" cy="829945"/>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实现思路</a:t>
            </a: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30836" y="1705564"/>
            <a:ext cx="2823720" cy="280467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634918" y="237124"/>
            <a:ext cx="1868170"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b="1" noProof="0" dirty="0">
                <a:ln>
                  <a:noFill/>
                </a:ln>
                <a:solidFill>
                  <a:srgbClr val="6B0261"/>
                </a:solidFill>
                <a:effectLst/>
                <a:uLnTx/>
                <a:uFillTx/>
                <a:latin typeface="Arial" panose="020B0604020202020204" pitchFamily="34" charset="0"/>
                <a:sym typeface="Calibri" panose="020F0502020204030204" pitchFamily="34" charset="0"/>
              </a:rPr>
              <a:t>实现思路</a:t>
            </a:r>
            <a:endParaRPr kumimoji="0" lang="zh-CN" altLang="en-US"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7" name="等腰三角形 16"/>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7" name="圆角矩形 6"/>
          <p:cNvSpPr/>
          <p:nvPr/>
        </p:nvSpPr>
        <p:spPr>
          <a:xfrm>
            <a:off x="194945" y="931545"/>
            <a:ext cx="4740275" cy="1281430"/>
          </a:xfrm>
          <a:prstGeom prst="roundRect">
            <a:avLst>
              <a:gd name="adj" fmla="val 11892"/>
            </a:avLst>
          </a:prstGeom>
          <a:solidFill>
            <a:schemeClr val="bg1">
              <a:lumMod val="95000"/>
            </a:schemeClr>
          </a:solidFill>
          <a:ln>
            <a:solidFill>
              <a:srgbClr val="6B02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36" name="圆角矩形 35"/>
          <p:cNvSpPr/>
          <p:nvPr/>
        </p:nvSpPr>
        <p:spPr>
          <a:xfrm>
            <a:off x="353060" y="2402205"/>
            <a:ext cx="4899025" cy="1150620"/>
          </a:xfrm>
          <a:prstGeom prst="roundRect">
            <a:avLst>
              <a:gd name="adj" fmla="val 11892"/>
            </a:avLst>
          </a:prstGeom>
          <a:solidFill>
            <a:schemeClr val="bg1">
              <a:lumMod val="95000"/>
            </a:schemeClr>
          </a:solidFill>
          <a:ln>
            <a:solidFill>
              <a:srgbClr val="6B02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双地址空间机制：</a:t>
            </a:r>
            <a:r>
              <a:rPr kumimoji="0" lang="zh-CN" altLang="en-US"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物理地址复用</a:t>
            </a:r>
            <a:r>
              <a:rPr kumimoji="0" lang="en-US" altLang="zh-CN"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虚拟地址隔离，实现规范地址存储数据到别名地址供程序使用，在释放时仅失效别名映射。</a:t>
            </a:r>
            <a:endParaRPr kumimoji="0" lang="zh-CN" altLang="en-US"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圆角矩形 2"/>
          <p:cNvSpPr/>
          <p:nvPr/>
        </p:nvSpPr>
        <p:spPr>
          <a:xfrm>
            <a:off x="867410" y="3749675"/>
            <a:ext cx="4845050" cy="1147445"/>
          </a:xfrm>
          <a:prstGeom prst="roundRect">
            <a:avLst>
              <a:gd name="adj" fmla="val 11892"/>
            </a:avLst>
          </a:prstGeom>
          <a:solidFill>
            <a:schemeClr val="bg1">
              <a:lumMod val="95000"/>
            </a:schemeClr>
          </a:solidFill>
          <a:ln>
            <a:solidFill>
              <a:srgbClr val="6B02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特权后端支撑：</a:t>
            </a:r>
            <a:r>
              <a:rPr kumimoji="0" lang="en-US" altLang="zh-CN"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Ring 0</a:t>
            </a:r>
            <a:r>
              <a:rPr kumimoji="0" lang="zh-CN" altLang="en-US"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直接页表操作，通过</a:t>
            </a:r>
            <a:r>
              <a:rPr kumimoji="0" lang="en-US" altLang="zh-CN"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KML</a:t>
            </a:r>
            <a:r>
              <a:rPr kumimoji="0" lang="zh-CN" altLang="en-US"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虚拟化绕过内核，零</a:t>
            </a:r>
            <a:r>
              <a:rPr kumimoji="0" lang="en-US" altLang="zh-CN"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syscall</a:t>
            </a:r>
            <a:r>
              <a:rPr kumimoji="0" lang="zh-CN" altLang="en-US"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开销管理别名。</a:t>
            </a:r>
            <a:endParaRPr kumimoji="0" lang="zh-CN" altLang="en-US"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任意多边形 30"/>
          <p:cNvSpPr/>
          <p:nvPr/>
        </p:nvSpPr>
        <p:spPr>
          <a:xfrm>
            <a:off x="4304665" y="2051050"/>
            <a:ext cx="630555" cy="527685"/>
          </a:xfrm>
          <a:custGeom>
            <a:avLst/>
            <a:gdLst>
              <a:gd name="connsiteX0" fmla="*/ 0 w 792480"/>
              <a:gd name="connsiteY0" fmla="*/ 435864 h 792480"/>
              <a:gd name="connsiteX1" fmla="*/ 178308 w 792480"/>
              <a:gd name="connsiteY1" fmla="*/ 435864 h 792480"/>
              <a:gd name="connsiteX2" fmla="*/ 178308 w 792480"/>
              <a:gd name="connsiteY2" fmla="*/ 0 h 792480"/>
              <a:gd name="connsiteX3" fmla="*/ 614172 w 792480"/>
              <a:gd name="connsiteY3" fmla="*/ 0 h 792480"/>
              <a:gd name="connsiteX4" fmla="*/ 614172 w 792480"/>
              <a:gd name="connsiteY4" fmla="*/ 435864 h 792480"/>
              <a:gd name="connsiteX5" fmla="*/ 792480 w 792480"/>
              <a:gd name="connsiteY5" fmla="*/ 435864 h 792480"/>
              <a:gd name="connsiteX6" fmla="*/ 396240 w 792480"/>
              <a:gd name="connsiteY6" fmla="*/ 792480 h 792480"/>
              <a:gd name="connsiteX7" fmla="*/ 0 w 792480"/>
              <a:gd name="connsiteY7" fmla="*/ 435864 h 79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792480">
                <a:moveTo>
                  <a:pt x="0" y="435864"/>
                </a:moveTo>
                <a:lnTo>
                  <a:pt x="178308" y="435864"/>
                </a:lnTo>
                <a:lnTo>
                  <a:pt x="178308" y="0"/>
                </a:lnTo>
                <a:lnTo>
                  <a:pt x="614172" y="0"/>
                </a:lnTo>
                <a:lnTo>
                  <a:pt x="614172" y="435864"/>
                </a:lnTo>
                <a:lnTo>
                  <a:pt x="792480" y="435864"/>
                </a:lnTo>
                <a:lnTo>
                  <a:pt x="396240" y="792480"/>
                </a:lnTo>
                <a:lnTo>
                  <a:pt x="0" y="435864"/>
                </a:lnTo>
                <a:close/>
              </a:path>
            </a:pathLst>
          </a:custGeom>
          <a:solidFill>
            <a:srgbClr val="6B0261"/>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24028" tIns="45720" rIns="224028" bIns="241859" numCol="1" spcCol="953" anchor="ctr" anchorCtr="0">
            <a:noAutofit/>
          </a:bodyPr>
          <a:p>
            <a:pPr marL="0" marR="0" lvl="0" indent="0" algn="ctr" defTabSz="1600200" rtl="0" eaLnBrk="1" fontAlgn="auto" latinLnBrk="0" hangingPunct="1">
              <a:lnSpc>
                <a:spcPct val="90000"/>
              </a:lnSpc>
              <a:spcBef>
                <a:spcPct val="0"/>
              </a:spcBef>
              <a:spcAft>
                <a:spcPct val="35000"/>
              </a:spcAft>
              <a:buClrTx/>
              <a:buSzTx/>
              <a:buFontTx/>
              <a:buNone/>
              <a:defRPr/>
            </a:pPr>
            <a:endParaRPr kumimoji="0" lang="zh-CN" altLang="en-US" sz="3600" b="0" i="0" u="none" strike="noStrike" kern="1200" cap="none" spc="0" normalizeH="0" baseline="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cs typeface="+mn-cs"/>
            </a:endParaRPr>
          </a:p>
        </p:txBody>
      </p:sp>
      <p:sp>
        <p:nvSpPr>
          <p:cNvPr id="4" name="任意多边形 3"/>
          <p:cNvSpPr/>
          <p:nvPr/>
        </p:nvSpPr>
        <p:spPr>
          <a:xfrm>
            <a:off x="4565650" y="3386455"/>
            <a:ext cx="630555" cy="527685"/>
          </a:xfrm>
          <a:custGeom>
            <a:avLst/>
            <a:gdLst>
              <a:gd name="connsiteX0" fmla="*/ 0 w 792480"/>
              <a:gd name="connsiteY0" fmla="*/ 435864 h 792480"/>
              <a:gd name="connsiteX1" fmla="*/ 178308 w 792480"/>
              <a:gd name="connsiteY1" fmla="*/ 435864 h 792480"/>
              <a:gd name="connsiteX2" fmla="*/ 178308 w 792480"/>
              <a:gd name="connsiteY2" fmla="*/ 0 h 792480"/>
              <a:gd name="connsiteX3" fmla="*/ 614172 w 792480"/>
              <a:gd name="connsiteY3" fmla="*/ 0 h 792480"/>
              <a:gd name="connsiteX4" fmla="*/ 614172 w 792480"/>
              <a:gd name="connsiteY4" fmla="*/ 435864 h 792480"/>
              <a:gd name="connsiteX5" fmla="*/ 792480 w 792480"/>
              <a:gd name="connsiteY5" fmla="*/ 435864 h 792480"/>
              <a:gd name="connsiteX6" fmla="*/ 396240 w 792480"/>
              <a:gd name="connsiteY6" fmla="*/ 792480 h 792480"/>
              <a:gd name="connsiteX7" fmla="*/ 0 w 792480"/>
              <a:gd name="connsiteY7" fmla="*/ 435864 h 79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792480">
                <a:moveTo>
                  <a:pt x="0" y="435864"/>
                </a:moveTo>
                <a:lnTo>
                  <a:pt x="178308" y="435864"/>
                </a:lnTo>
                <a:lnTo>
                  <a:pt x="178308" y="0"/>
                </a:lnTo>
                <a:lnTo>
                  <a:pt x="614172" y="0"/>
                </a:lnTo>
                <a:lnTo>
                  <a:pt x="614172" y="435864"/>
                </a:lnTo>
                <a:lnTo>
                  <a:pt x="792480" y="435864"/>
                </a:lnTo>
                <a:lnTo>
                  <a:pt x="396240" y="792480"/>
                </a:lnTo>
                <a:lnTo>
                  <a:pt x="0" y="435864"/>
                </a:lnTo>
                <a:close/>
              </a:path>
            </a:pathLst>
          </a:custGeom>
          <a:solidFill>
            <a:srgbClr val="6B0261"/>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24028" tIns="45720" rIns="224028" bIns="241859" numCol="1" spcCol="953" anchor="ctr" anchorCtr="0">
            <a:noAutofit/>
          </a:bodyPr>
          <a:p>
            <a:pPr marL="0" marR="0" lvl="0" indent="0" algn="ctr" defTabSz="1600200" rtl="0" eaLnBrk="1" fontAlgn="auto" latinLnBrk="0" hangingPunct="1">
              <a:lnSpc>
                <a:spcPct val="90000"/>
              </a:lnSpc>
              <a:spcBef>
                <a:spcPct val="0"/>
              </a:spcBef>
              <a:spcAft>
                <a:spcPct val="35000"/>
              </a:spcAft>
              <a:buClrTx/>
              <a:buSzTx/>
              <a:buFontTx/>
              <a:buNone/>
              <a:defRPr/>
            </a:pPr>
            <a:endParaRPr kumimoji="0" lang="zh-CN" altLang="en-US" sz="3600" b="0" i="0" u="none" strike="noStrike" kern="1200" cap="none" spc="0" normalizeH="0" baseline="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cs typeface="+mn-cs"/>
            </a:endParaRPr>
          </a:p>
        </p:txBody>
      </p:sp>
      <p:sp>
        <p:nvSpPr>
          <p:cNvPr id="6" name="圆角矩形 5"/>
          <p:cNvSpPr/>
          <p:nvPr/>
        </p:nvSpPr>
        <p:spPr>
          <a:xfrm>
            <a:off x="1245870" y="5128895"/>
            <a:ext cx="4740275" cy="1212850"/>
          </a:xfrm>
          <a:prstGeom prst="roundRect">
            <a:avLst>
              <a:gd name="adj" fmla="val 11892"/>
            </a:avLst>
          </a:prstGeom>
          <a:solidFill>
            <a:schemeClr val="bg1">
              <a:lumMod val="95000"/>
            </a:schemeClr>
          </a:solidFill>
          <a:ln>
            <a:solidFill>
              <a:srgbClr val="6B02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10" name="任意多边形 9"/>
          <p:cNvSpPr/>
          <p:nvPr/>
        </p:nvSpPr>
        <p:spPr>
          <a:xfrm>
            <a:off x="5081905" y="4721860"/>
            <a:ext cx="630555" cy="527685"/>
          </a:xfrm>
          <a:custGeom>
            <a:avLst/>
            <a:gdLst>
              <a:gd name="connsiteX0" fmla="*/ 0 w 792480"/>
              <a:gd name="connsiteY0" fmla="*/ 435864 h 792480"/>
              <a:gd name="connsiteX1" fmla="*/ 178308 w 792480"/>
              <a:gd name="connsiteY1" fmla="*/ 435864 h 792480"/>
              <a:gd name="connsiteX2" fmla="*/ 178308 w 792480"/>
              <a:gd name="connsiteY2" fmla="*/ 0 h 792480"/>
              <a:gd name="connsiteX3" fmla="*/ 614172 w 792480"/>
              <a:gd name="connsiteY3" fmla="*/ 0 h 792480"/>
              <a:gd name="connsiteX4" fmla="*/ 614172 w 792480"/>
              <a:gd name="connsiteY4" fmla="*/ 435864 h 792480"/>
              <a:gd name="connsiteX5" fmla="*/ 792480 w 792480"/>
              <a:gd name="connsiteY5" fmla="*/ 435864 h 792480"/>
              <a:gd name="connsiteX6" fmla="*/ 396240 w 792480"/>
              <a:gd name="connsiteY6" fmla="*/ 792480 h 792480"/>
              <a:gd name="connsiteX7" fmla="*/ 0 w 792480"/>
              <a:gd name="connsiteY7" fmla="*/ 435864 h 79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792480">
                <a:moveTo>
                  <a:pt x="0" y="435864"/>
                </a:moveTo>
                <a:lnTo>
                  <a:pt x="178308" y="435864"/>
                </a:lnTo>
                <a:lnTo>
                  <a:pt x="178308" y="0"/>
                </a:lnTo>
                <a:lnTo>
                  <a:pt x="614172" y="0"/>
                </a:lnTo>
                <a:lnTo>
                  <a:pt x="614172" y="435864"/>
                </a:lnTo>
                <a:lnTo>
                  <a:pt x="792480" y="435864"/>
                </a:lnTo>
                <a:lnTo>
                  <a:pt x="396240" y="792480"/>
                </a:lnTo>
                <a:lnTo>
                  <a:pt x="0" y="435864"/>
                </a:lnTo>
                <a:close/>
              </a:path>
            </a:pathLst>
          </a:custGeom>
          <a:solidFill>
            <a:srgbClr val="6B0261"/>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24028" tIns="45720" rIns="224028" bIns="241859" numCol="1" spcCol="953" anchor="ctr" anchorCtr="0">
            <a:noAutofit/>
          </a:bodyPr>
          <a:p>
            <a:pPr marL="0" marR="0" lvl="0" indent="0" algn="ctr" defTabSz="1600200" rtl="0" eaLnBrk="1" fontAlgn="auto" latinLnBrk="0" hangingPunct="1">
              <a:lnSpc>
                <a:spcPct val="90000"/>
              </a:lnSpc>
              <a:spcBef>
                <a:spcPct val="0"/>
              </a:spcBef>
              <a:spcAft>
                <a:spcPct val="35000"/>
              </a:spcAft>
              <a:buClrTx/>
              <a:buSzTx/>
              <a:buFontTx/>
              <a:buNone/>
              <a:defRPr/>
            </a:pPr>
            <a:endParaRPr kumimoji="0" lang="zh-CN" altLang="en-US" sz="3600" b="0" i="0" u="none" strike="noStrike" kern="1200" cap="none" spc="0" normalizeH="0" baseline="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cs typeface="+mn-cs"/>
            </a:endParaRPr>
          </a:p>
        </p:txBody>
      </p:sp>
      <p:sp>
        <p:nvSpPr>
          <p:cNvPr id="14" name="文本框 13"/>
          <p:cNvSpPr txBox="1"/>
          <p:nvPr/>
        </p:nvSpPr>
        <p:spPr>
          <a:xfrm>
            <a:off x="294005" y="957580"/>
            <a:ext cx="4640580" cy="1170305"/>
          </a:xfrm>
          <a:prstGeom prst="rect">
            <a:avLst/>
          </a:prstGeom>
          <a:noFill/>
        </p:spPr>
        <p:txBody>
          <a:bodyPr wrap="square" rtlCol="0">
            <a:spAutoFit/>
          </a:bodyPr>
          <a:p>
            <a:pPr algn="l">
              <a:lnSpc>
                <a:spcPct val="130000"/>
              </a:lnSpc>
            </a:pPr>
            <a:r>
              <a:rPr lang="zh-CN" altLang="en-US" b="1"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覆盖分配器：</a:t>
            </a:r>
            <a:r>
              <a:rPr lang="zh-CN" altLang="en-US"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代理所有内存操作，并且能够拦截</a:t>
            </a:r>
            <a:r>
              <a:rPr lang="en-US" altLang="zh-CN"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malloc/free</a:t>
            </a:r>
            <a:r>
              <a:rPr lang="zh-CN" altLang="en-US"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请求，桥接用户程序与默认分配器，可以直接管理页表映射。</a:t>
            </a:r>
            <a:endParaRPr lang="zh-CN" altLang="en-US"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文本框 14"/>
          <p:cNvSpPr txBox="1"/>
          <p:nvPr/>
        </p:nvSpPr>
        <p:spPr>
          <a:xfrm>
            <a:off x="1245870" y="5172710"/>
            <a:ext cx="4559300" cy="1170305"/>
          </a:xfrm>
          <a:prstGeom prst="rect">
            <a:avLst/>
          </a:prstGeom>
          <a:noFill/>
        </p:spPr>
        <p:txBody>
          <a:bodyPr wrap="square" rtlCol="0">
            <a:spAutoFit/>
          </a:bodyPr>
          <a:p>
            <a:pPr algn="l">
              <a:lnSpc>
                <a:spcPct val="130000"/>
              </a:lnSpc>
            </a:pPr>
            <a:r>
              <a:rPr lang="zh-CN" altLang="en-US" b="1"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虚拟别名回收器：</a:t>
            </a:r>
            <a:r>
              <a:rPr lang="en-US" altLang="zh-CN"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GC</a:t>
            </a:r>
            <a:r>
              <a:rPr lang="zh-CN" altLang="en-US"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式安全回收。扫描悬垂指针后，将空闲别名地址归还分配池，突破了虚拟地址耗尽瓶颈。</a:t>
            </a:r>
            <a:endParaRPr lang="zh-CN" altLang="en-US"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6256655" y="1353820"/>
            <a:ext cx="5570855" cy="44335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7211060" y="1094105"/>
            <a:ext cx="4654550" cy="5099685"/>
          </a:xfrm>
          <a:prstGeom prst="roundRect">
            <a:avLst>
              <a:gd name="adj" fmla="val 5616"/>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47" name="矩形 46"/>
          <p:cNvSpPr>
            <a:spLocks noChangeArrowheads="1"/>
          </p:cNvSpPr>
          <p:nvPr/>
        </p:nvSpPr>
        <p:spPr bwMode="auto">
          <a:xfrm>
            <a:off x="634918" y="237124"/>
            <a:ext cx="75577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b="1" noProof="0" dirty="0">
                <a:ln>
                  <a:noFill/>
                </a:ln>
                <a:solidFill>
                  <a:srgbClr val="6B0261"/>
                </a:solidFill>
                <a:effectLst/>
                <a:uLnTx/>
                <a:uFillTx/>
                <a:latin typeface="Arial" panose="020B0604020202020204" pitchFamily="34" charset="0"/>
                <a:sym typeface="Calibri" panose="020F0502020204030204" pitchFamily="34" charset="0"/>
              </a:rPr>
              <a:t>实现思路</a:t>
            </a:r>
            <a:r>
              <a:rPr lang="en-US" altLang="zh-CN" b="1" noProof="0" dirty="0">
                <a:ln>
                  <a:noFill/>
                </a:ln>
                <a:solidFill>
                  <a:srgbClr val="6B0261"/>
                </a:solidFill>
                <a:effectLst/>
                <a:uLnTx/>
                <a:uFillTx/>
                <a:latin typeface="Arial" panose="020B0604020202020204" pitchFamily="34" charset="0"/>
                <a:sym typeface="Calibri" panose="020F0502020204030204" pitchFamily="34" charset="0"/>
              </a:rPr>
              <a:t>——</a:t>
            </a:r>
            <a:r>
              <a:rPr lang="zh-CN" altLang="en-US" b="1" noProof="0" dirty="0">
                <a:ln>
                  <a:noFill/>
                </a:ln>
                <a:solidFill>
                  <a:srgbClr val="6B0261"/>
                </a:solidFill>
                <a:effectLst/>
                <a:uLnTx/>
                <a:uFillTx/>
                <a:latin typeface="Arial" panose="020B0604020202020204" pitchFamily="34" charset="0"/>
                <a:sym typeface="Calibri" panose="020F0502020204030204" pitchFamily="34" charset="0"/>
              </a:rPr>
              <a:t>通过页面保护实现时序安全</a:t>
            </a:r>
            <a:endPar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48"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 name="文本框 4"/>
          <p:cNvSpPr txBox="1"/>
          <p:nvPr/>
        </p:nvSpPr>
        <p:spPr>
          <a:xfrm>
            <a:off x="7211060" y="1193800"/>
            <a:ext cx="4392295" cy="3726180"/>
          </a:xfrm>
          <a:prstGeom prst="rect">
            <a:avLst/>
          </a:prstGeom>
          <a:noFill/>
        </p:spPr>
        <p:txBody>
          <a:bodyPr wrap="none" rtlCol="0">
            <a:noAutofit/>
          </a:bodyPr>
          <a:p>
            <a:pPr algn="l">
              <a:lnSpc>
                <a:spcPct val="13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cs typeface="微软雅黑" panose="020B0503020204020204" pitchFamily="34" charset="-122"/>
              </a:rPr>
              <a:t>DangZero</a:t>
            </a:r>
            <a:r>
              <a:rPr lang="zh-CN" altLang="en-US" sz="2000" b="1" dirty="0" smtClean="0">
                <a:latin typeface="微软雅黑" panose="020B0503020204020204" pitchFamily="34" charset="-122"/>
                <a:ea typeface="微软雅黑" panose="020B0503020204020204" pitchFamily="34" charset="-122"/>
                <a:cs typeface="微软雅黑" panose="020B0503020204020204" pitchFamily="34" charset="-122"/>
              </a:rPr>
              <a:t>通过虚拟别名映射实现高</a:t>
            </a:r>
            <a:endParaRPr lang="zh-CN" altLang="en-US" sz="2000" b="1"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b="1" dirty="0" smtClean="0">
                <a:latin typeface="微软雅黑" panose="020B0503020204020204" pitchFamily="34" charset="-122"/>
                <a:ea typeface="微软雅黑" panose="020B0503020204020204" pitchFamily="34" charset="-122"/>
                <a:cs typeface="微软雅黑" panose="020B0503020204020204" pitchFamily="34" charset="-122"/>
              </a:rPr>
              <a:t>效</a:t>
            </a:r>
            <a:r>
              <a:rPr lang="en-US" altLang="zh-CN" sz="2000" b="1" dirty="0" smtClean="0">
                <a:latin typeface="微软雅黑" panose="020B0503020204020204" pitchFamily="34" charset="-122"/>
                <a:ea typeface="微软雅黑" panose="020B0503020204020204" pitchFamily="34" charset="-122"/>
                <a:cs typeface="微软雅黑" panose="020B0503020204020204" pitchFamily="34" charset="-122"/>
              </a:rPr>
              <a:t>UAF</a:t>
            </a:r>
            <a:r>
              <a:rPr lang="zh-CN" altLang="en-US" sz="2000" b="1" dirty="0" smtClean="0">
                <a:latin typeface="微软雅黑" panose="020B0503020204020204" pitchFamily="34" charset="-122"/>
                <a:ea typeface="微软雅黑" panose="020B0503020204020204" pitchFamily="34" charset="-122"/>
                <a:cs typeface="微软雅黑" panose="020B0503020204020204" pitchFamily="34" charset="-122"/>
              </a:rPr>
              <a:t>检测。</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每个内存对象被分配独立</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的虚拟别名页，</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但是共享底层物理页，</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在保障隔离性的同时避免物理内存浪费。</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对象若跨越多页，则生成等量别名页并</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严格保持页内偏移一致，确保访问正确</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性。</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cs typeface="微软雅黑" panose="020B0503020204020204" pitchFamily="34" charset="-122"/>
              </a:rPr>
              <a:t>物理内存回收依赖规范地址隐式存储。</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内存分配时自动填充规范地址指针，释</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放时通过该地定位物理内存。结合别名</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页即时失效机制，实现安全检测与资源</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回收的统一。</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723265" y="1459230"/>
            <a:ext cx="5965825" cy="27978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46"/>
          <p:cNvSpPr>
            <a:spLocks noChangeArrowheads="1"/>
          </p:cNvSpPr>
          <p:nvPr/>
        </p:nvSpPr>
        <p:spPr bwMode="auto">
          <a:xfrm>
            <a:off x="635000" y="236855"/>
            <a:ext cx="610552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b="1" noProof="0" dirty="0">
                <a:ln>
                  <a:noFill/>
                </a:ln>
                <a:solidFill>
                  <a:srgbClr val="6B0261"/>
                </a:solidFill>
                <a:effectLst/>
                <a:uLnTx/>
                <a:uFillTx/>
                <a:latin typeface="Arial" panose="020B0604020202020204" pitchFamily="34" charset="0"/>
                <a:sym typeface="Calibri" panose="020F0502020204030204" pitchFamily="34" charset="0"/>
              </a:rPr>
              <a:t>实现思路</a:t>
            </a:r>
            <a:r>
              <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创建与使</a:t>
            </a: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别名生效</a:t>
            </a:r>
            <a:endPar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6"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3" name="组合 12"/>
          <p:cNvGrpSpPr/>
          <p:nvPr>
            <p:custDataLst>
              <p:tags r:id="rId1"/>
            </p:custDataLst>
          </p:nvPr>
        </p:nvGrpSpPr>
        <p:grpSpPr>
          <a:xfrm>
            <a:off x="766378" y="1404619"/>
            <a:ext cx="7685313" cy="465429"/>
            <a:chOff x="3002037" y="1465551"/>
            <a:chExt cx="7067433" cy="369579"/>
          </a:xfrm>
          <a:solidFill>
            <a:schemeClr val="accent2">
              <a:lumMod val="75000"/>
            </a:schemeClr>
          </a:solidFill>
        </p:grpSpPr>
        <p:sp>
          <p:nvSpPr>
            <p:cNvPr id="14" name="矩形 13"/>
            <p:cNvSpPr/>
            <p:nvPr>
              <p:custDataLst>
                <p:tags r:id="rId2"/>
              </p:custDataLst>
            </p:nvPr>
          </p:nvSpPr>
          <p:spPr bwMode="auto">
            <a:xfrm>
              <a:off x="3002037" y="1465798"/>
              <a:ext cx="7067433" cy="369332"/>
            </a:xfrm>
            <a:prstGeom prst="rect">
              <a:avLst/>
            </a:prstGeom>
            <a:solidFill>
              <a:srgbClr val="6B0261"/>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213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7" name="TextBox 16"/>
            <p:cNvSpPr txBox="1"/>
            <p:nvPr>
              <p:custDataLst>
                <p:tags r:id="rId3"/>
              </p:custDataLst>
            </p:nvPr>
          </p:nvSpPr>
          <p:spPr>
            <a:xfrm>
              <a:off x="3033223" y="1465551"/>
              <a:ext cx="5688633" cy="3337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135" b="1"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DangZero</a:t>
              </a:r>
              <a:r>
                <a:rPr kumimoji="0" lang="zh-CN" altLang="en-US" sz="2135" b="1"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通过直接页表操作实现高效别名管理</a:t>
              </a:r>
              <a:endParaRPr kumimoji="0" lang="zh-CN" altLang="en-US" sz="2135" b="1"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endParaRPr>
            </a:p>
          </p:txBody>
        </p:sp>
      </p:grpSp>
      <p:grpSp>
        <p:nvGrpSpPr>
          <p:cNvPr id="18" name="组合 17"/>
          <p:cNvGrpSpPr/>
          <p:nvPr>
            <p:custDataLst>
              <p:tags r:id="rId4"/>
            </p:custDataLst>
          </p:nvPr>
        </p:nvGrpSpPr>
        <p:grpSpPr>
          <a:xfrm>
            <a:off x="766378" y="3669356"/>
            <a:ext cx="7685313" cy="465119"/>
            <a:chOff x="3002037" y="3922395"/>
            <a:chExt cx="7067433" cy="369332"/>
          </a:xfrm>
          <a:solidFill>
            <a:schemeClr val="accent2">
              <a:lumMod val="75000"/>
            </a:schemeClr>
          </a:solidFill>
        </p:grpSpPr>
        <p:sp>
          <p:nvSpPr>
            <p:cNvPr id="19" name="矩形 18"/>
            <p:cNvSpPr/>
            <p:nvPr>
              <p:custDataLst>
                <p:tags r:id="rId5"/>
              </p:custDataLst>
            </p:nvPr>
          </p:nvSpPr>
          <p:spPr bwMode="auto">
            <a:xfrm>
              <a:off x="3002037" y="3922395"/>
              <a:ext cx="7067433" cy="369332"/>
            </a:xfrm>
            <a:prstGeom prst="rect">
              <a:avLst/>
            </a:prstGeom>
            <a:solidFill>
              <a:srgbClr val="6B0261"/>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213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 name="TextBox 19"/>
            <p:cNvSpPr txBox="1"/>
            <p:nvPr>
              <p:custDataLst>
                <p:tags r:id="rId6"/>
              </p:custDataLst>
            </p:nvPr>
          </p:nvSpPr>
          <p:spPr>
            <a:xfrm>
              <a:off x="3023643" y="3939539"/>
              <a:ext cx="4310117" cy="3337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135" b="1"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物理页按需激活机制确保别名有效性</a:t>
              </a:r>
              <a:endParaRPr kumimoji="0" lang="zh-CN" altLang="en-US" sz="2135" b="1"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endParaRPr>
            </a:p>
          </p:txBody>
        </p:sp>
      </p:grpSp>
      <p:sp>
        <p:nvSpPr>
          <p:cNvPr id="21" name="TextBox 20"/>
          <p:cNvSpPr txBox="1"/>
          <p:nvPr>
            <p:custDataLst>
              <p:tags r:id="rId7"/>
            </p:custDataLst>
          </p:nvPr>
        </p:nvSpPr>
        <p:spPr>
          <a:xfrm>
            <a:off x="766379" y="1950110"/>
            <a:ext cx="7685312" cy="1291590"/>
          </a:xfrm>
          <a:prstGeom prst="rect">
            <a:avLst/>
          </a:prstGeom>
          <a:noFill/>
        </p:spPr>
        <p:txBody>
          <a:bodyPr wrap="square" lIns="91440" tIns="45720" rIns="91440" bIns="45720"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覆盖分配器完全绕过操作系统，在预留的虚拟地址空间中直接读写页表项（</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PTE</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），并通过特权后端保障安全隔离。该设计支持页表直访与</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TLB</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刷新，彻底消除内核交互开销。</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2" name="TextBox 21"/>
          <p:cNvSpPr txBox="1"/>
          <p:nvPr>
            <p:custDataLst>
              <p:tags r:id="rId8"/>
            </p:custDataLst>
          </p:nvPr>
        </p:nvSpPr>
        <p:spPr>
          <a:xfrm>
            <a:off x="766379" y="4134413"/>
            <a:ext cx="7685312" cy="1291590"/>
          </a:xfrm>
          <a:prstGeom prst="rect">
            <a:avLst/>
          </a:prstGeom>
          <a:noFill/>
        </p:spPr>
        <p:txBody>
          <a:bodyPr wrap="square" lIns="91440" tIns="45720" rIns="91440" bIns="45720"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针对</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Linux</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需求分页特性，分配器主动触碰规范页触发物理内存分配，随后建立别名映射。实测无显著开销（因页面会立即使用），备选方案采用缺页处理实时创建别名。</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7211060" y="1094105"/>
            <a:ext cx="4700270" cy="5099685"/>
          </a:xfrm>
          <a:prstGeom prst="roundRect">
            <a:avLst>
              <a:gd name="adj" fmla="val 5616"/>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47" name="矩形 46"/>
          <p:cNvSpPr>
            <a:spLocks noChangeArrowheads="1"/>
          </p:cNvSpPr>
          <p:nvPr/>
        </p:nvSpPr>
        <p:spPr bwMode="auto">
          <a:xfrm>
            <a:off x="634918" y="237124"/>
            <a:ext cx="760539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实现思路</a:t>
            </a:r>
            <a:r>
              <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——Alias reclaimer</a:t>
            </a: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别名回收器</a:t>
            </a:r>
            <a:endPar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48"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 name="文本框 4"/>
          <p:cNvSpPr txBox="1"/>
          <p:nvPr/>
        </p:nvSpPr>
        <p:spPr>
          <a:xfrm>
            <a:off x="7211060" y="1193800"/>
            <a:ext cx="4392295" cy="3726180"/>
          </a:xfrm>
          <a:prstGeom prst="rect">
            <a:avLst/>
          </a:prstGeom>
          <a:noFill/>
        </p:spPr>
        <p:txBody>
          <a:bodyPr wrap="none" rtlCol="0">
            <a:noAutofit/>
          </a:bodyPr>
          <a:p>
            <a:pPr algn="l">
              <a:lnSpc>
                <a:spcPct val="13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cs typeface="微软雅黑" panose="020B0503020204020204" pitchFamily="34" charset="-122"/>
              </a:rPr>
              <a:t> DangZero</a:t>
            </a:r>
            <a:r>
              <a:rPr lang="zh-CN" altLang="en-US" sz="2000" b="1" dirty="0" smtClean="0">
                <a:latin typeface="微软雅黑" panose="020B0503020204020204" pitchFamily="34" charset="-122"/>
                <a:ea typeface="微软雅黑" panose="020B0503020204020204" pitchFamily="34" charset="-122"/>
                <a:cs typeface="微软雅黑" panose="020B0503020204020204" pitchFamily="34" charset="-122"/>
              </a:rPr>
              <a:t>创新复用页表项实现零开销</a:t>
            </a:r>
            <a:endParaRPr lang="zh-CN" altLang="en-US" sz="2000" b="1"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b="1" dirty="0" smtClean="0">
                <a:latin typeface="微软雅黑" panose="020B0503020204020204" pitchFamily="34" charset="-122"/>
                <a:ea typeface="微软雅黑" panose="020B0503020204020204" pitchFamily="34" charset="-122"/>
                <a:cs typeface="微软雅黑" panose="020B0503020204020204" pitchFamily="34" charset="-122"/>
              </a:rPr>
              <a:t>元数据存储。</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回收器将失效别名页的</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PTE</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标记为非存在（</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P=0</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），利用硬件忽略的</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保留位存储关键元数据：</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inv</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位和</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objend</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位，</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并且通过连续扫描非存在</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PTE</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重建对</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象范围，</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从而实现精确回收。</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cs typeface="微软雅黑" panose="020B0503020204020204" pitchFamily="34" charset="-122"/>
              </a:rPr>
              <a:t>动态压缩机制突破空间限制。</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当整页</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PTE</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全失效时，原始页表压缩为紧凑位图</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L2</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页表通过</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cpt</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位指向压缩条目，</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并且</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同质对象页用</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ca</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位单比特存储。</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其中压缩</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数据由</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slab</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分配器管理，内存开销降低</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25</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倍。</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668655" y="1094105"/>
            <a:ext cx="6198870" cy="50996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梯形 36"/>
          <p:cNvSpPr/>
          <p:nvPr/>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5" name="梯形 34"/>
          <p:cNvSpPr/>
          <p:nvPr/>
        </p:nvSpPr>
        <p:spPr>
          <a:xfrm rot="16200000">
            <a:off x="7446198" y="-451317"/>
            <a:ext cx="2291737" cy="7199871"/>
          </a:xfrm>
          <a:prstGeom prst="trapezoid">
            <a:avLst>
              <a:gd name="adj" fmla="val 16935"/>
            </a:avLst>
          </a:prstGeom>
          <a:solidFill>
            <a:srgbClr val="6B026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53795" cy="1198880"/>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3</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638798" y="2692405"/>
            <a:ext cx="2621280" cy="829945"/>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实现过程</a:t>
            </a: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30836" y="1705564"/>
            <a:ext cx="2823720" cy="280467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组合 78"/>
          <p:cNvGrpSpPr/>
          <p:nvPr/>
        </p:nvGrpSpPr>
        <p:grpSpPr>
          <a:xfrm>
            <a:off x="4279265" y="1843405"/>
            <a:ext cx="3656965" cy="3522980"/>
            <a:chOff x="3065829" y="2668267"/>
            <a:chExt cx="1872107" cy="1761728"/>
          </a:xfrm>
        </p:grpSpPr>
        <p:sp>
          <p:nvSpPr>
            <p:cNvPr id="80" name="椭圆 79"/>
            <p:cNvSpPr/>
            <p:nvPr/>
          </p:nvSpPr>
          <p:spPr>
            <a:xfrm>
              <a:off x="3115072" y="2668267"/>
              <a:ext cx="1761728" cy="1761728"/>
            </a:xfrm>
            <a:prstGeom prst="ellipse">
              <a:avLst/>
            </a:prstGeom>
            <a:noFill/>
            <a:ln>
              <a:solidFill>
                <a:srgbClr val="6B02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81" name="椭圆 80"/>
            <p:cNvSpPr/>
            <p:nvPr/>
          </p:nvSpPr>
          <p:spPr>
            <a:xfrm>
              <a:off x="4442509" y="2761135"/>
              <a:ext cx="119507" cy="119507"/>
            </a:xfrm>
            <a:prstGeom prst="ellipse">
              <a:avLst/>
            </a:prstGeom>
            <a:solidFill>
              <a:schemeClr val="bg1">
                <a:lumMod val="95000"/>
              </a:schemeClr>
            </a:solidFill>
            <a:ln>
              <a:solidFill>
                <a:srgbClr val="6B02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85000"/>
                    <a:lumOff val="15000"/>
                  </a:prstClr>
                </a:solidFill>
                <a:effectLst/>
                <a:uLnTx/>
                <a:uFillTx/>
                <a:latin typeface="Arial" panose="020B0604020202020204"/>
                <a:ea typeface="微软雅黑" panose="020B0503020204020204" pitchFamily="34" charset="-122"/>
                <a:cs typeface="+mn-cs"/>
              </a:endParaRPr>
            </a:p>
          </p:txBody>
        </p:sp>
        <p:sp>
          <p:nvSpPr>
            <p:cNvPr id="82" name="椭圆 81"/>
            <p:cNvSpPr/>
            <p:nvPr/>
          </p:nvSpPr>
          <p:spPr>
            <a:xfrm>
              <a:off x="3439209" y="2761135"/>
              <a:ext cx="119507" cy="119507"/>
            </a:xfrm>
            <a:prstGeom prst="ellipse">
              <a:avLst/>
            </a:prstGeom>
            <a:solidFill>
              <a:schemeClr val="bg1">
                <a:lumMod val="95000"/>
              </a:schemeClr>
            </a:solidFill>
            <a:ln>
              <a:solidFill>
                <a:srgbClr val="6B02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85000"/>
                    <a:lumOff val="15000"/>
                  </a:prstClr>
                </a:solidFill>
                <a:effectLst/>
                <a:uLnTx/>
                <a:uFillTx/>
                <a:latin typeface="Arial" panose="020B0604020202020204"/>
                <a:ea typeface="微软雅黑" panose="020B0503020204020204" pitchFamily="34" charset="-122"/>
                <a:cs typeface="+mn-cs"/>
              </a:endParaRPr>
            </a:p>
          </p:txBody>
        </p:sp>
        <p:sp>
          <p:nvSpPr>
            <p:cNvPr id="83" name="椭圆 82"/>
            <p:cNvSpPr/>
            <p:nvPr/>
          </p:nvSpPr>
          <p:spPr>
            <a:xfrm>
              <a:off x="3065829" y="3492655"/>
              <a:ext cx="119507" cy="119507"/>
            </a:xfrm>
            <a:prstGeom prst="ellipse">
              <a:avLst/>
            </a:prstGeom>
            <a:solidFill>
              <a:schemeClr val="bg1">
                <a:lumMod val="95000"/>
              </a:schemeClr>
            </a:solidFill>
            <a:ln>
              <a:solidFill>
                <a:srgbClr val="6B02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85000"/>
                    <a:lumOff val="15000"/>
                  </a:prstClr>
                </a:solidFill>
                <a:effectLst/>
                <a:uLnTx/>
                <a:uFillTx/>
                <a:latin typeface="Arial" panose="020B0604020202020204"/>
                <a:ea typeface="微软雅黑" panose="020B0503020204020204" pitchFamily="34" charset="-122"/>
                <a:cs typeface="+mn-cs"/>
              </a:endParaRPr>
            </a:p>
          </p:txBody>
        </p:sp>
        <p:sp>
          <p:nvSpPr>
            <p:cNvPr id="84" name="椭圆 83"/>
            <p:cNvSpPr/>
            <p:nvPr/>
          </p:nvSpPr>
          <p:spPr>
            <a:xfrm>
              <a:off x="4818429" y="3492655"/>
              <a:ext cx="119507" cy="119507"/>
            </a:xfrm>
            <a:prstGeom prst="ellipse">
              <a:avLst/>
            </a:prstGeom>
            <a:solidFill>
              <a:schemeClr val="bg1">
                <a:lumMod val="95000"/>
              </a:schemeClr>
            </a:solidFill>
            <a:ln>
              <a:solidFill>
                <a:srgbClr val="6B02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85000"/>
                    <a:lumOff val="15000"/>
                  </a:prstClr>
                </a:solidFill>
                <a:effectLst/>
                <a:uLnTx/>
                <a:uFillTx/>
                <a:latin typeface="Arial" panose="020B0604020202020204"/>
                <a:ea typeface="微软雅黑" panose="020B0503020204020204" pitchFamily="34" charset="-122"/>
                <a:cs typeface="+mn-cs"/>
              </a:endParaRPr>
            </a:p>
          </p:txBody>
        </p:sp>
        <p:sp>
          <p:nvSpPr>
            <p:cNvPr id="85" name="椭圆 84"/>
            <p:cNvSpPr/>
            <p:nvPr/>
          </p:nvSpPr>
          <p:spPr>
            <a:xfrm>
              <a:off x="4442509" y="4224175"/>
              <a:ext cx="119507" cy="119507"/>
            </a:xfrm>
            <a:prstGeom prst="ellipse">
              <a:avLst/>
            </a:prstGeom>
            <a:solidFill>
              <a:schemeClr val="bg1">
                <a:lumMod val="95000"/>
              </a:schemeClr>
            </a:solidFill>
            <a:ln>
              <a:solidFill>
                <a:srgbClr val="6B02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85000"/>
                    <a:lumOff val="15000"/>
                  </a:prstClr>
                </a:solidFill>
                <a:effectLst/>
                <a:uLnTx/>
                <a:uFillTx/>
                <a:latin typeface="Arial" panose="020B0604020202020204"/>
                <a:ea typeface="微软雅黑" panose="020B0503020204020204" pitchFamily="34" charset="-122"/>
                <a:cs typeface="+mn-cs"/>
              </a:endParaRPr>
            </a:p>
          </p:txBody>
        </p:sp>
        <p:sp>
          <p:nvSpPr>
            <p:cNvPr id="86" name="椭圆 85"/>
            <p:cNvSpPr/>
            <p:nvPr/>
          </p:nvSpPr>
          <p:spPr>
            <a:xfrm>
              <a:off x="3439209" y="4201315"/>
              <a:ext cx="119507" cy="119507"/>
            </a:xfrm>
            <a:prstGeom prst="ellipse">
              <a:avLst/>
            </a:prstGeom>
            <a:solidFill>
              <a:schemeClr val="bg1">
                <a:lumMod val="95000"/>
              </a:schemeClr>
            </a:solidFill>
            <a:ln>
              <a:solidFill>
                <a:srgbClr val="6B02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85000"/>
                    <a:lumOff val="15000"/>
                  </a:prstClr>
                </a:solidFill>
                <a:effectLst/>
                <a:uLnTx/>
                <a:uFillTx/>
                <a:latin typeface="Arial" panose="020B0604020202020204"/>
                <a:ea typeface="微软雅黑" panose="020B0503020204020204" pitchFamily="34" charset="-122"/>
                <a:cs typeface="+mn-cs"/>
              </a:endParaRPr>
            </a:p>
          </p:txBody>
        </p:sp>
        <p:grpSp>
          <p:nvGrpSpPr>
            <p:cNvPr id="87" name="组合 86"/>
            <p:cNvGrpSpPr/>
            <p:nvPr/>
          </p:nvGrpSpPr>
          <p:grpSpPr>
            <a:xfrm>
              <a:off x="3269293" y="2943616"/>
              <a:ext cx="1465545" cy="1202499"/>
              <a:chOff x="3269293" y="2943616"/>
              <a:chExt cx="1465545" cy="1202499"/>
            </a:xfrm>
          </p:grpSpPr>
          <p:sp>
            <p:nvSpPr>
              <p:cNvPr id="88" name="任意多边形 87"/>
              <p:cNvSpPr/>
              <p:nvPr/>
            </p:nvSpPr>
            <p:spPr>
              <a:xfrm>
                <a:off x="4008329" y="2956142"/>
                <a:ext cx="425885" cy="588724"/>
              </a:xfrm>
              <a:custGeom>
                <a:avLst/>
                <a:gdLst>
                  <a:gd name="connsiteX0" fmla="*/ 0 w 425885"/>
                  <a:gd name="connsiteY0" fmla="*/ 588724 h 588724"/>
                  <a:gd name="connsiteX1" fmla="*/ 425885 w 425885"/>
                  <a:gd name="connsiteY1" fmla="*/ 0 h 588724"/>
                </a:gdLst>
                <a:ahLst/>
                <a:cxnLst>
                  <a:cxn ang="0">
                    <a:pos x="connsiteX0" y="connsiteY0"/>
                  </a:cxn>
                  <a:cxn ang="0">
                    <a:pos x="connsiteX1" y="connsiteY1"/>
                  </a:cxn>
                </a:cxnLst>
                <a:rect l="l" t="t" r="r" b="b"/>
                <a:pathLst>
                  <a:path w="425885" h="588724">
                    <a:moveTo>
                      <a:pt x="0" y="588724"/>
                    </a:moveTo>
                    <a:lnTo>
                      <a:pt x="425885" y="0"/>
                    </a:lnTo>
                  </a:path>
                </a:pathLst>
              </a:custGeom>
              <a:noFill/>
              <a:ln w="38100">
                <a:solidFill>
                  <a:srgbClr val="6B0261"/>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89" name="任意多边形 88"/>
              <p:cNvSpPr/>
              <p:nvPr/>
            </p:nvSpPr>
            <p:spPr>
              <a:xfrm>
                <a:off x="3995803" y="3544866"/>
                <a:ext cx="739035" cy="0"/>
              </a:xfrm>
              <a:custGeom>
                <a:avLst/>
                <a:gdLst>
                  <a:gd name="connsiteX0" fmla="*/ 0 w 739035"/>
                  <a:gd name="connsiteY0" fmla="*/ 0 h 0"/>
                  <a:gd name="connsiteX1" fmla="*/ 739035 w 739035"/>
                  <a:gd name="connsiteY1" fmla="*/ 0 h 0"/>
                </a:gdLst>
                <a:ahLst/>
                <a:cxnLst>
                  <a:cxn ang="0">
                    <a:pos x="connsiteX0" y="connsiteY0"/>
                  </a:cxn>
                  <a:cxn ang="0">
                    <a:pos x="connsiteX1" y="connsiteY1"/>
                  </a:cxn>
                </a:cxnLst>
                <a:rect l="l" t="t" r="r" b="b"/>
                <a:pathLst>
                  <a:path w="739035">
                    <a:moveTo>
                      <a:pt x="0" y="0"/>
                    </a:moveTo>
                    <a:lnTo>
                      <a:pt x="739035" y="0"/>
                    </a:lnTo>
                  </a:path>
                </a:pathLst>
              </a:custGeom>
              <a:noFill/>
              <a:ln w="38100">
                <a:solidFill>
                  <a:srgbClr val="6B0261"/>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90" name="任意多边形 89"/>
              <p:cNvSpPr/>
              <p:nvPr/>
            </p:nvSpPr>
            <p:spPr>
              <a:xfrm>
                <a:off x="3594970" y="2943616"/>
                <a:ext cx="413359" cy="588724"/>
              </a:xfrm>
              <a:custGeom>
                <a:avLst/>
                <a:gdLst>
                  <a:gd name="connsiteX0" fmla="*/ 413359 w 413359"/>
                  <a:gd name="connsiteY0" fmla="*/ 588724 h 588724"/>
                  <a:gd name="connsiteX1" fmla="*/ 0 w 413359"/>
                  <a:gd name="connsiteY1" fmla="*/ 0 h 588724"/>
                </a:gdLst>
                <a:ahLst/>
                <a:cxnLst>
                  <a:cxn ang="0">
                    <a:pos x="connsiteX0" y="connsiteY0"/>
                  </a:cxn>
                  <a:cxn ang="0">
                    <a:pos x="connsiteX1" y="connsiteY1"/>
                  </a:cxn>
                </a:cxnLst>
                <a:rect l="l" t="t" r="r" b="b"/>
                <a:pathLst>
                  <a:path w="413359" h="588724">
                    <a:moveTo>
                      <a:pt x="413359" y="588724"/>
                    </a:moveTo>
                    <a:lnTo>
                      <a:pt x="0" y="0"/>
                    </a:lnTo>
                  </a:path>
                </a:pathLst>
              </a:custGeom>
              <a:noFill/>
              <a:ln w="38100">
                <a:solidFill>
                  <a:srgbClr val="6B0261"/>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91" name="任意多边形 90"/>
              <p:cNvSpPr/>
              <p:nvPr/>
            </p:nvSpPr>
            <p:spPr>
              <a:xfrm>
                <a:off x="3269293" y="3557392"/>
                <a:ext cx="726510" cy="0"/>
              </a:xfrm>
              <a:custGeom>
                <a:avLst/>
                <a:gdLst>
                  <a:gd name="connsiteX0" fmla="*/ 726510 w 726510"/>
                  <a:gd name="connsiteY0" fmla="*/ 0 h 0"/>
                  <a:gd name="connsiteX1" fmla="*/ 0 w 726510"/>
                  <a:gd name="connsiteY1" fmla="*/ 0 h 0"/>
                </a:gdLst>
                <a:ahLst/>
                <a:cxnLst>
                  <a:cxn ang="0">
                    <a:pos x="connsiteX0" y="connsiteY0"/>
                  </a:cxn>
                  <a:cxn ang="0">
                    <a:pos x="connsiteX1" y="connsiteY1"/>
                  </a:cxn>
                </a:cxnLst>
                <a:rect l="l" t="t" r="r" b="b"/>
                <a:pathLst>
                  <a:path w="726510">
                    <a:moveTo>
                      <a:pt x="726510" y="0"/>
                    </a:moveTo>
                    <a:lnTo>
                      <a:pt x="0" y="0"/>
                    </a:lnTo>
                  </a:path>
                </a:pathLst>
              </a:custGeom>
              <a:noFill/>
              <a:ln w="38100">
                <a:solidFill>
                  <a:srgbClr val="6B0261"/>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92" name="任意多边形 91"/>
              <p:cNvSpPr/>
              <p:nvPr/>
            </p:nvSpPr>
            <p:spPr>
              <a:xfrm>
                <a:off x="3582444" y="3569918"/>
                <a:ext cx="425885" cy="576197"/>
              </a:xfrm>
              <a:custGeom>
                <a:avLst/>
                <a:gdLst>
                  <a:gd name="connsiteX0" fmla="*/ 425885 w 425885"/>
                  <a:gd name="connsiteY0" fmla="*/ 0 h 576197"/>
                  <a:gd name="connsiteX1" fmla="*/ 0 w 425885"/>
                  <a:gd name="connsiteY1" fmla="*/ 576197 h 576197"/>
                </a:gdLst>
                <a:ahLst/>
                <a:cxnLst>
                  <a:cxn ang="0">
                    <a:pos x="connsiteX0" y="connsiteY0"/>
                  </a:cxn>
                  <a:cxn ang="0">
                    <a:pos x="connsiteX1" y="connsiteY1"/>
                  </a:cxn>
                </a:cxnLst>
                <a:rect l="l" t="t" r="r" b="b"/>
                <a:pathLst>
                  <a:path w="425885" h="576197">
                    <a:moveTo>
                      <a:pt x="425885" y="0"/>
                    </a:moveTo>
                    <a:lnTo>
                      <a:pt x="0" y="576197"/>
                    </a:lnTo>
                  </a:path>
                </a:pathLst>
              </a:custGeom>
              <a:noFill/>
              <a:ln w="38100">
                <a:solidFill>
                  <a:srgbClr val="6B0261"/>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93" name="任意多边形 92"/>
              <p:cNvSpPr/>
              <p:nvPr/>
            </p:nvSpPr>
            <p:spPr>
              <a:xfrm>
                <a:off x="4020855" y="3569918"/>
                <a:ext cx="388307" cy="576197"/>
              </a:xfrm>
              <a:custGeom>
                <a:avLst/>
                <a:gdLst>
                  <a:gd name="connsiteX0" fmla="*/ 0 w 388307"/>
                  <a:gd name="connsiteY0" fmla="*/ 0 h 576197"/>
                  <a:gd name="connsiteX1" fmla="*/ 388307 w 388307"/>
                  <a:gd name="connsiteY1" fmla="*/ 576197 h 576197"/>
                </a:gdLst>
                <a:ahLst/>
                <a:cxnLst>
                  <a:cxn ang="0">
                    <a:pos x="connsiteX0" y="connsiteY0"/>
                  </a:cxn>
                  <a:cxn ang="0">
                    <a:pos x="connsiteX1" y="connsiteY1"/>
                  </a:cxn>
                </a:cxnLst>
                <a:rect l="l" t="t" r="r" b="b"/>
                <a:pathLst>
                  <a:path w="388307" h="576197">
                    <a:moveTo>
                      <a:pt x="0" y="0"/>
                    </a:moveTo>
                    <a:lnTo>
                      <a:pt x="388307" y="576197"/>
                    </a:lnTo>
                  </a:path>
                </a:pathLst>
              </a:custGeom>
              <a:noFill/>
              <a:ln w="38100">
                <a:solidFill>
                  <a:srgbClr val="6B0261"/>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grpSp>
      </p:grpSp>
      <p:grpSp>
        <p:nvGrpSpPr>
          <p:cNvPr id="97" name="组合 96"/>
          <p:cNvGrpSpPr/>
          <p:nvPr/>
        </p:nvGrpSpPr>
        <p:grpSpPr>
          <a:xfrm>
            <a:off x="5200015" y="2653665"/>
            <a:ext cx="1815465" cy="1780540"/>
            <a:chOff x="3254772" y="2872916"/>
            <a:chExt cx="936104" cy="936104"/>
          </a:xfrm>
          <a:solidFill>
            <a:srgbClr val="6B0261"/>
          </a:solidFill>
        </p:grpSpPr>
        <p:sp>
          <p:nvSpPr>
            <p:cNvPr id="98" name="椭圆 97"/>
            <p:cNvSpPr/>
            <p:nvPr/>
          </p:nvSpPr>
          <p:spPr>
            <a:xfrm>
              <a:off x="3254772" y="2872916"/>
              <a:ext cx="936104" cy="93610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99" name="矩形 98"/>
            <p:cNvSpPr/>
            <p:nvPr/>
          </p:nvSpPr>
          <p:spPr>
            <a:xfrm>
              <a:off x="3280966" y="3229464"/>
              <a:ext cx="884044" cy="209655"/>
            </a:xfrm>
            <a:prstGeom prst="rect">
              <a:avLst/>
            </a:prstGeom>
            <a:grp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特权后端</a:t>
              </a: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设计</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3" name="矩形 46"/>
          <p:cNvSpPr>
            <a:spLocks noChangeArrowheads="1"/>
          </p:cNvSpPr>
          <p:nvPr/>
        </p:nvSpPr>
        <p:spPr bwMode="auto">
          <a:xfrm>
            <a:off x="634918" y="237124"/>
            <a:ext cx="43065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实现过程</a:t>
            </a:r>
            <a:r>
              <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特权后端</a:t>
            </a:r>
            <a:endPar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5" name="文本1"/>
          <p:cNvSpPr>
            <a:spLocks noChangeArrowheads="1"/>
          </p:cNvSpPr>
          <p:nvPr>
            <p:custDataLst>
              <p:tags r:id="rId1"/>
            </p:custDataLst>
          </p:nvPr>
        </p:nvSpPr>
        <p:spPr bwMode="gray">
          <a:xfrm>
            <a:off x="254635" y="1842770"/>
            <a:ext cx="3838575" cy="3524250"/>
          </a:xfrm>
          <a:prstGeom prst="roundRect">
            <a:avLst>
              <a:gd name="adj" fmla="val 11505"/>
            </a:avLst>
          </a:prstGeom>
          <a:noFill/>
          <a:ln w="15875" cap="flat" cmpd="sng" algn="ctr">
            <a:solidFill>
              <a:srgbClr val="6B0261"/>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base" latinLnBrk="0" hangingPunct="1">
              <a:lnSpc>
                <a:spcPct val="12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DangZero</a:t>
            </a: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通过</a:t>
            </a:r>
            <a:r>
              <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KML</a:t>
            </a: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实现安全的内核级特权访问。</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核心机制将</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Linux</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转化为单核虚拟机，使用户程序在轻量级</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VM</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的</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Ring 0</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模式直接操作页表和</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TLB</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刷新，彻底消除内核切换开销。</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KML</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继承</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Linux</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全驱动兼容性，支持任意二进制程序无缝运行。</a:t>
            </a:r>
            <a:endPar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6" name="文本1"/>
          <p:cNvSpPr>
            <a:spLocks noChangeArrowheads="1"/>
          </p:cNvSpPr>
          <p:nvPr>
            <p:custDataLst>
              <p:tags r:id="rId2"/>
            </p:custDataLst>
          </p:nvPr>
        </p:nvSpPr>
        <p:spPr bwMode="gray">
          <a:xfrm>
            <a:off x="8098790" y="1842770"/>
            <a:ext cx="3908425" cy="3522980"/>
          </a:xfrm>
          <a:prstGeom prst="roundRect">
            <a:avLst>
              <a:gd name="adj" fmla="val 11505"/>
            </a:avLst>
          </a:prstGeom>
          <a:noFill/>
          <a:ln w="15875" cap="flat" cmpd="sng" algn="ctr">
            <a:solidFill>
              <a:srgbClr val="6B0261"/>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base" latinLnBrk="0" hangingPunct="1">
              <a:lnSpc>
                <a:spcPct val="12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轻量虚拟机隔离保障系统安全。</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通过硬件虚拟化隔离单进程安全域，阻断攻击者利用页表访问破坏其他域。对比备选方案</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Dune</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（需</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VM</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退出转换系统调用），</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KML</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在系统调用密集型场景性能优势显著，实测</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Nginx</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吞吐量损失降低</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40%</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a:spLocks noChangeArrowheads="1"/>
          </p:cNvSpPr>
          <p:nvPr/>
        </p:nvSpPr>
        <p:spPr bwMode="auto">
          <a:xfrm>
            <a:off x="634918" y="237124"/>
            <a:ext cx="43065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b="1" noProof="0" dirty="0">
                <a:ln>
                  <a:noFill/>
                </a:ln>
                <a:solidFill>
                  <a:srgbClr val="6B0261"/>
                </a:solidFill>
                <a:effectLst/>
                <a:uLnTx/>
                <a:uFillTx/>
                <a:latin typeface="Arial" panose="020B0604020202020204" pitchFamily="34" charset="0"/>
                <a:sym typeface="Calibri" panose="020F0502020204030204" pitchFamily="34" charset="0"/>
              </a:rPr>
              <a:t>实现过程</a:t>
            </a:r>
            <a:r>
              <a:rPr lang="en-US" altLang="zh-CN" b="1" noProof="0" dirty="0">
                <a:ln>
                  <a:noFill/>
                </a:ln>
                <a:solidFill>
                  <a:srgbClr val="6B0261"/>
                </a:solidFill>
                <a:effectLst/>
                <a:uLnTx/>
                <a:uFillTx/>
                <a:latin typeface="Arial" panose="020B0604020202020204" pitchFamily="34" charset="0"/>
                <a:sym typeface="Calibri" panose="020F0502020204030204" pitchFamily="34" charset="0"/>
              </a:rPr>
              <a:t>——</a:t>
            </a: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别名页表</a:t>
            </a:r>
            <a:endPar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48"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7" name="组合 6"/>
          <p:cNvGrpSpPr/>
          <p:nvPr/>
        </p:nvGrpSpPr>
        <p:grpSpPr>
          <a:xfrm>
            <a:off x="527437" y="1041097"/>
            <a:ext cx="9043035" cy="2540090"/>
            <a:chOff x="4238859" y="1324283"/>
            <a:chExt cx="9043035" cy="2540091"/>
          </a:xfrm>
        </p:grpSpPr>
        <p:sp>
          <p:nvSpPr>
            <p:cNvPr id="11" name="矩形 3"/>
            <p:cNvSpPr/>
            <p:nvPr/>
          </p:nvSpPr>
          <p:spPr>
            <a:xfrm>
              <a:off x="5026259" y="1680518"/>
              <a:ext cx="8255000" cy="2014856"/>
            </a:xfrm>
            <a:custGeom>
              <a:avLst/>
              <a:gdLst>
                <a:gd name="connsiteX0" fmla="*/ 0 w 5688632"/>
                <a:gd name="connsiteY0" fmla="*/ 0 h 2053062"/>
                <a:gd name="connsiteX1" fmla="*/ 5688632 w 5688632"/>
                <a:gd name="connsiteY1" fmla="*/ 0 h 2053062"/>
                <a:gd name="connsiteX2" fmla="*/ 5688632 w 5688632"/>
                <a:gd name="connsiteY2" fmla="*/ 2053062 h 2053062"/>
                <a:gd name="connsiteX3" fmla="*/ 0 w 5688632"/>
                <a:gd name="connsiteY3" fmla="*/ 2053062 h 2053062"/>
                <a:gd name="connsiteX4" fmla="*/ 0 w 5688632"/>
                <a:gd name="connsiteY4" fmla="*/ 0 h 2053062"/>
                <a:gd name="connsiteX0-1" fmla="*/ 433137 w 5688632"/>
                <a:gd name="connsiteY0-2" fmla="*/ 12032 h 2053062"/>
                <a:gd name="connsiteX1-3" fmla="*/ 5688632 w 5688632"/>
                <a:gd name="connsiteY1-4" fmla="*/ 0 h 2053062"/>
                <a:gd name="connsiteX2-5" fmla="*/ 5688632 w 5688632"/>
                <a:gd name="connsiteY2-6" fmla="*/ 2053062 h 2053062"/>
                <a:gd name="connsiteX3-7" fmla="*/ 0 w 5688632"/>
                <a:gd name="connsiteY3-8" fmla="*/ 2053062 h 2053062"/>
                <a:gd name="connsiteX4-9" fmla="*/ 433137 w 5688632"/>
                <a:gd name="connsiteY4-10" fmla="*/ 12032 h 20530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688632" h="2053062">
                  <a:moveTo>
                    <a:pt x="433137" y="12032"/>
                  </a:moveTo>
                  <a:lnTo>
                    <a:pt x="5688632" y="0"/>
                  </a:lnTo>
                  <a:lnTo>
                    <a:pt x="5688632" y="2053062"/>
                  </a:lnTo>
                  <a:lnTo>
                    <a:pt x="0" y="2053062"/>
                  </a:lnTo>
                  <a:lnTo>
                    <a:pt x="433137" y="12032"/>
                  </a:lnTo>
                  <a:close/>
                </a:path>
              </a:pathLst>
            </a:custGeom>
            <a:solidFill>
              <a:schemeClr val="bg1">
                <a:lumMod val="75000"/>
              </a:schemeClr>
            </a:solidFill>
            <a:ln w="25400" cap="flat" cmpd="sng" algn="ctr">
              <a:noFill/>
              <a:prstDash val="solid"/>
            </a:ln>
            <a:effectLst/>
          </p:spPr>
          <p:txBody>
            <a:bodyPr lIns="2160000" tIns="62400" rIns="96000" bIns="62400" anchor="ctr"/>
            <a:lstStyle/>
            <a:p>
              <a:pPr marL="0" marR="0" lvl="0" indent="0" algn="l" defTabSz="457200" rtl="0" eaLnBrk="1" fontAlgn="auto" latinLnBrk="0" hangingPunct="1">
                <a:lnSpc>
                  <a:spcPct val="14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srgbClr val="071F65">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12" name="直角三角形 2"/>
            <p:cNvSpPr/>
            <p:nvPr/>
          </p:nvSpPr>
          <p:spPr>
            <a:xfrm rot="17117050" flipH="1">
              <a:off x="5042291" y="2515071"/>
              <a:ext cx="1386578" cy="1312027"/>
            </a:xfrm>
            <a:custGeom>
              <a:avLst/>
              <a:gdLst>
                <a:gd name="connsiteX0" fmla="*/ 0 w 2088232"/>
                <a:gd name="connsiteY0" fmla="*/ 1842558 h 1842558"/>
                <a:gd name="connsiteX1" fmla="*/ 0 w 2088232"/>
                <a:gd name="connsiteY1" fmla="*/ 0 h 1842558"/>
                <a:gd name="connsiteX2" fmla="*/ 2088232 w 2088232"/>
                <a:gd name="connsiteY2" fmla="*/ 1842558 h 1842558"/>
                <a:gd name="connsiteX3" fmla="*/ 0 w 2088232"/>
                <a:gd name="connsiteY3" fmla="*/ 1842558 h 1842558"/>
                <a:gd name="connsiteX0-1" fmla="*/ 0 w 1625488"/>
                <a:gd name="connsiteY0-2" fmla="*/ 1842558 h 1842558"/>
                <a:gd name="connsiteX1-3" fmla="*/ 0 w 1625488"/>
                <a:gd name="connsiteY1-4" fmla="*/ 0 h 1842558"/>
                <a:gd name="connsiteX2-5" fmla="*/ 1625488 w 1625488"/>
                <a:gd name="connsiteY2-6" fmla="*/ 843012 h 1842558"/>
                <a:gd name="connsiteX3-7" fmla="*/ 0 w 1625488"/>
                <a:gd name="connsiteY3-8" fmla="*/ 1842558 h 1842558"/>
                <a:gd name="connsiteX0-9" fmla="*/ 0 w 1690209"/>
                <a:gd name="connsiteY0-10" fmla="*/ 1842558 h 1842558"/>
                <a:gd name="connsiteX1-11" fmla="*/ 0 w 1690209"/>
                <a:gd name="connsiteY1-12" fmla="*/ 0 h 1842558"/>
                <a:gd name="connsiteX2-13" fmla="*/ 1690209 w 1690209"/>
                <a:gd name="connsiteY2-14" fmla="*/ 149753 h 1842558"/>
                <a:gd name="connsiteX3-15" fmla="*/ 0 w 1690209"/>
                <a:gd name="connsiteY3-16" fmla="*/ 1842558 h 1842558"/>
              </a:gdLst>
              <a:ahLst/>
              <a:cxnLst>
                <a:cxn ang="0">
                  <a:pos x="connsiteX0-1" y="connsiteY0-2"/>
                </a:cxn>
                <a:cxn ang="0">
                  <a:pos x="connsiteX1-3" y="connsiteY1-4"/>
                </a:cxn>
                <a:cxn ang="0">
                  <a:pos x="connsiteX2-5" y="connsiteY2-6"/>
                </a:cxn>
                <a:cxn ang="0">
                  <a:pos x="connsiteX3-7" y="connsiteY3-8"/>
                </a:cxn>
              </a:cxnLst>
              <a:rect l="l" t="t" r="r" b="b"/>
              <a:pathLst>
                <a:path w="1690209" h="1842558">
                  <a:moveTo>
                    <a:pt x="0" y="1842558"/>
                  </a:moveTo>
                  <a:lnTo>
                    <a:pt x="0" y="0"/>
                  </a:lnTo>
                  <a:lnTo>
                    <a:pt x="1690209" y="149753"/>
                  </a:lnTo>
                  <a:lnTo>
                    <a:pt x="0" y="1842558"/>
                  </a:lnTo>
                  <a:close/>
                </a:path>
              </a:pathLst>
            </a:custGeom>
            <a:solidFill>
              <a:schemeClr val="tx1">
                <a:lumMod val="50000"/>
                <a:lumOff val="50000"/>
              </a:schemeClr>
            </a:solidFill>
            <a:ln w="25400" cap="flat" cmpd="sng" algn="ctr">
              <a:no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4" name="任意多边形 13"/>
            <p:cNvSpPr/>
            <p:nvPr/>
          </p:nvSpPr>
          <p:spPr>
            <a:xfrm>
              <a:off x="4238859" y="1324283"/>
              <a:ext cx="2314575" cy="1370013"/>
            </a:xfrm>
            <a:custGeom>
              <a:avLst/>
              <a:gdLst>
                <a:gd name="connsiteX0" fmla="*/ 271763 w 2315387"/>
                <a:gd name="connsiteY0" fmla="*/ 0 h 1620180"/>
                <a:gd name="connsiteX1" fmla="*/ 1824103 w 2315387"/>
                <a:gd name="connsiteY1" fmla="*/ 232317 h 1620180"/>
                <a:gd name="connsiteX2" fmla="*/ 2315387 w 2315387"/>
                <a:gd name="connsiteY2" fmla="*/ 1620180 h 1620180"/>
                <a:gd name="connsiteX3" fmla="*/ 0 w 2315387"/>
                <a:gd name="connsiteY3" fmla="*/ 1528412 h 1620180"/>
              </a:gdLst>
              <a:ahLst/>
              <a:cxnLst>
                <a:cxn ang="0">
                  <a:pos x="connsiteX0" y="connsiteY0"/>
                </a:cxn>
                <a:cxn ang="0">
                  <a:pos x="connsiteX1" y="connsiteY1"/>
                </a:cxn>
                <a:cxn ang="0">
                  <a:pos x="connsiteX2" y="connsiteY2"/>
                </a:cxn>
                <a:cxn ang="0">
                  <a:pos x="connsiteX3" y="connsiteY3"/>
                </a:cxn>
              </a:cxnLst>
              <a:rect l="l" t="t" r="r" b="b"/>
              <a:pathLst>
                <a:path w="2315387" h="1620180">
                  <a:moveTo>
                    <a:pt x="271763" y="0"/>
                  </a:moveTo>
                  <a:lnTo>
                    <a:pt x="1824103" y="232317"/>
                  </a:lnTo>
                  <a:lnTo>
                    <a:pt x="2315387" y="1620180"/>
                  </a:lnTo>
                  <a:lnTo>
                    <a:pt x="0" y="1528412"/>
                  </a:lnTo>
                  <a:close/>
                </a:path>
              </a:pathLst>
            </a:custGeom>
            <a:solidFill>
              <a:srgbClr val="6B0261"/>
            </a:solidFill>
            <a:ln w="25400" cap="flat" cmpd="sng" algn="ctr">
              <a:noFill/>
              <a:prstDash val="solid"/>
            </a:ln>
            <a:effectLst/>
          </p:spPr>
          <p:txBody>
            <a:bodyPr lIns="0" tIns="0" rIns="0" bIns="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2" name="Text Box 13"/>
            <p:cNvSpPr txBox="1">
              <a:spLocks noChangeArrowheads="1"/>
            </p:cNvSpPr>
            <p:nvPr/>
          </p:nvSpPr>
          <p:spPr bwMode="gray">
            <a:xfrm>
              <a:off x="6569944" y="1680518"/>
              <a:ext cx="6711950" cy="2014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20650" indent="-12065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marL="0" marR="0" lvl="0" indent="0" algn="just" defTabSz="457200" rtl="0" eaLnBrk="1" fontAlgn="auto" latinLnBrk="0" hangingPunct="1">
                <a:lnSpc>
                  <a:spcPct val="125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0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DangZero</a:t>
              </a:r>
              <a:r>
                <a:rPr kumimoji="0" lang="zh-CN" altLang="en-US" sz="20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巧妙利用内核闲置地址空间实现别名页表隔离。</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通过定位</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Linux</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内核预留的物理内存直接映射区（</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64TB</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虚拟空间），在未使用的部分部署别名页表。该策略既不侵占用户态地址空间，又</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可以避免修改内核即可实现页表共享。</a:t>
              </a:r>
              <a:endPar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3" name="组合 12"/>
          <p:cNvGrpSpPr/>
          <p:nvPr/>
        </p:nvGrpSpPr>
        <p:grpSpPr>
          <a:xfrm>
            <a:off x="1692662" y="3555062"/>
            <a:ext cx="9042400" cy="2540090"/>
            <a:chOff x="4238859" y="1324283"/>
            <a:chExt cx="9042400" cy="2540091"/>
          </a:xfrm>
        </p:grpSpPr>
        <p:sp>
          <p:nvSpPr>
            <p:cNvPr id="15" name="矩形 3"/>
            <p:cNvSpPr/>
            <p:nvPr/>
          </p:nvSpPr>
          <p:spPr>
            <a:xfrm>
              <a:off x="5026259" y="2015163"/>
              <a:ext cx="8255000" cy="1675131"/>
            </a:xfrm>
            <a:custGeom>
              <a:avLst/>
              <a:gdLst>
                <a:gd name="connsiteX0" fmla="*/ 0 w 5688632"/>
                <a:gd name="connsiteY0" fmla="*/ 0 h 2053062"/>
                <a:gd name="connsiteX1" fmla="*/ 5688632 w 5688632"/>
                <a:gd name="connsiteY1" fmla="*/ 0 h 2053062"/>
                <a:gd name="connsiteX2" fmla="*/ 5688632 w 5688632"/>
                <a:gd name="connsiteY2" fmla="*/ 2053062 h 2053062"/>
                <a:gd name="connsiteX3" fmla="*/ 0 w 5688632"/>
                <a:gd name="connsiteY3" fmla="*/ 2053062 h 2053062"/>
                <a:gd name="connsiteX4" fmla="*/ 0 w 5688632"/>
                <a:gd name="connsiteY4" fmla="*/ 0 h 2053062"/>
                <a:gd name="connsiteX0-1" fmla="*/ 433137 w 5688632"/>
                <a:gd name="connsiteY0-2" fmla="*/ 12032 h 2053062"/>
                <a:gd name="connsiteX1-3" fmla="*/ 5688632 w 5688632"/>
                <a:gd name="connsiteY1-4" fmla="*/ 0 h 2053062"/>
                <a:gd name="connsiteX2-5" fmla="*/ 5688632 w 5688632"/>
                <a:gd name="connsiteY2-6" fmla="*/ 2053062 h 2053062"/>
                <a:gd name="connsiteX3-7" fmla="*/ 0 w 5688632"/>
                <a:gd name="connsiteY3-8" fmla="*/ 2053062 h 2053062"/>
                <a:gd name="connsiteX4-9" fmla="*/ 433137 w 5688632"/>
                <a:gd name="connsiteY4-10" fmla="*/ 12032 h 20530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688632" h="2053062">
                  <a:moveTo>
                    <a:pt x="433137" y="12032"/>
                  </a:moveTo>
                  <a:lnTo>
                    <a:pt x="5688632" y="0"/>
                  </a:lnTo>
                  <a:lnTo>
                    <a:pt x="5688632" y="2053062"/>
                  </a:lnTo>
                  <a:lnTo>
                    <a:pt x="0" y="2053062"/>
                  </a:lnTo>
                  <a:lnTo>
                    <a:pt x="433137" y="12032"/>
                  </a:lnTo>
                  <a:close/>
                </a:path>
              </a:pathLst>
            </a:custGeom>
            <a:solidFill>
              <a:schemeClr val="bg1">
                <a:lumMod val="75000"/>
              </a:schemeClr>
            </a:solidFill>
            <a:ln w="25400" cap="flat" cmpd="sng" algn="ctr">
              <a:noFill/>
              <a:prstDash val="solid"/>
            </a:ln>
            <a:effectLst/>
          </p:spPr>
          <p:txBody>
            <a:bodyPr lIns="2160000" tIns="62400" rIns="96000" bIns="62400" anchor="ctr"/>
            <a:lstStyle/>
            <a:p>
              <a:pPr marL="0" marR="0" lvl="0" indent="0" algn="l" defTabSz="457200" rtl="0" eaLnBrk="1" fontAlgn="auto" latinLnBrk="0" hangingPunct="1">
                <a:lnSpc>
                  <a:spcPct val="14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srgbClr val="071F65">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2"/>
            <p:cNvSpPr/>
            <p:nvPr/>
          </p:nvSpPr>
          <p:spPr>
            <a:xfrm rot="17117050" flipH="1">
              <a:off x="5042291" y="2515071"/>
              <a:ext cx="1386578" cy="1312027"/>
            </a:xfrm>
            <a:custGeom>
              <a:avLst/>
              <a:gdLst>
                <a:gd name="connsiteX0" fmla="*/ 0 w 2088232"/>
                <a:gd name="connsiteY0" fmla="*/ 1842558 h 1842558"/>
                <a:gd name="connsiteX1" fmla="*/ 0 w 2088232"/>
                <a:gd name="connsiteY1" fmla="*/ 0 h 1842558"/>
                <a:gd name="connsiteX2" fmla="*/ 2088232 w 2088232"/>
                <a:gd name="connsiteY2" fmla="*/ 1842558 h 1842558"/>
                <a:gd name="connsiteX3" fmla="*/ 0 w 2088232"/>
                <a:gd name="connsiteY3" fmla="*/ 1842558 h 1842558"/>
                <a:gd name="connsiteX0-1" fmla="*/ 0 w 1625488"/>
                <a:gd name="connsiteY0-2" fmla="*/ 1842558 h 1842558"/>
                <a:gd name="connsiteX1-3" fmla="*/ 0 w 1625488"/>
                <a:gd name="connsiteY1-4" fmla="*/ 0 h 1842558"/>
                <a:gd name="connsiteX2-5" fmla="*/ 1625488 w 1625488"/>
                <a:gd name="connsiteY2-6" fmla="*/ 843012 h 1842558"/>
                <a:gd name="connsiteX3-7" fmla="*/ 0 w 1625488"/>
                <a:gd name="connsiteY3-8" fmla="*/ 1842558 h 1842558"/>
                <a:gd name="connsiteX0-9" fmla="*/ 0 w 1690209"/>
                <a:gd name="connsiteY0-10" fmla="*/ 1842558 h 1842558"/>
                <a:gd name="connsiteX1-11" fmla="*/ 0 w 1690209"/>
                <a:gd name="connsiteY1-12" fmla="*/ 0 h 1842558"/>
                <a:gd name="connsiteX2-13" fmla="*/ 1690209 w 1690209"/>
                <a:gd name="connsiteY2-14" fmla="*/ 149753 h 1842558"/>
                <a:gd name="connsiteX3-15" fmla="*/ 0 w 1690209"/>
                <a:gd name="connsiteY3-16" fmla="*/ 1842558 h 1842558"/>
              </a:gdLst>
              <a:ahLst/>
              <a:cxnLst>
                <a:cxn ang="0">
                  <a:pos x="connsiteX0-1" y="connsiteY0-2"/>
                </a:cxn>
                <a:cxn ang="0">
                  <a:pos x="connsiteX1-3" y="connsiteY1-4"/>
                </a:cxn>
                <a:cxn ang="0">
                  <a:pos x="connsiteX2-5" y="connsiteY2-6"/>
                </a:cxn>
                <a:cxn ang="0">
                  <a:pos x="connsiteX3-7" y="connsiteY3-8"/>
                </a:cxn>
              </a:cxnLst>
              <a:rect l="l" t="t" r="r" b="b"/>
              <a:pathLst>
                <a:path w="1690209" h="1842558">
                  <a:moveTo>
                    <a:pt x="0" y="1842558"/>
                  </a:moveTo>
                  <a:lnTo>
                    <a:pt x="0" y="0"/>
                  </a:lnTo>
                  <a:lnTo>
                    <a:pt x="1690209" y="149753"/>
                  </a:lnTo>
                  <a:lnTo>
                    <a:pt x="0" y="1842558"/>
                  </a:lnTo>
                  <a:close/>
                </a:path>
              </a:pathLst>
            </a:custGeom>
            <a:solidFill>
              <a:schemeClr val="tx1">
                <a:lumMod val="50000"/>
                <a:lumOff val="50000"/>
              </a:schemeClr>
            </a:solidFill>
            <a:ln w="25400" cap="flat" cmpd="sng" algn="ctr">
              <a:no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8" name="任意多边形 17"/>
            <p:cNvSpPr/>
            <p:nvPr/>
          </p:nvSpPr>
          <p:spPr>
            <a:xfrm>
              <a:off x="4238859" y="1324283"/>
              <a:ext cx="2314575" cy="1370013"/>
            </a:xfrm>
            <a:custGeom>
              <a:avLst/>
              <a:gdLst>
                <a:gd name="connsiteX0" fmla="*/ 271763 w 2315387"/>
                <a:gd name="connsiteY0" fmla="*/ 0 h 1620180"/>
                <a:gd name="connsiteX1" fmla="*/ 1824103 w 2315387"/>
                <a:gd name="connsiteY1" fmla="*/ 232317 h 1620180"/>
                <a:gd name="connsiteX2" fmla="*/ 2315387 w 2315387"/>
                <a:gd name="connsiteY2" fmla="*/ 1620180 h 1620180"/>
                <a:gd name="connsiteX3" fmla="*/ 0 w 2315387"/>
                <a:gd name="connsiteY3" fmla="*/ 1528412 h 1620180"/>
              </a:gdLst>
              <a:ahLst/>
              <a:cxnLst>
                <a:cxn ang="0">
                  <a:pos x="connsiteX0" y="connsiteY0"/>
                </a:cxn>
                <a:cxn ang="0">
                  <a:pos x="connsiteX1" y="connsiteY1"/>
                </a:cxn>
                <a:cxn ang="0">
                  <a:pos x="connsiteX2" y="connsiteY2"/>
                </a:cxn>
                <a:cxn ang="0">
                  <a:pos x="connsiteX3" y="connsiteY3"/>
                </a:cxn>
              </a:cxnLst>
              <a:rect l="l" t="t" r="r" b="b"/>
              <a:pathLst>
                <a:path w="2315387" h="1620180">
                  <a:moveTo>
                    <a:pt x="271763" y="0"/>
                  </a:moveTo>
                  <a:lnTo>
                    <a:pt x="1824103" y="232317"/>
                  </a:lnTo>
                  <a:lnTo>
                    <a:pt x="2315387" y="1620180"/>
                  </a:lnTo>
                  <a:lnTo>
                    <a:pt x="0" y="1528412"/>
                  </a:lnTo>
                  <a:close/>
                </a:path>
              </a:pathLst>
            </a:custGeom>
            <a:solidFill>
              <a:srgbClr val="6B0261"/>
            </a:solidFill>
            <a:ln w="25400" cap="flat" cmpd="sng" algn="ctr">
              <a:noFill/>
              <a:prstDash val="solid"/>
            </a:ln>
            <a:effectLst/>
          </p:spPr>
          <p:txBody>
            <a:bodyPr lIns="0" tIns="0" rIns="0" bIns="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9" name="Text Box 13"/>
            <p:cNvSpPr txBox="1">
              <a:spLocks noChangeArrowheads="1"/>
            </p:cNvSpPr>
            <p:nvPr/>
          </p:nvSpPr>
          <p:spPr bwMode="gray">
            <a:xfrm>
              <a:off x="6550894" y="2015163"/>
              <a:ext cx="6711950" cy="1630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20650" indent="-12065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marL="0" marR="0" lvl="0" indent="0" algn="just" defTabSz="457200" rtl="0" eaLnBrk="1" fontAlgn="auto" latinLnBrk="0" hangingPunct="1">
                <a:lnSpc>
                  <a:spcPct val="125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0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超大容量设计保障系统扩展性。</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基于典型服务器内存配置（数百</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GB</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物理内存），</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50TB</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别名空间可支持超</a:t>
              </a: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120</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亿并发别名页，彻底满足长时运行应用的虚拟地址需求，突破传统别名方案的空间耗尽瓶颈。</a:t>
              </a:r>
              <a:endPar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46"/>
          <p:cNvSpPr>
            <a:spLocks noChangeArrowheads="1"/>
          </p:cNvSpPr>
          <p:nvPr/>
        </p:nvSpPr>
        <p:spPr bwMode="auto">
          <a:xfrm>
            <a:off x="634918" y="237124"/>
            <a:ext cx="43065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b="1" noProof="0" dirty="0">
                <a:ln>
                  <a:noFill/>
                </a:ln>
                <a:solidFill>
                  <a:srgbClr val="6B0261"/>
                </a:solidFill>
                <a:effectLst/>
                <a:uLnTx/>
                <a:uFillTx/>
                <a:latin typeface="Arial" panose="020B0604020202020204" pitchFamily="34" charset="0"/>
                <a:sym typeface="Calibri" panose="020F0502020204030204" pitchFamily="34" charset="0"/>
              </a:rPr>
              <a:t>实现过程</a:t>
            </a:r>
            <a:r>
              <a:rPr lang="en-US" altLang="zh-CN" b="1" noProof="0" dirty="0">
                <a:ln>
                  <a:noFill/>
                </a:ln>
                <a:solidFill>
                  <a:srgbClr val="6B0261"/>
                </a:solidFill>
                <a:effectLst/>
                <a:uLnTx/>
                <a:uFillTx/>
                <a:latin typeface="Arial" panose="020B0604020202020204" pitchFamily="34" charset="0"/>
                <a:sym typeface="Calibri" panose="020F0502020204030204" pitchFamily="34" charset="0"/>
              </a:rPr>
              <a:t>——</a:t>
            </a: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支持派生</a:t>
            </a:r>
            <a:endPar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6"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3" name="组合 12"/>
          <p:cNvGrpSpPr/>
          <p:nvPr>
            <p:custDataLst>
              <p:tags r:id="rId1"/>
            </p:custDataLst>
          </p:nvPr>
        </p:nvGrpSpPr>
        <p:grpSpPr>
          <a:xfrm>
            <a:off x="784860" y="1001395"/>
            <a:ext cx="10111105" cy="470866"/>
            <a:chOff x="3002037" y="1465798"/>
            <a:chExt cx="7067433" cy="373650"/>
          </a:xfrm>
          <a:solidFill>
            <a:schemeClr val="accent2">
              <a:lumMod val="75000"/>
            </a:schemeClr>
          </a:solidFill>
        </p:grpSpPr>
        <p:sp>
          <p:nvSpPr>
            <p:cNvPr id="14" name="矩形 13"/>
            <p:cNvSpPr/>
            <p:nvPr>
              <p:custDataLst>
                <p:tags r:id="rId2"/>
              </p:custDataLst>
            </p:nvPr>
          </p:nvSpPr>
          <p:spPr bwMode="auto">
            <a:xfrm>
              <a:off x="3002037" y="1465798"/>
              <a:ext cx="7067433" cy="369332"/>
            </a:xfrm>
            <a:prstGeom prst="rect">
              <a:avLst/>
            </a:prstGeom>
            <a:solidFill>
              <a:srgbClr val="6B0261"/>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213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7" name="TextBox 16"/>
            <p:cNvSpPr txBox="1"/>
            <p:nvPr>
              <p:custDataLst>
                <p:tags r:id="rId3"/>
              </p:custDataLst>
            </p:nvPr>
          </p:nvSpPr>
          <p:spPr>
            <a:xfrm>
              <a:off x="3033223" y="1474123"/>
              <a:ext cx="5688633" cy="3653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面临的</a:t>
              </a:r>
              <a:r>
                <a:rPr kumimoji="0" lang="zh-CN" altLang="en-US" sz="240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问题</a:t>
              </a:r>
              <a:endParaRPr kumimoji="0" lang="zh-CN" altLang="en-US" sz="240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endParaRPr>
            </a:p>
          </p:txBody>
        </p:sp>
      </p:grpSp>
      <p:grpSp>
        <p:nvGrpSpPr>
          <p:cNvPr id="18" name="组合 17"/>
          <p:cNvGrpSpPr/>
          <p:nvPr>
            <p:custDataLst>
              <p:tags r:id="rId4"/>
            </p:custDataLst>
          </p:nvPr>
        </p:nvGrpSpPr>
        <p:grpSpPr>
          <a:xfrm>
            <a:off x="798195" y="3569970"/>
            <a:ext cx="10111105" cy="482087"/>
            <a:chOff x="3002037" y="3922395"/>
            <a:chExt cx="7067433" cy="383052"/>
          </a:xfrm>
          <a:solidFill>
            <a:schemeClr val="accent2">
              <a:lumMod val="75000"/>
            </a:schemeClr>
          </a:solidFill>
        </p:grpSpPr>
        <p:sp>
          <p:nvSpPr>
            <p:cNvPr id="19" name="矩形 18"/>
            <p:cNvSpPr/>
            <p:nvPr>
              <p:custDataLst>
                <p:tags r:id="rId5"/>
              </p:custDataLst>
            </p:nvPr>
          </p:nvSpPr>
          <p:spPr bwMode="auto">
            <a:xfrm>
              <a:off x="3002037" y="3922395"/>
              <a:ext cx="7067433" cy="369332"/>
            </a:xfrm>
            <a:prstGeom prst="rect">
              <a:avLst/>
            </a:prstGeom>
            <a:solidFill>
              <a:srgbClr val="6B0261"/>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213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 name="TextBox 19"/>
            <p:cNvSpPr txBox="1"/>
            <p:nvPr>
              <p:custDataLst>
                <p:tags r:id="rId6"/>
              </p:custDataLst>
            </p:nvPr>
          </p:nvSpPr>
          <p:spPr>
            <a:xfrm>
              <a:off x="3023808" y="3939647"/>
              <a:ext cx="4085844" cy="3658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解决</a:t>
              </a:r>
              <a:r>
                <a:rPr kumimoji="0" lang="zh-CN" altLang="en-US" sz="2400"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方案</a:t>
              </a:r>
              <a:endParaRPr kumimoji="0" lang="zh-CN" altLang="en-US" sz="2400"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endParaRPr>
            </a:p>
          </p:txBody>
        </p:sp>
      </p:grpSp>
      <p:sp>
        <p:nvSpPr>
          <p:cNvPr id="21" name="TextBox 20"/>
          <p:cNvSpPr txBox="1"/>
          <p:nvPr>
            <p:custDataLst>
              <p:tags r:id="rId7"/>
            </p:custDataLst>
          </p:nvPr>
        </p:nvSpPr>
        <p:spPr>
          <a:xfrm>
            <a:off x="784860" y="1473835"/>
            <a:ext cx="10111740" cy="1691640"/>
          </a:xfrm>
          <a:prstGeom prst="rect">
            <a:avLst/>
          </a:prstGeom>
          <a:noFill/>
        </p:spPr>
        <p:txBody>
          <a:bodyPr wrap="square" lIns="91440" tIns="45720" rIns="91440" bIns="45720"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在创建别名映射时绕过内核，直接在进程的页表中操作会出现内核在执行诸如</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fork</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等操作时不知道这些页面的问题。在复制页面时，别名页面不会被复制到子进程的页表中，即使它们被复制了，也会错误地被别名到父进程的物理页面上。并且，如果采用强制在子进程中对所有规范页面触发</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CoW</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来解决该问题</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又是困难且</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高成本的。</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2" name="TextBox 21"/>
          <p:cNvSpPr txBox="1"/>
          <p:nvPr>
            <p:custDataLst>
              <p:tags r:id="rId8"/>
            </p:custDataLst>
          </p:nvPr>
        </p:nvSpPr>
        <p:spPr>
          <a:xfrm>
            <a:off x="784225" y="4011930"/>
            <a:ext cx="10111740" cy="2091690"/>
          </a:xfrm>
          <a:prstGeom prst="rect">
            <a:avLst/>
          </a:prstGeom>
          <a:noFill/>
        </p:spPr>
        <p:txBody>
          <a:bodyPr wrap="square" lIns="91440" tIns="45720" rIns="91440" bIns="45720" rtlCol="0">
            <a:spAutoFit/>
          </a:bodyPr>
          <a:lstStyle/>
          <a:p>
            <a:pPr marL="285750" marR="0" lvl="0" indent="-285750" algn="l" defTabSz="4572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创建一个临时的父物理地址到规范地址的映射。遍历父进程的每个规范地址的页表，读取生成的页表项中的物理页面。</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利用这个物理</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规范地址对的映射，我们在子进程中重建别名页表。在创建过程中同步父进程等待子进程完成</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创建操作，以确保内存状态的一致性。</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R="0" lvl="0" indent="0" algn="l" defTabSz="4572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任意多边形 32"/>
          <p:cNvSpPr/>
          <p:nvPr/>
        </p:nvSpPr>
        <p:spPr>
          <a:xfrm>
            <a:off x="2459462" y="2545873"/>
            <a:ext cx="2688855" cy="2650299"/>
          </a:xfrm>
          <a:custGeom>
            <a:avLst/>
            <a:gdLst>
              <a:gd name="connsiteX0" fmla="*/ 1586555 w 2235200"/>
              <a:gd name="connsiteY0" fmla="*/ 356377 h 2235200"/>
              <a:gd name="connsiteX1" fmla="*/ 1760418 w 2235200"/>
              <a:gd name="connsiteY1" fmla="*/ 210481 h 2235200"/>
              <a:gd name="connsiteX2" fmla="*/ 1899314 w 2235200"/>
              <a:gd name="connsiteY2" fmla="*/ 327029 h 2235200"/>
              <a:gd name="connsiteX3" fmla="*/ 1785825 w 2235200"/>
              <a:gd name="connsiteY3" fmla="*/ 523585 h 2235200"/>
              <a:gd name="connsiteX4" fmla="*/ 1966144 w 2235200"/>
              <a:gd name="connsiteY4" fmla="*/ 835907 h 2235200"/>
              <a:gd name="connsiteX5" fmla="*/ 2193112 w 2235200"/>
              <a:gd name="connsiteY5" fmla="*/ 835901 h 2235200"/>
              <a:gd name="connsiteX6" fmla="*/ 2224597 w 2235200"/>
              <a:gd name="connsiteY6" fmla="*/ 1014463 h 2235200"/>
              <a:gd name="connsiteX7" fmla="*/ 2011316 w 2235200"/>
              <a:gd name="connsiteY7" fmla="*/ 1092085 h 2235200"/>
              <a:gd name="connsiteX8" fmla="*/ 1948692 w 2235200"/>
              <a:gd name="connsiteY8" fmla="*/ 1447245 h 2235200"/>
              <a:gd name="connsiteX9" fmla="*/ 2122562 w 2235200"/>
              <a:gd name="connsiteY9" fmla="*/ 1593132 h 2235200"/>
              <a:gd name="connsiteX10" fmla="*/ 2031904 w 2235200"/>
              <a:gd name="connsiteY10" fmla="*/ 1750157 h 2235200"/>
              <a:gd name="connsiteX11" fmla="*/ 1818627 w 2235200"/>
              <a:gd name="connsiteY11" fmla="*/ 1672524 h 2235200"/>
              <a:gd name="connsiteX12" fmla="*/ 1542362 w 2235200"/>
              <a:gd name="connsiteY12" fmla="*/ 1904338 h 2235200"/>
              <a:gd name="connsiteX13" fmla="*/ 1581780 w 2235200"/>
              <a:gd name="connsiteY13" fmla="*/ 2127856 h 2235200"/>
              <a:gd name="connsiteX14" fmla="*/ 1411398 w 2235200"/>
              <a:gd name="connsiteY14" fmla="*/ 2189870 h 2235200"/>
              <a:gd name="connsiteX15" fmla="*/ 1297919 w 2235200"/>
              <a:gd name="connsiteY15" fmla="*/ 1993308 h 2235200"/>
              <a:gd name="connsiteX16" fmla="*/ 937280 w 2235200"/>
              <a:gd name="connsiteY16" fmla="*/ 1993308 h 2235200"/>
              <a:gd name="connsiteX17" fmla="*/ 823802 w 2235200"/>
              <a:gd name="connsiteY17" fmla="*/ 2189870 h 2235200"/>
              <a:gd name="connsiteX18" fmla="*/ 653420 w 2235200"/>
              <a:gd name="connsiteY18" fmla="*/ 2127856 h 2235200"/>
              <a:gd name="connsiteX19" fmla="*/ 692839 w 2235200"/>
              <a:gd name="connsiteY19" fmla="*/ 1904338 h 2235200"/>
              <a:gd name="connsiteX20" fmla="*/ 416574 w 2235200"/>
              <a:gd name="connsiteY20" fmla="*/ 1672524 h 2235200"/>
              <a:gd name="connsiteX21" fmla="*/ 203296 w 2235200"/>
              <a:gd name="connsiteY21" fmla="*/ 1750157 h 2235200"/>
              <a:gd name="connsiteX22" fmla="*/ 112638 w 2235200"/>
              <a:gd name="connsiteY22" fmla="*/ 1593132 h 2235200"/>
              <a:gd name="connsiteX23" fmla="*/ 286508 w 2235200"/>
              <a:gd name="connsiteY23" fmla="*/ 1447245 h 2235200"/>
              <a:gd name="connsiteX24" fmla="*/ 223884 w 2235200"/>
              <a:gd name="connsiteY24" fmla="*/ 1092085 h 2235200"/>
              <a:gd name="connsiteX25" fmla="*/ 10603 w 2235200"/>
              <a:gd name="connsiteY25" fmla="*/ 1014463 h 2235200"/>
              <a:gd name="connsiteX26" fmla="*/ 42088 w 2235200"/>
              <a:gd name="connsiteY26" fmla="*/ 835901 h 2235200"/>
              <a:gd name="connsiteX27" fmla="*/ 269055 w 2235200"/>
              <a:gd name="connsiteY27" fmla="*/ 835907 h 2235200"/>
              <a:gd name="connsiteX28" fmla="*/ 449374 w 2235200"/>
              <a:gd name="connsiteY28" fmla="*/ 523585 h 2235200"/>
              <a:gd name="connsiteX29" fmla="*/ 335886 w 2235200"/>
              <a:gd name="connsiteY29" fmla="*/ 327029 h 2235200"/>
              <a:gd name="connsiteX30" fmla="*/ 474782 w 2235200"/>
              <a:gd name="connsiteY30" fmla="*/ 210481 h 2235200"/>
              <a:gd name="connsiteX31" fmla="*/ 648645 w 2235200"/>
              <a:gd name="connsiteY31" fmla="*/ 356377 h 2235200"/>
              <a:gd name="connsiteX32" fmla="*/ 987535 w 2235200"/>
              <a:gd name="connsiteY32" fmla="*/ 233031 h 2235200"/>
              <a:gd name="connsiteX33" fmla="*/ 1026942 w 2235200"/>
              <a:gd name="connsiteY33" fmla="*/ 9511 h 2235200"/>
              <a:gd name="connsiteX34" fmla="*/ 1208258 w 2235200"/>
              <a:gd name="connsiteY34" fmla="*/ 9511 h 2235200"/>
              <a:gd name="connsiteX35" fmla="*/ 1247665 w 2235200"/>
              <a:gd name="connsiteY35" fmla="*/ 233031 h 2235200"/>
              <a:gd name="connsiteX36" fmla="*/ 1586555 w 2235200"/>
              <a:gd name="connsiteY36" fmla="*/ 356377 h 223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235200" h="2235200">
                <a:moveTo>
                  <a:pt x="1586555" y="356377"/>
                </a:moveTo>
                <a:lnTo>
                  <a:pt x="1760418" y="210481"/>
                </a:lnTo>
                <a:lnTo>
                  <a:pt x="1899314" y="327029"/>
                </a:lnTo>
                <a:lnTo>
                  <a:pt x="1785825" y="523585"/>
                </a:lnTo>
                <a:cubicBezTo>
                  <a:pt x="1866522" y="614364"/>
                  <a:pt x="1927876" y="720632"/>
                  <a:pt x="1966144" y="835907"/>
                </a:cubicBezTo>
                <a:lnTo>
                  <a:pt x="2193112" y="835901"/>
                </a:lnTo>
                <a:lnTo>
                  <a:pt x="2224597" y="1014463"/>
                </a:lnTo>
                <a:lnTo>
                  <a:pt x="2011316" y="1092085"/>
                </a:lnTo>
                <a:cubicBezTo>
                  <a:pt x="2014782" y="1213496"/>
                  <a:pt x="1993474" y="1334341"/>
                  <a:pt x="1948692" y="1447245"/>
                </a:cubicBezTo>
                <a:lnTo>
                  <a:pt x="2122562" y="1593132"/>
                </a:lnTo>
                <a:lnTo>
                  <a:pt x="2031904" y="1750157"/>
                </a:lnTo>
                <a:lnTo>
                  <a:pt x="1818627" y="1672524"/>
                </a:lnTo>
                <a:cubicBezTo>
                  <a:pt x="1743241" y="1767759"/>
                  <a:pt x="1649240" y="1846634"/>
                  <a:pt x="1542362" y="1904338"/>
                </a:cubicBezTo>
                <a:lnTo>
                  <a:pt x="1581780" y="2127856"/>
                </a:lnTo>
                <a:lnTo>
                  <a:pt x="1411398" y="2189870"/>
                </a:lnTo>
                <a:lnTo>
                  <a:pt x="1297919" y="1993308"/>
                </a:lnTo>
                <a:cubicBezTo>
                  <a:pt x="1178954" y="2017804"/>
                  <a:pt x="1056245" y="2017804"/>
                  <a:pt x="937280" y="1993308"/>
                </a:cubicBezTo>
                <a:lnTo>
                  <a:pt x="823802" y="2189870"/>
                </a:lnTo>
                <a:lnTo>
                  <a:pt x="653420" y="2127856"/>
                </a:lnTo>
                <a:lnTo>
                  <a:pt x="692839" y="1904338"/>
                </a:lnTo>
                <a:cubicBezTo>
                  <a:pt x="585961" y="1846634"/>
                  <a:pt x="491960" y="1767758"/>
                  <a:pt x="416574" y="1672524"/>
                </a:cubicBezTo>
                <a:lnTo>
                  <a:pt x="203296" y="1750157"/>
                </a:lnTo>
                <a:lnTo>
                  <a:pt x="112638" y="1593132"/>
                </a:lnTo>
                <a:lnTo>
                  <a:pt x="286508" y="1447245"/>
                </a:lnTo>
                <a:cubicBezTo>
                  <a:pt x="241726" y="1334341"/>
                  <a:pt x="220417" y="1213496"/>
                  <a:pt x="223884" y="1092085"/>
                </a:cubicBezTo>
                <a:lnTo>
                  <a:pt x="10603" y="1014463"/>
                </a:lnTo>
                <a:lnTo>
                  <a:pt x="42088" y="835901"/>
                </a:lnTo>
                <a:lnTo>
                  <a:pt x="269055" y="835907"/>
                </a:lnTo>
                <a:cubicBezTo>
                  <a:pt x="307323" y="720632"/>
                  <a:pt x="368677" y="614363"/>
                  <a:pt x="449374" y="523585"/>
                </a:cubicBezTo>
                <a:lnTo>
                  <a:pt x="335886" y="327029"/>
                </a:lnTo>
                <a:lnTo>
                  <a:pt x="474782" y="210481"/>
                </a:lnTo>
                <a:lnTo>
                  <a:pt x="648645" y="356377"/>
                </a:lnTo>
                <a:cubicBezTo>
                  <a:pt x="752057" y="292669"/>
                  <a:pt x="867366" y="250701"/>
                  <a:pt x="987535" y="233031"/>
                </a:cubicBezTo>
                <a:lnTo>
                  <a:pt x="1026942" y="9511"/>
                </a:lnTo>
                <a:lnTo>
                  <a:pt x="1208258" y="9511"/>
                </a:lnTo>
                <a:lnTo>
                  <a:pt x="1247665" y="233031"/>
                </a:lnTo>
                <a:cubicBezTo>
                  <a:pt x="1367834" y="250700"/>
                  <a:pt x="1483142" y="292669"/>
                  <a:pt x="1586555" y="356377"/>
                </a:cubicBezTo>
                <a:close/>
              </a:path>
            </a:pathLst>
          </a:custGeom>
          <a:solidFill>
            <a:srgbClr val="6B0261"/>
          </a:solidFill>
          <a:ln w="38100" cap="flat" cmpd="sng" algn="ctr">
            <a:noFill/>
            <a:prstDash val="solid"/>
          </a:ln>
          <a:effectLst/>
          <a:scene3d>
            <a:camera prst="orthographicFront">
              <a:rot lat="0" lon="0" rev="0"/>
            </a:camera>
            <a:lightRig rig="glow" dir="t">
              <a:rot lat="0" lon="0" rev="4800000"/>
            </a:lightRig>
          </a:scene3d>
          <a:sp3d prstMaterial="matte">
            <a:bevelT w="127000" h="19050"/>
          </a:sp3d>
        </p:spPr>
        <p:txBody>
          <a:bodyPr spcFirstLastPara="0" vert="horz" wrap="square" lIns="501445" tIns="575655" rIns="501445" bIns="614747" numCol="1" spcCol="953" anchor="ctr" anchorCtr="0">
            <a:noAutofit/>
          </a:bodyPr>
          <a:lstStyle/>
          <a:p>
            <a:pPr marL="0" marR="0" lvl="0" indent="0" algn="ctr" defTabSz="1822450" rtl="0" eaLnBrk="1" fontAlgn="auto" latinLnBrk="0" hangingPunct="1">
              <a:lnSpc>
                <a:spcPct val="90000"/>
              </a:lnSpc>
              <a:spcBef>
                <a:spcPct val="0"/>
              </a:spcBef>
              <a:spcAft>
                <a:spcPct val="35000"/>
              </a:spcAft>
              <a:buClrTx/>
              <a:buSzTx/>
              <a:buFontTx/>
              <a:buNone/>
              <a:defRPr/>
            </a:pPr>
            <a:endParaRPr kumimoji="0" lang="en-US" sz="4135"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34" name="椭圆 33"/>
          <p:cNvSpPr/>
          <p:nvPr/>
        </p:nvSpPr>
        <p:spPr>
          <a:xfrm>
            <a:off x="3060810" y="3139452"/>
            <a:ext cx="1486159" cy="1463141"/>
          </a:xfrm>
          <a:prstGeom prst="ellipse">
            <a:avLst/>
          </a:prstGeom>
          <a:solidFill>
            <a:srgbClr val="FAFAFA"/>
          </a:solidFill>
          <a:ln w="120650" cap="flat" cmpd="sng" algn="ctr">
            <a:solidFill>
              <a:schemeClr val="bg1">
                <a:lumMod val="65000"/>
              </a:schemeClr>
            </a:solidFill>
            <a:prstDash val="solid"/>
          </a:ln>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000" b="0" i="0" u="none" strike="noStrike" kern="0" cap="none" spc="0" normalizeH="0" baseline="0" noProof="0" dirty="0">
              <a:ln w="18415" cmpd="sng">
                <a:noFill/>
                <a:prstDash val="solid"/>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任意多边形 34"/>
          <p:cNvSpPr/>
          <p:nvPr/>
        </p:nvSpPr>
        <p:spPr>
          <a:xfrm rot="453073">
            <a:off x="1287769" y="4347684"/>
            <a:ext cx="1967391" cy="1936920"/>
          </a:xfrm>
          <a:custGeom>
            <a:avLst/>
            <a:gdLst>
              <a:gd name="connsiteX0" fmla="*/ 1586555 w 2235200"/>
              <a:gd name="connsiteY0" fmla="*/ 356377 h 2235200"/>
              <a:gd name="connsiteX1" fmla="*/ 1760418 w 2235200"/>
              <a:gd name="connsiteY1" fmla="*/ 210481 h 2235200"/>
              <a:gd name="connsiteX2" fmla="*/ 1899314 w 2235200"/>
              <a:gd name="connsiteY2" fmla="*/ 327029 h 2235200"/>
              <a:gd name="connsiteX3" fmla="*/ 1785825 w 2235200"/>
              <a:gd name="connsiteY3" fmla="*/ 523585 h 2235200"/>
              <a:gd name="connsiteX4" fmla="*/ 1966144 w 2235200"/>
              <a:gd name="connsiteY4" fmla="*/ 835907 h 2235200"/>
              <a:gd name="connsiteX5" fmla="*/ 2193112 w 2235200"/>
              <a:gd name="connsiteY5" fmla="*/ 835901 h 2235200"/>
              <a:gd name="connsiteX6" fmla="*/ 2224597 w 2235200"/>
              <a:gd name="connsiteY6" fmla="*/ 1014463 h 2235200"/>
              <a:gd name="connsiteX7" fmla="*/ 2011316 w 2235200"/>
              <a:gd name="connsiteY7" fmla="*/ 1092085 h 2235200"/>
              <a:gd name="connsiteX8" fmla="*/ 1948692 w 2235200"/>
              <a:gd name="connsiteY8" fmla="*/ 1447245 h 2235200"/>
              <a:gd name="connsiteX9" fmla="*/ 2122562 w 2235200"/>
              <a:gd name="connsiteY9" fmla="*/ 1593132 h 2235200"/>
              <a:gd name="connsiteX10" fmla="*/ 2031904 w 2235200"/>
              <a:gd name="connsiteY10" fmla="*/ 1750157 h 2235200"/>
              <a:gd name="connsiteX11" fmla="*/ 1818627 w 2235200"/>
              <a:gd name="connsiteY11" fmla="*/ 1672524 h 2235200"/>
              <a:gd name="connsiteX12" fmla="*/ 1542362 w 2235200"/>
              <a:gd name="connsiteY12" fmla="*/ 1904338 h 2235200"/>
              <a:gd name="connsiteX13" fmla="*/ 1581780 w 2235200"/>
              <a:gd name="connsiteY13" fmla="*/ 2127856 h 2235200"/>
              <a:gd name="connsiteX14" fmla="*/ 1411398 w 2235200"/>
              <a:gd name="connsiteY14" fmla="*/ 2189870 h 2235200"/>
              <a:gd name="connsiteX15" fmla="*/ 1297919 w 2235200"/>
              <a:gd name="connsiteY15" fmla="*/ 1993308 h 2235200"/>
              <a:gd name="connsiteX16" fmla="*/ 937280 w 2235200"/>
              <a:gd name="connsiteY16" fmla="*/ 1993308 h 2235200"/>
              <a:gd name="connsiteX17" fmla="*/ 823802 w 2235200"/>
              <a:gd name="connsiteY17" fmla="*/ 2189870 h 2235200"/>
              <a:gd name="connsiteX18" fmla="*/ 653420 w 2235200"/>
              <a:gd name="connsiteY18" fmla="*/ 2127856 h 2235200"/>
              <a:gd name="connsiteX19" fmla="*/ 692839 w 2235200"/>
              <a:gd name="connsiteY19" fmla="*/ 1904338 h 2235200"/>
              <a:gd name="connsiteX20" fmla="*/ 416574 w 2235200"/>
              <a:gd name="connsiteY20" fmla="*/ 1672524 h 2235200"/>
              <a:gd name="connsiteX21" fmla="*/ 203296 w 2235200"/>
              <a:gd name="connsiteY21" fmla="*/ 1750157 h 2235200"/>
              <a:gd name="connsiteX22" fmla="*/ 112638 w 2235200"/>
              <a:gd name="connsiteY22" fmla="*/ 1593132 h 2235200"/>
              <a:gd name="connsiteX23" fmla="*/ 286508 w 2235200"/>
              <a:gd name="connsiteY23" fmla="*/ 1447245 h 2235200"/>
              <a:gd name="connsiteX24" fmla="*/ 223884 w 2235200"/>
              <a:gd name="connsiteY24" fmla="*/ 1092085 h 2235200"/>
              <a:gd name="connsiteX25" fmla="*/ 10603 w 2235200"/>
              <a:gd name="connsiteY25" fmla="*/ 1014463 h 2235200"/>
              <a:gd name="connsiteX26" fmla="*/ 42088 w 2235200"/>
              <a:gd name="connsiteY26" fmla="*/ 835901 h 2235200"/>
              <a:gd name="connsiteX27" fmla="*/ 269055 w 2235200"/>
              <a:gd name="connsiteY27" fmla="*/ 835907 h 2235200"/>
              <a:gd name="connsiteX28" fmla="*/ 449374 w 2235200"/>
              <a:gd name="connsiteY28" fmla="*/ 523585 h 2235200"/>
              <a:gd name="connsiteX29" fmla="*/ 335886 w 2235200"/>
              <a:gd name="connsiteY29" fmla="*/ 327029 h 2235200"/>
              <a:gd name="connsiteX30" fmla="*/ 474782 w 2235200"/>
              <a:gd name="connsiteY30" fmla="*/ 210481 h 2235200"/>
              <a:gd name="connsiteX31" fmla="*/ 648645 w 2235200"/>
              <a:gd name="connsiteY31" fmla="*/ 356377 h 2235200"/>
              <a:gd name="connsiteX32" fmla="*/ 987535 w 2235200"/>
              <a:gd name="connsiteY32" fmla="*/ 233031 h 2235200"/>
              <a:gd name="connsiteX33" fmla="*/ 1026942 w 2235200"/>
              <a:gd name="connsiteY33" fmla="*/ 9511 h 2235200"/>
              <a:gd name="connsiteX34" fmla="*/ 1208258 w 2235200"/>
              <a:gd name="connsiteY34" fmla="*/ 9511 h 2235200"/>
              <a:gd name="connsiteX35" fmla="*/ 1247665 w 2235200"/>
              <a:gd name="connsiteY35" fmla="*/ 233031 h 2235200"/>
              <a:gd name="connsiteX36" fmla="*/ 1586555 w 2235200"/>
              <a:gd name="connsiteY36" fmla="*/ 356377 h 223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235200" h="2235200">
                <a:moveTo>
                  <a:pt x="1586555" y="356377"/>
                </a:moveTo>
                <a:lnTo>
                  <a:pt x="1760418" y="210481"/>
                </a:lnTo>
                <a:lnTo>
                  <a:pt x="1899314" y="327029"/>
                </a:lnTo>
                <a:lnTo>
                  <a:pt x="1785825" y="523585"/>
                </a:lnTo>
                <a:cubicBezTo>
                  <a:pt x="1866522" y="614364"/>
                  <a:pt x="1927876" y="720632"/>
                  <a:pt x="1966144" y="835907"/>
                </a:cubicBezTo>
                <a:lnTo>
                  <a:pt x="2193112" y="835901"/>
                </a:lnTo>
                <a:lnTo>
                  <a:pt x="2224597" y="1014463"/>
                </a:lnTo>
                <a:lnTo>
                  <a:pt x="2011316" y="1092085"/>
                </a:lnTo>
                <a:cubicBezTo>
                  <a:pt x="2014782" y="1213496"/>
                  <a:pt x="1993474" y="1334341"/>
                  <a:pt x="1948692" y="1447245"/>
                </a:cubicBezTo>
                <a:lnTo>
                  <a:pt x="2122562" y="1593132"/>
                </a:lnTo>
                <a:lnTo>
                  <a:pt x="2031904" y="1750157"/>
                </a:lnTo>
                <a:lnTo>
                  <a:pt x="1818627" y="1672524"/>
                </a:lnTo>
                <a:cubicBezTo>
                  <a:pt x="1743241" y="1767759"/>
                  <a:pt x="1649240" y="1846634"/>
                  <a:pt x="1542362" y="1904338"/>
                </a:cubicBezTo>
                <a:lnTo>
                  <a:pt x="1581780" y="2127856"/>
                </a:lnTo>
                <a:lnTo>
                  <a:pt x="1411398" y="2189870"/>
                </a:lnTo>
                <a:lnTo>
                  <a:pt x="1297919" y="1993308"/>
                </a:lnTo>
                <a:cubicBezTo>
                  <a:pt x="1178954" y="2017804"/>
                  <a:pt x="1056245" y="2017804"/>
                  <a:pt x="937280" y="1993308"/>
                </a:cubicBezTo>
                <a:lnTo>
                  <a:pt x="823802" y="2189870"/>
                </a:lnTo>
                <a:lnTo>
                  <a:pt x="653420" y="2127856"/>
                </a:lnTo>
                <a:lnTo>
                  <a:pt x="692839" y="1904338"/>
                </a:lnTo>
                <a:cubicBezTo>
                  <a:pt x="585961" y="1846634"/>
                  <a:pt x="491960" y="1767758"/>
                  <a:pt x="416574" y="1672524"/>
                </a:cubicBezTo>
                <a:lnTo>
                  <a:pt x="203296" y="1750157"/>
                </a:lnTo>
                <a:lnTo>
                  <a:pt x="112638" y="1593132"/>
                </a:lnTo>
                <a:lnTo>
                  <a:pt x="286508" y="1447245"/>
                </a:lnTo>
                <a:cubicBezTo>
                  <a:pt x="241726" y="1334341"/>
                  <a:pt x="220417" y="1213496"/>
                  <a:pt x="223884" y="1092085"/>
                </a:cubicBezTo>
                <a:lnTo>
                  <a:pt x="10603" y="1014463"/>
                </a:lnTo>
                <a:lnTo>
                  <a:pt x="42088" y="835901"/>
                </a:lnTo>
                <a:lnTo>
                  <a:pt x="269055" y="835907"/>
                </a:lnTo>
                <a:cubicBezTo>
                  <a:pt x="307323" y="720632"/>
                  <a:pt x="368677" y="614363"/>
                  <a:pt x="449374" y="523585"/>
                </a:cubicBezTo>
                <a:lnTo>
                  <a:pt x="335886" y="327029"/>
                </a:lnTo>
                <a:lnTo>
                  <a:pt x="474782" y="210481"/>
                </a:lnTo>
                <a:lnTo>
                  <a:pt x="648645" y="356377"/>
                </a:lnTo>
                <a:cubicBezTo>
                  <a:pt x="752057" y="292669"/>
                  <a:pt x="867366" y="250701"/>
                  <a:pt x="987535" y="233031"/>
                </a:cubicBezTo>
                <a:lnTo>
                  <a:pt x="1026942" y="9511"/>
                </a:lnTo>
                <a:lnTo>
                  <a:pt x="1208258" y="9511"/>
                </a:lnTo>
                <a:lnTo>
                  <a:pt x="1247665" y="233031"/>
                </a:lnTo>
                <a:cubicBezTo>
                  <a:pt x="1367834" y="250700"/>
                  <a:pt x="1483142" y="292669"/>
                  <a:pt x="1586555" y="356377"/>
                </a:cubicBezTo>
                <a:close/>
              </a:path>
            </a:pathLst>
          </a:custGeom>
          <a:solidFill>
            <a:srgbClr val="6B0261"/>
          </a:solidFill>
          <a:ln w="38100" cap="flat" cmpd="sng" algn="ctr">
            <a:noFill/>
            <a:prstDash val="solid"/>
          </a:ln>
          <a:effectLst/>
          <a:scene3d>
            <a:camera prst="orthographicFront">
              <a:rot lat="0" lon="0" rev="0"/>
            </a:camera>
            <a:lightRig rig="glow" dir="t">
              <a:rot lat="0" lon="0" rev="4800000"/>
            </a:lightRig>
          </a:scene3d>
          <a:sp3d prstMaterial="matte">
            <a:bevelT w="127000" h="19050"/>
          </a:sp3d>
        </p:spPr>
        <p:txBody>
          <a:bodyPr spcFirstLastPara="0" vert="horz" wrap="square" lIns="501445" tIns="575655" rIns="501445" bIns="614747" numCol="1" spcCol="953" anchor="ctr" anchorCtr="0">
            <a:noAutofit/>
          </a:bodyPr>
          <a:lstStyle/>
          <a:p>
            <a:pPr marL="0" marR="0" lvl="0" indent="0" algn="ctr" defTabSz="1822450" rtl="0" eaLnBrk="1" fontAlgn="auto" latinLnBrk="0" hangingPunct="1">
              <a:lnSpc>
                <a:spcPct val="90000"/>
              </a:lnSpc>
              <a:spcBef>
                <a:spcPct val="0"/>
              </a:spcBef>
              <a:spcAft>
                <a:spcPct val="35000"/>
              </a:spcAft>
              <a:buClrTx/>
              <a:buSzTx/>
              <a:buFontTx/>
              <a:buNone/>
              <a:defRPr/>
            </a:pPr>
            <a:endParaRPr kumimoji="0" lang="en-US" sz="4135"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36" name="椭圆 35"/>
          <p:cNvSpPr/>
          <p:nvPr/>
        </p:nvSpPr>
        <p:spPr>
          <a:xfrm>
            <a:off x="1707544" y="4767428"/>
            <a:ext cx="1127837" cy="1110369"/>
          </a:xfrm>
          <a:prstGeom prst="ellipse">
            <a:avLst/>
          </a:prstGeom>
          <a:solidFill>
            <a:srgbClr val="FAFAFA"/>
          </a:solidFill>
          <a:ln w="101600" cap="flat" cmpd="sng" algn="ctr">
            <a:solidFill>
              <a:schemeClr val="bg1">
                <a:lumMod val="65000"/>
              </a:schemeClr>
            </a:solidFill>
            <a:prstDash val="solid"/>
          </a:ln>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000" b="0" i="0" u="none" strike="noStrike" kern="0" cap="none" spc="0" normalizeH="0" baseline="0" noProof="0" dirty="0">
              <a:ln w="18415" cmpd="sng">
                <a:noFill/>
                <a:prstDash val="solid"/>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7" name="任意多边形 36"/>
          <p:cNvSpPr/>
          <p:nvPr/>
        </p:nvSpPr>
        <p:spPr>
          <a:xfrm rot="2431848">
            <a:off x="639997" y="2594865"/>
            <a:ext cx="1745361" cy="1718331"/>
          </a:xfrm>
          <a:custGeom>
            <a:avLst/>
            <a:gdLst>
              <a:gd name="connsiteX0" fmla="*/ 1586555 w 2235200"/>
              <a:gd name="connsiteY0" fmla="*/ 356377 h 2235200"/>
              <a:gd name="connsiteX1" fmla="*/ 1760418 w 2235200"/>
              <a:gd name="connsiteY1" fmla="*/ 210481 h 2235200"/>
              <a:gd name="connsiteX2" fmla="*/ 1899314 w 2235200"/>
              <a:gd name="connsiteY2" fmla="*/ 327029 h 2235200"/>
              <a:gd name="connsiteX3" fmla="*/ 1785825 w 2235200"/>
              <a:gd name="connsiteY3" fmla="*/ 523585 h 2235200"/>
              <a:gd name="connsiteX4" fmla="*/ 1966144 w 2235200"/>
              <a:gd name="connsiteY4" fmla="*/ 835907 h 2235200"/>
              <a:gd name="connsiteX5" fmla="*/ 2193112 w 2235200"/>
              <a:gd name="connsiteY5" fmla="*/ 835901 h 2235200"/>
              <a:gd name="connsiteX6" fmla="*/ 2224597 w 2235200"/>
              <a:gd name="connsiteY6" fmla="*/ 1014463 h 2235200"/>
              <a:gd name="connsiteX7" fmla="*/ 2011316 w 2235200"/>
              <a:gd name="connsiteY7" fmla="*/ 1092085 h 2235200"/>
              <a:gd name="connsiteX8" fmla="*/ 1948692 w 2235200"/>
              <a:gd name="connsiteY8" fmla="*/ 1447245 h 2235200"/>
              <a:gd name="connsiteX9" fmla="*/ 2122562 w 2235200"/>
              <a:gd name="connsiteY9" fmla="*/ 1593132 h 2235200"/>
              <a:gd name="connsiteX10" fmla="*/ 2031904 w 2235200"/>
              <a:gd name="connsiteY10" fmla="*/ 1750157 h 2235200"/>
              <a:gd name="connsiteX11" fmla="*/ 1818627 w 2235200"/>
              <a:gd name="connsiteY11" fmla="*/ 1672524 h 2235200"/>
              <a:gd name="connsiteX12" fmla="*/ 1542362 w 2235200"/>
              <a:gd name="connsiteY12" fmla="*/ 1904338 h 2235200"/>
              <a:gd name="connsiteX13" fmla="*/ 1581780 w 2235200"/>
              <a:gd name="connsiteY13" fmla="*/ 2127856 h 2235200"/>
              <a:gd name="connsiteX14" fmla="*/ 1411398 w 2235200"/>
              <a:gd name="connsiteY14" fmla="*/ 2189870 h 2235200"/>
              <a:gd name="connsiteX15" fmla="*/ 1297919 w 2235200"/>
              <a:gd name="connsiteY15" fmla="*/ 1993308 h 2235200"/>
              <a:gd name="connsiteX16" fmla="*/ 937280 w 2235200"/>
              <a:gd name="connsiteY16" fmla="*/ 1993308 h 2235200"/>
              <a:gd name="connsiteX17" fmla="*/ 823802 w 2235200"/>
              <a:gd name="connsiteY17" fmla="*/ 2189870 h 2235200"/>
              <a:gd name="connsiteX18" fmla="*/ 653420 w 2235200"/>
              <a:gd name="connsiteY18" fmla="*/ 2127856 h 2235200"/>
              <a:gd name="connsiteX19" fmla="*/ 692839 w 2235200"/>
              <a:gd name="connsiteY19" fmla="*/ 1904338 h 2235200"/>
              <a:gd name="connsiteX20" fmla="*/ 416574 w 2235200"/>
              <a:gd name="connsiteY20" fmla="*/ 1672524 h 2235200"/>
              <a:gd name="connsiteX21" fmla="*/ 203296 w 2235200"/>
              <a:gd name="connsiteY21" fmla="*/ 1750157 h 2235200"/>
              <a:gd name="connsiteX22" fmla="*/ 112638 w 2235200"/>
              <a:gd name="connsiteY22" fmla="*/ 1593132 h 2235200"/>
              <a:gd name="connsiteX23" fmla="*/ 286508 w 2235200"/>
              <a:gd name="connsiteY23" fmla="*/ 1447245 h 2235200"/>
              <a:gd name="connsiteX24" fmla="*/ 223884 w 2235200"/>
              <a:gd name="connsiteY24" fmla="*/ 1092085 h 2235200"/>
              <a:gd name="connsiteX25" fmla="*/ 10603 w 2235200"/>
              <a:gd name="connsiteY25" fmla="*/ 1014463 h 2235200"/>
              <a:gd name="connsiteX26" fmla="*/ 42088 w 2235200"/>
              <a:gd name="connsiteY26" fmla="*/ 835901 h 2235200"/>
              <a:gd name="connsiteX27" fmla="*/ 269055 w 2235200"/>
              <a:gd name="connsiteY27" fmla="*/ 835907 h 2235200"/>
              <a:gd name="connsiteX28" fmla="*/ 449374 w 2235200"/>
              <a:gd name="connsiteY28" fmla="*/ 523585 h 2235200"/>
              <a:gd name="connsiteX29" fmla="*/ 335886 w 2235200"/>
              <a:gd name="connsiteY29" fmla="*/ 327029 h 2235200"/>
              <a:gd name="connsiteX30" fmla="*/ 474782 w 2235200"/>
              <a:gd name="connsiteY30" fmla="*/ 210481 h 2235200"/>
              <a:gd name="connsiteX31" fmla="*/ 648645 w 2235200"/>
              <a:gd name="connsiteY31" fmla="*/ 356377 h 2235200"/>
              <a:gd name="connsiteX32" fmla="*/ 987535 w 2235200"/>
              <a:gd name="connsiteY32" fmla="*/ 233031 h 2235200"/>
              <a:gd name="connsiteX33" fmla="*/ 1026942 w 2235200"/>
              <a:gd name="connsiteY33" fmla="*/ 9511 h 2235200"/>
              <a:gd name="connsiteX34" fmla="*/ 1208258 w 2235200"/>
              <a:gd name="connsiteY34" fmla="*/ 9511 h 2235200"/>
              <a:gd name="connsiteX35" fmla="*/ 1247665 w 2235200"/>
              <a:gd name="connsiteY35" fmla="*/ 233031 h 2235200"/>
              <a:gd name="connsiteX36" fmla="*/ 1586555 w 2235200"/>
              <a:gd name="connsiteY36" fmla="*/ 356377 h 223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235200" h="2235200">
                <a:moveTo>
                  <a:pt x="1586555" y="356377"/>
                </a:moveTo>
                <a:lnTo>
                  <a:pt x="1760418" y="210481"/>
                </a:lnTo>
                <a:lnTo>
                  <a:pt x="1899314" y="327029"/>
                </a:lnTo>
                <a:lnTo>
                  <a:pt x="1785825" y="523585"/>
                </a:lnTo>
                <a:cubicBezTo>
                  <a:pt x="1866522" y="614364"/>
                  <a:pt x="1927876" y="720632"/>
                  <a:pt x="1966144" y="835907"/>
                </a:cubicBezTo>
                <a:lnTo>
                  <a:pt x="2193112" y="835901"/>
                </a:lnTo>
                <a:lnTo>
                  <a:pt x="2224597" y="1014463"/>
                </a:lnTo>
                <a:lnTo>
                  <a:pt x="2011316" y="1092085"/>
                </a:lnTo>
                <a:cubicBezTo>
                  <a:pt x="2014782" y="1213496"/>
                  <a:pt x="1993474" y="1334341"/>
                  <a:pt x="1948692" y="1447245"/>
                </a:cubicBezTo>
                <a:lnTo>
                  <a:pt x="2122562" y="1593132"/>
                </a:lnTo>
                <a:lnTo>
                  <a:pt x="2031904" y="1750157"/>
                </a:lnTo>
                <a:lnTo>
                  <a:pt x="1818627" y="1672524"/>
                </a:lnTo>
                <a:cubicBezTo>
                  <a:pt x="1743241" y="1767759"/>
                  <a:pt x="1649240" y="1846634"/>
                  <a:pt x="1542362" y="1904338"/>
                </a:cubicBezTo>
                <a:lnTo>
                  <a:pt x="1581780" y="2127856"/>
                </a:lnTo>
                <a:lnTo>
                  <a:pt x="1411398" y="2189870"/>
                </a:lnTo>
                <a:lnTo>
                  <a:pt x="1297919" y="1993308"/>
                </a:lnTo>
                <a:cubicBezTo>
                  <a:pt x="1178954" y="2017804"/>
                  <a:pt x="1056245" y="2017804"/>
                  <a:pt x="937280" y="1993308"/>
                </a:cubicBezTo>
                <a:lnTo>
                  <a:pt x="823802" y="2189870"/>
                </a:lnTo>
                <a:lnTo>
                  <a:pt x="653420" y="2127856"/>
                </a:lnTo>
                <a:lnTo>
                  <a:pt x="692839" y="1904338"/>
                </a:lnTo>
                <a:cubicBezTo>
                  <a:pt x="585961" y="1846634"/>
                  <a:pt x="491960" y="1767758"/>
                  <a:pt x="416574" y="1672524"/>
                </a:cubicBezTo>
                <a:lnTo>
                  <a:pt x="203296" y="1750157"/>
                </a:lnTo>
                <a:lnTo>
                  <a:pt x="112638" y="1593132"/>
                </a:lnTo>
                <a:lnTo>
                  <a:pt x="286508" y="1447245"/>
                </a:lnTo>
                <a:cubicBezTo>
                  <a:pt x="241726" y="1334341"/>
                  <a:pt x="220417" y="1213496"/>
                  <a:pt x="223884" y="1092085"/>
                </a:cubicBezTo>
                <a:lnTo>
                  <a:pt x="10603" y="1014463"/>
                </a:lnTo>
                <a:lnTo>
                  <a:pt x="42088" y="835901"/>
                </a:lnTo>
                <a:lnTo>
                  <a:pt x="269055" y="835907"/>
                </a:lnTo>
                <a:cubicBezTo>
                  <a:pt x="307323" y="720632"/>
                  <a:pt x="368677" y="614363"/>
                  <a:pt x="449374" y="523585"/>
                </a:cubicBezTo>
                <a:lnTo>
                  <a:pt x="335886" y="327029"/>
                </a:lnTo>
                <a:lnTo>
                  <a:pt x="474782" y="210481"/>
                </a:lnTo>
                <a:lnTo>
                  <a:pt x="648645" y="356377"/>
                </a:lnTo>
                <a:cubicBezTo>
                  <a:pt x="752057" y="292669"/>
                  <a:pt x="867366" y="250701"/>
                  <a:pt x="987535" y="233031"/>
                </a:cubicBezTo>
                <a:lnTo>
                  <a:pt x="1026942" y="9511"/>
                </a:lnTo>
                <a:lnTo>
                  <a:pt x="1208258" y="9511"/>
                </a:lnTo>
                <a:lnTo>
                  <a:pt x="1247665" y="233031"/>
                </a:lnTo>
                <a:cubicBezTo>
                  <a:pt x="1367834" y="250700"/>
                  <a:pt x="1483142" y="292669"/>
                  <a:pt x="1586555" y="356377"/>
                </a:cubicBezTo>
                <a:close/>
              </a:path>
            </a:pathLst>
          </a:custGeom>
          <a:solidFill>
            <a:srgbClr val="6B0261"/>
          </a:solidFill>
          <a:ln w="38100" cap="flat" cmpd="sng" algn="ctr">
            <a:noFill/>
            <a:prstDash val="solid"/>
          </a:ln>
          <a:effectLst/>
          <a:scene3d>
            <a:camera prst="orthographicFront">
              <a:rot lat="0" lon="0" rev="0"/>
            </a:camera>
            <a:lightRig rig="glow" dir="t">
              <a:rot lat="0" lon="0" rev="4800000"/>
            </a:lightRig>
          </a:scene3d>
          <a:sp3d prstMaterial="matte">
            <a:bevelT w="127000" h="19050"/>
          </a:sp3d>
        </p:spPr>
        <p:txBody>
          <a:bodyPr spcFirstLastPara="0" vert="horz" wrap="square" lIns="501445" tIns="575655" rIns="501445" bIns="614747" numCol="1" spcCol="953" anchor="ctr" anchorCtr="0">
            <a:noAutofit/>
          </a:bodyPr>
          <a:lstStyle/>
          <a:p>
            <a:pPr marL="0" marR="0" lvl="0" indent="0" algn="ctr" defTabSz="1822450" rtl="0" eaLnBrk="1" fontAlgn="auto" latinLnBrk="0" hangingPunct="1">
              <a:lnSpc>
                <a:spcPct val="90000"/>
              </a:lnSpc>
              <a:spcBef>
                <a:spcPct val="0"/>
              </a:spcBef>
              <a:spcAft>
                <a:spcPct val="35000"/>
              </a:spcAft>
              <a:buClrTx/>
              <a:buSzTx/>
              <a:buFontTx/>
              <a:buNone/>
              <a:defRPr/>
            </a:pPr>
            <a:endParaRPr kumimoji="0" lang="en-US" sz="4135"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38" name="椭圆 37"/>
          <p:cNvSpPr/>
          <p:nvPr/>
        </p:nvSpPr>
        <p:spPr>
          <a:xfrm>
            <a:off x="1011922" y="2961501"/>
            <a:ext cx="1000556" cy="985059"/>
          </a:xfrm>
          <a:prstGeom prst="ellipse">
            <a:avLst/>
          </a:prstGeom>
          <a:solidFill>
            <a:srgbClr val="FAFAFA"/>
          </a:solidFill>
          <a:ln w="101600" cap="flat" cmpd="sng" algn="ctr">
            <a:solidFill>
              <a:schemeClr val="bg1">
                <a:lumMod val="65000"/>
              </a:schemeClr>
            </a:solidFill>
            <a:prstDash val="solid"/>
          </a:ln>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65" b="0" i="0" u="none" strike="noStrike" kern="0" cap="none" spc="0" normalizeH="0" baseline="0" noProof="0" dirty="0">
              <a:ln w="18415" cmpd="sng">
                <a:noFill/>
                <a:prstDash val="solid"/>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任意多边形 38"/>
          <p:cNvSpPr/>
          <p:nvPr/>
        </p:nvSpPr>
        <p:spPr>
          <a:xfrm rot="2431848">
            <a:off x="1893418" y="1420086"/>
            <a:ext cx="1483419" cy="1460444"/>
          </a:xfrm>
          <a:custGeom>
            <a:avLst/>
            <a:gdLst>
              <a:gd name="connsiteX0" fmla="*/ 1586555 w 2235200"/>
              <a:gd name="connsiteY0" fmla="*/ 356377 h 2235200"/>
              <a:gd name="connsiteX1" fmla="*/ 1760418 w 2235200"/>
              <a:gd name="connsiteY1" fmla="*/ 210481 h 2235200"/>
              <a:gd name="connsiteX2" fmla="*/ 1899314 w 2235200"/>
              <a:gd name="connsiteY2" fmla="*/ 327029 h 2235200"/>
              <a:gd name="connsiteX3" fmla="*/ 1785825 w 2235200"/>
              <a:gd name="connsiteY3" fmla="*/ 523585 h 2235200"/>
              <a:gd name="connsiteX4" fmla="*/ 1966144 w 2235200"/>
              <a:gd name="connsiteY4" fmla="*/ 835907 h 2235200"/>
              <a:gd name="connsiteX5" fmla="*/ 2193112 w 2235200"/>
              <a:gd name="connsiteY5" fmla="*/ 835901 h 2235200"/>
              <a:gd name="connsiteX6" fmla="*/ 2224597 w 2235200"/>
              <a:gd name="connsiteY6" fmla="*/ 1014463 h 2235200"/>
              <a:gd name="connsiteX7" fmla="*/ 2011316 w 2235200"/>
              <a:gd name="connsiteY7" fmla="*/ 1092085 h 2235200"/>
              <a:gd name="connsiteX8" fmla="*/ 1948692 w 2235200"/>
              <a:gd name="connsiteY8" fmla="*/ 1447245 h 2235200"/>
              <a:gd name="connsiteX9" fmla="*/ 2122562 w 2235200"/>
              <a:gd name="connsiteY9" fmla="*/ 1593132 h 2235200"/>
              <a:gd name="connsiteX10" fmla="*/ 2031904 w 2235200"/>
              <a:gd name="connsiteY10" fmla="*/ 1750157 h 2235200"/>
              <a:gd name="connsiteX11" fmla="*/ 1818627 w 2235200"/>
              <a:gd name="connsiteY11" fmla="*/ 1672524 h 2235200"/>
              <a:gd name="connsiteX12" fmla="*/ 1542362 w 2235200"/>
              <a:gd name="connsiteY12" fmla="*/ 1904338 h 2235200"/>
              <a:gd name="connsiteX13" fmla="*/ 1581780 w 2235200"/>
              <a:gd name="connsiteY13" fmla="*/ 2127856 h 2235200"/>
              <a:gd name="connsiteX14" fmla="*/ 1411398 w 2235200"/>
              <a:gd name="connsiteY14" fmla="*/ 2189870 h 2235200"/>
              <a:gd name="connsiteX15" fmla="*/ 1297919 w 2235200"/>
              <a:gd name="connsiteY15" fmla="*/ 1993308 h 2235200"/>
              <a:gd name="connsiteX16" fmla="*/ 937280 w 2235200"/>
              <a:gd name="connsiteY16" fmla="*/ 1993308 h 2235200"/>
              <a:gd name="connsiteX17" fmla="*/ 823802 w 2235200"/>
              <a:gd name="connsiteY17" fmla="*/ 2189870 h 2235200"/>
              <a:gd name="connsiteX18" fmla="*/ 653420 w 2235200"/>
              <a:gd name="connsiteY18" fmla="*/ 2127856 h 2235200"/>
              <a:gd name="connsiteX19" fmla="*/ 692839 w 2235200"/>
              <a:gd name="connsiteY19" fmla="*/ 1904338 h 2235200"/>
              <a:gd name="connsiteX20" fmla="*/ 416574 w 2235200"/>
              <a:gd name="connsiteY20" fmla="*/ 1672524 h 2235200"/>
              <a:gd name="connsiteX21" fmla="*/ 203296 w 2235200"/>
              <a:gd name="connsiteY21" fmla="*/ 1750157 h 2235200"/>
              <a:gd name="connsiteX22" fmla="*/ 112638 w 2235200"/>
              <a:gd name="connsiteY22" fmla="*/ 1593132 h 2235200"/>
              <a:gd name="connsiteX23" fmla="*/ 286508 w 2235200"/>
              <a:gd name="connsiteY23" fmla="*/ 1447245 h 2235200"/>
              <a:gd name="connsiteX24" fmla="*/ 223884 w 2235200"/>
              <a:gd name="connsiteY24" fmla="*/ 1092085 h 2235200"/>
              <a:gd name="connsiteX25" fmla="*/ 10603 w 2235200"/>
              <a:gd name="connsiteY25" fmla="*/ 1014463 h 2235200"/>
              <a:gd name="connsiteX26" fmla="*/ 42088 w 2235200"/>
              <a:gd name="connsiteY26" fmla="*/ 835901 h 2235200"/>
              <a:gd name="connsiteX27" fmla="*/ 269055 w 2235200"/>
              <a:gd name="connsiteY27" fmla="*/ 835907 h 2235200"/>
              <a:gd name="connsiteX28" fmla="*/ 449374 w 2235200"/>
              <a:gd name="connsiteY28" fmla="*/ 523585 h 2235200"/>
              <a:gd name="connsiteX29" fmla="*/ 335886 w 2235200"/>
              <a:gd name="connsiteY29" fmla="*/ 327029 h 2235200"/>
              <a:gd name="connsiteX30" fmla="*/ 474782 w 2235200"/>
              <a:gd name="connsiteY30" fmla="*/ 210481 h 2235200"/>
              <a:gd name="connsiteX31" fmla="*/ 648645 w 2235200"/>
              <a:gd name="connsiteY31" fmla="*/ 356377 h 2235200"/>
              <a:gd name="connsiteX32" fmla="*/ 987535 w 2235200"/>
              <a:gd name="connsiteY32" fmla="*/ 233031 h 2235200"/>
              <a:gd name="connsiteX33" fmla="*/ 1026942 w 2235200"/>
              <a:gd name="connsiteY33" fmla="*/ 9511 h 2235200"/>
              <a:gd name="connsiteX34" fmla="*/ 1208258 w 2235200"/>
              <a:gd name="connsiteY34" fmla="*/ 9511 h 2235200"/>
              <a:gd name="connsiteX35" fmla="*/ 1247665 w 2235200"/>
              <a:gd name="connsiteY35" fmla="*/ 233031 h 2235200"/>
              <a:gd name="connsiteX36" fmla="*/ 1586555 w 2235200"/>
              <a:gd name="connsiteY36" fmla="*/ 356377 h 223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235200" h="2235200">
                <a:moveTo>
                  <a:pt x="1586555" y="356377"/>
                </a:moveTo>
                <a:lnTo>
                  <a:pt x="1760418" y="210481"/>
                </a:lnTo>
                <a:lnTo>
                  <a:pt x="1899314" y="327029"/>
                </a:lnTo>
                <a:lnTo>
                  <a:pt x="1785825" y="523585"/>
                </a:lnTo>
                <a:cubicBezTo>
                  <a:pt x="1866522" y="614364"/>
                  <a:pt x="1927876" y="720632"/>
                  <a:pt x="1966144" y="835907"/>
                </a:cubicBezTo>
                <a:lnTo>
                  <a:pt x="2193112" y="835901"/>
                </a:lnTo>
                <a:lnTo>
                  <a:pt x="2224597" y="1014463"/>
                </a:lnTo>
                <a:lnTo>
                  <a:pt x="2011316" y="1092085"/>
                </a:lnTo>
                <a:cubicBezTo>
                  <a:pt x="2014782" y="1213496"/>
                  <a:pt x="1993474" y="1334341"/>
                  <a:pt x="1948692" y="1447245"/>
                </a:cubicBezTo>
                <a:lnTo>
                  <a:pt x="2122562" y="1593132"/>
                </a:lnTo>
                <a:lnTo>
                  <a:pt x="2031904" y="1750157"/>
                </a:lnTo>
                <a:lnTo>
                  <a:pt x="1818627" y="1672524"/>
                </a:lnTo>
                <a:cubicBezTo>
                  <a:pt x="1743241" y="1767759"/>
                  <a:pt x="1649240" y="1846634"/>
                  <a:pt x="1542362" y="1904338"/>
                </a:cubicBezTo>
                <a:lnTo>
                  <a:pt x="1581780" y="2127856"/>
                </a:lnTo>
                <a:lnTo>
                  <a:pt x="1411398" y="2189870"/>
                </a:lnTo>
                <a:lnTo>
                  <a:pt x="1297919" y="1993308"/>
                </a:lnTo>
                <a:cubicBezTo>
                  <a:pt x="1178954" y="2017804"/>
                  <a:pt x="1056245" y="2017804"/>
                  <a:pt x="937280" y="1993308"/>
                </a:cubicBezTo>
                <a:lnTo>
                  <a:pt x="823802" y="2189870"/>
                </a:lnTo>
                <a:lnTo>
                  <a:pt x="653420" y="2127856"/>
                </a:lnTo>
                <a:lnTo>
                  <a:pt x="692839" y="1904338"/>
                </a:lnTo>
                <a:cubicBezTo>
                  <a:pt x="585961" y="1846634"/>
                  <a:pt x="491960" y="1767758"/>
                  <a:pt x="416574" y="1672524"/>
                </a:cubicBezTo>
                <a:lnTo>
                  <a:pt x="203296" y="1750157"/>
                </a:lnTo>
                <a:lnTo>
                  <a:pt x="112638" y="1593132"/>
                </a:lnTo>
                <a:lnTo>
                  <a:pt x="286508" y="1447245"/>
                </a:lnTo>
                <a:cubicBezTo>
                  <a:pt x="241726" y="1334341"/>
                  <a:pt x="220417" y="1213496"/>
                  <a:pt x="223884" y="1092085"/>
                </a:cubicBezTo>
                <a:lnTo>
                  <a:pt x="10603" y="1014463"/>
                </a:lnTo>
                <a:lnTo>
                  <a:pt x="42088" y="835901"/>
                </a:lnTo>
                <a:lnTo>
                  <a:pt x="269055" y="835907"/>
                </a:lnTo>
                <a:cubicBezTo>
                  <a:pt x="307323" y="720632"/>
                  <a:pt x="368677" y="614363"/>
                  <a:pt x="449374" y="523585"/>
                </a:cubicBezTo>
                <a:lnTo>
                  <a:pt x="335886" y="327029"/>
                </a:lnTo>
                <a:lnTo>
                  <a:pt x="474782" y="210481"/>
                </a:lnTo>
                <a:lnTo>
                  <a:pt x="648645" y="356377"/>
                </a:lnTo>
                <a:cubicBezTo>
                  <a:pt x="752057" y="292669"/>
                  <a:pt x="867366" y="250701"/>
                  <a:pt x="987535" y="233031"/>
                </a:cubicBezTo>
                <a:lnTo>
                  <a:pt x="1026942" y="9511"/>
                </a:lnTo>
                <a:lnTo>
                  <a:pt x="1208258" y="9511"/>
                </a:lnTo>
                <a:lnTo>
                  <a:pt x="1247665" y="233031"/>
                </a:lnTo>
                <a:cubicBezTo>
                  <a:pt x="1367834" y="250700"/>
                  <a:pt x="1483142" y="292669"/>
                  <a:pt x="1586555" y="356377"/>
                </a:cubicBezTo>
                <a:close/>
              </a:path>
            </a:pathLst>
          </a:custGeom>
          <a:solidFill>
            <a:srgbClr val="6B0261"/>
          </a:solidFill>
          <a:ln w="38100" cap="flat" cmpd="sng" algn="ctr">
            <a:noFill/>
            <a:prstDash val="solid"/>
          </a:ln>
          <a:effectLst/>
          <a:scene3d>
            <a:camera prst="orthographicFront">
              <a:rot lat="0" lon="0" rev="0"/>
            </a:camera>
            <a:lightRig rig="glow" dir="t">
              <a:rot lat="0" lon="0" rev="4800000"/>
            </a:lightRig>
          </a:scene3d>
          <a:sp3d prstMaterial="matte">
            <a:bevelT w="127000" h="19050"/>
          </a:sp3d>
        </p:spPr>
        <p:txBody>
          <a:bodyPr spcFirstLastPara="0" vert="horz" wrap="square" lIns="501445" tIns="575655" rIns="501445" bIns="614747" numCol="1" spcCol="953" anchor="ctr" anchorCtr="0">
            <a:noAutofit/>
          </a:bodyPr>
          <a:lstStyle/>
          <a:p>
            <a:pPr marL="0" marR="0" lvl="0" indent="0" algn="ctr" defTabSz="1822450" rtl="0" eaLnBrk="1" fontAlgn="auto" latinLnBrk="0" hangingPunct="1">
              <a:lnSpc>
                <a:spcPct val="90000"/>
              </a:lnSpc>
              <a:spcBef>
                <a:spcPct val="0"/>
              </a:spcBef>
              <a:spcAft>
                <a:spcPct val="35000"/>
              </a:spcAft>
              <a:buClrTx/>
              <a:buSzTx/>
              <a:buFontTx/>
              <a:buNone/>
              <a:defRPr/>
            </a:pPr>
            <a:endParaRPr kumimoji="0" lang="en-US" sz="4135"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40" name="椭圆 39"/>
          <p:cNvSpPr/>
          <p:nvPr/>
        </p:nvSpPr>
        <p:spPr>
          <a:xfrm>
            <a:off x="2210510" y="1711891"/>
            <a:ext cx="850392" cy="837221"/>
          </a:xfrm>
          <a:prstGeom prst="ellipse">
            <a:avLst/>
          </a:prstGeom>
          <a:solidFill>
            <a:srgbClr val="FAFAFA"/>
          </a:solidFill>
          <a:ln w="101600" cap="flat" cmpd="sng" algn="ctr">
            <a:solidFill>
              <a:schemeClr val="bg1">
                <a:lumMod val="65000"/>
              </a:schemeClr>
            </a:solidFill>
            <a:prstDash val="solid"/>
          </a:ln>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altLang="zh-CN" sz="1865" b="0" i="0" u="none" strike="noStrike" kern="0" cap="none" spc="0" normalizeH="0" baseline="0" noProof="0" dirty="0">
              <a:ln w="18415" cmpd="sng">
                <a:noFill/>
                <a:prstDash val="solid"/>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8" name="组合 17"/>
          <p:cNvGrpSpPr/>
          <p:nvPr/>
        </p:nvGrpSpPr>
        <p:grpSpPr>
          <a:xfrm>
            <a:off x="6606540" y="1762760"/>
            <a:ext cx="5022850" cy="3528060"/>
            <a:chOff x="4724191" y="2002147"/>
            <a:chExt cx="6681104" cy="4197984"/>
          </a:xfrm>
        </p:grpSpPr>
        <p:sp>
          <p:nvSpPr>
            <p:cNvPr id="19" name="圆角矩形 18"/>
            <p:cNvSpPr/>
            <p:nvPr/>
          </p:nvSpPr>
          <p:spPr>
            <a:xfrm>
              <a:off x="4724191" y="2002147"/>
              <a:ext cx="6681104" cy="4197984"/>
            </a:xfrm>
            <a:prstGeom prst="roundRect">
              <a:avLst>
                <a:gd name="adj" fmla="val 7739"/>
              </a:avLst>
            </a:prstGeom>
            <a:noFill/>
            <a:ln>
              <a:solidFill>
                <a:srgbClr val="6B02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0" name="文本框 31"/>
            <p:cNvSpPr txBox="1"/>
            <p:nvPr/>
          </p:nvSpPr>
          <p:spPr>
            <a:xfrm>
              <a:off x="4904944" y="2114542"/>
              <a:ext cx="6371122" cy="3884294"/>
            </a:xfrm>
            <a:prstGeom prst="rect">
              <a:avLst/>
            </a:prstGeom>
            <a:noFill/>
          </p:spPr>
          <p:txBody>
            <a:bodyPr wrap="square" rtlCol="0">
              <a:noAutofit/>
            </a:bodyPr>
            <a:lstStyle/>
            <a:p>
              <a:pPr marL="0" marR="0" lvl="0" indent="457200" algn="l" defTabSz="4572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直接访问页表使我们能够专门优化管理别名页。我们可以缓存中间页表层级的指针，以避免不必要的重复查找。</a:t>
              </a:r>
              <a:endParaRPr kumimoji="0" lang="zh-CN" altLang="en-US"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457200" algn="l" defTabSz="4572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每次创建新别名时，我们会增加</a:t>
              </a:r>
              <a:r>
                <a:rPr kumimoji="0" lang="en-US" altLang="zh-CN"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L1</a:t>
              </a:r>
              <a:r>
                <a:rPr kumimoji="0" lang="zh-CN" altLang="en-US"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页表索引。如果该索引达到</a:t>
              </a:r>
              <a:r>
                <a:rPr kumimoji="0" lang="en-US" altLang="zh-CN"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512</a:t>
              </a:r>
              <a:r>
                <a:rPr kumimoji="0" lang="zh-CN" altLang="en-US"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，则会回绕，进行</a:t>
              </a:r>
              <a:r>
                <a:rPr kumimoji="0" lang="en-US" altLang="zh-CN"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L2</a:t>
              </a:r>
              <a:r>
                <a:rPr kumimoji="0" lang="zh-CN" altLang="en-US"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到</a:t>
              </a:r>
              <a:r>
                <a:rPr kumimoji="0" lang="en-US" altLang="zh-CN"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L1</a:t>
              </a:r>
              <a:r>
                <a:rPr kumimoji="0" lang="zh-CN" altLang="en-US"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的新查找，并在必要时级联增加前级。这一优化显著减少了查找次数，并用更便宜的递增操作替代了它们。</a:t>
              </a:r>
              <a:endParaRPr kumimoji="0" lang="zh-CN" altLang="en-US" sz="20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grpSp>
      <p:sp>
        <p:nvSpPr>
          <p:cNvPr id="21" name="矩形 46"/>
          <p:cNvSpPr>
            <a:spLocks noChangeArrowheads="1"/>
          </p:cNvSpPr>
          <p:nvPr/>
        </p:nvSpPr>
        <p:spPr bwMode="auto">
          <a:xfrm>
            <a:off x="634918" y="237124"/>
            <a:ext cx="55257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b="1" noProof="0" dirty="0">
                <a:ln>
                  <a:noFill/>
                </a:ln>
                <a:solidFill>
                  <a:srgbClr val="6B0261"/>
                </a:solidFill>
                <a:effectLst/>
                <a:uLnTx/>
                <a:uFillTx/>
                <a:latin typeface="Arial" panose="020B0604020202020204" pitchFamily="34" charset="0"/>
                <a:sym typeface="Calibri" panose="020F0502020204030204" pitchFamily="34" charset="0"/>
              </a:rPr>
              <a:t>实现过程</a:t>
            </a:r>
            <a:r>
              <a:rPr lang="en-US" altLang="zh-CN" b="1" noProof="0" dirty="0">
                <a:ln>
                  <a:noFill/>
                </a:ln>
                <a:solidFill>
                  <a:srgbClr val="6B0261"/>
                </a:solidFill>
                <a:effectLst/>
                <a:uLnTx/>
                <a:uFillTx/>
                <a:latin typeface="Arial" panose="020B0604020202020204" pitchFamily="34" charset="0"/>
                <a:sym typeface="Calibri" panose="020F0502020204030204" pitchFamily="34" charset="0"/>
              </a:rPr>
              <a:t>——</a:t>
            </a: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优化页条目查找</a:t>
            </a:r>
            <a:endPar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22"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 name="环形箭头 1"/>
          <p:cNvSpPr/>
          <p:nvPr/>
        </p:nvSpPr>
        <p:spPr>
          <a:xfrm rot="5920462">
            <a:off x="3580207" y="2378767"/>
            <a:ext cx="2960915" cy="2960915"/>
          </a:xfrm>
          <a:prstGeom prst="circularArrow">
            <a:avLst/>
          </a:prstGeom>
          <a:solidFill>
            <a:srgbClr val="6B026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梯形 36"/>
          <p:cNvSpPr/>
          <p:nvPr/>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5" name="梯形 34"/>
          <p:cNvSpPr/>
          <p:nvPr/>
        </p:nvSpPr>
        <p:spPr>
          <a:xfrm rot="16200000">
            <a:off x="7446198" y="-451317"/>
            <a:ext cx="2291737" cy="7199871"/>
          </a:xfrm>
          <a:prstGeom prst="trapezoid">
            <a:avLst>
              <a:gd name="adj" fmla="val 16935"/>
            </a:avLst>
          </a:prstGeom>
          <a:solidFill>
            <a:srgbClr val="6B026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53795" cy="1198880"/>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4</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638798" y="2692405"/>
            <a:ext cx="1402080" cy="829945"/>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评价</a:t>
            </a: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30836" y="1705564"/>
            <a:ext cx="2823720" cy="280467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custDataLst>
              <p:tags r:id="rId1"/>
            </p:custDataLst>
          </p:nvPr>
        </p:nvSpPr>
        <p:spPr bwMode="auto">
          <a:xfrm>
            <a:off x="970280" y="1179830"/>
            <a:ext cx="4161790" cy="424815"/>
          </a:xfrm>
          <a:prstGeom prst="rect">
            <a:avLst/>
          </a:prstGeom>
          <a:solidFill>
            <a:srgbClr val="6B0261"/>
          </a:solidFill>
          <a:ln>
            <a:no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测试集：</a:t>
            </a:r>
            <a:r>
              <a:rPr kumimoji="0" lang="en-US" altLang="zh-CN"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Juliet Test Suite</a:t>
            </a:r>
            <a:endParaRPr kumimoji="0" lang="en-US" altLang="zh-CN"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custDataLst>
              <p:tags r:id="rId2"/>
            </p:custDataLst>
          </p:nvPr>
        </p:nvSpPr>
        <p:spPr bwMode="auto">
          <a:xfrm>
            <a:off x="970280" y="1891665"/>
            <a:ext cx="3746500" cy="412115"/>
          </a:xfrm>
          <a:prstGeom prst="rect">
            <a:avLst/>
          </a:prstGeom>
          <a:solidFill>
            <a:srgbClr val="6B0261"/>
          </a:solidFill>
          <a:ln>
            <a:no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漏洞：</a:t>
            </a:r>
            <a:r>
              <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489</a:t>
            </a: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个</a:t>
            </a:r>
            <a:r>
              <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UAF (CWE416)</a:t>
            </a:r>
            <a:endPar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矩形 13"/>
          <p:cNvSpPr>
            <a:spLocks noChangeArrowheads="1"/>
          </p:cNvSpPr>
          <p:nvPr/>
        </p:nvSpPr>
        <p:spPr bwMode="auto">
          <a:xfrm>
            <a:off x="634918" y="237124"/>
            <a:ext cx="39001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评价</a:t>
            </a:r>
            <a:r>
              <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安全性评估</a:t>
            </a:r>
            <a:endPar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5" name="等腰三角形 14"/>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 name="矩形 1"/>
          <p:cNvSpPr/>
          <p:nvPr>
            <p:custDataLst>
              <p:tags r:id="rId3"/>
            </p:custDataLst>
          </p:nvPr>
        </p:nvSpPr>
        <p:spPr bwMode="auto">
          <a:xfrm>
            <a:off x="4865370" y="1891665"/>
            <a:ext cx="4432935" cy="412115"/>
          </a:xfrm>
          <a:prstGeom prst="rect">
            <a:avLst/>
          </a:prstGeom>
          <a:solidFill>
            <a:srgbClr val="6B0261"/>
          </a:solidFill>
          <a:ln>
            <a:noFill/>
          </a:ln>
        </p:spPr>
        <p:txBody>
          <a:bodyPr vert="horz" wrap="square" lIns="91440" tIns="45720" rIns="91440" bIns="45720" numCol="1" rtlCol="0" anchor="t" anchorCtr="0" compatLnSpc="1"/>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漏洞：</a:t>
            </a:r>
            <a:r>
              <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58</a:t>
            </a: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个</a:t>
            </a:r>
            <a:r>
              <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Double-Free(CWE415)</a:t>
            </a:r>
            <a:endPar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1" name="TextBox 100"/>
          <p:cNvSpPr txBox="1"/>
          <p:nvPr/>
        </p:nvSpPr>
        <p:spPr>
          <a:xfrm>
            <a:off x="970280" y="2303780"/>
            <a:ext cx="3746500" cy="368300"/>
          </a:xfrm>
          <a:prstGeom prst="rect">
            <a:avLst/>
          </a:prstGeom>
          <a:noFill/>
          <a:ln>
            <a:solidFill>
              <a:srgbClr val="6B0261"/>
            </a:solidFill>
          </a:ln>
        </p:spPr>
        <p:txBody>
          <a:bodyPr wrap="square" rtlCol="0">
            <a:sp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100%</a:t>
            </a: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检测，零漏报</a:t>
            </a:r>
            <a:endPar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3" name="TextBox 100"/>
          <p:cNvSpPr txBox="1"/>
          <p:nvPr/>
        </p:nvSpPr>
        <p:spPr>
          <a:xfrm>
            <a:off x="4865370" y="2303780"/>
            <a:ext cx="4432935" cy="368300"/>
          </a:xfrm>
          <a:prstGeom prst="rect">
            <a:avLst/>
          </a:prstGeom>
          <a:noFill/>
          <a:ln>
            <a:solidFill>
              <a:srgbClr val="6B0261"/>
            </a:solidFill>
          </a:ln>
        </p:spPr>
        <p:txBody>
          <a:bodyPr wrap="square" rtlCol="0">
            <a:sp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100%</a:t>
            </a: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检测，零漏报</a:t>
            </a:r>
            <a:endPar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4" name="TextBox 100"/>
          <p:cNvSpPr txBox="1"/>
          <p:nvPr/>
        </p:nvSpPr>
        <p:spPr>
          <a:xfrm>
            <a:off x="970280" y="3106420"/>
            <a:ext cx="8328025" cy="1252855"/>
          </a:xfrm>
          <a:prstGeom prst="rect">
            <a:avLst/>
          </a:prstGeom>
          <a:noFill/>
          <a:ln>
            <a:solidFill>
              <a:srgbClr val="6B0261"/>
            </a:solidFill>
          </a:ln>
        </p:spPr>
        <p:txBody>
          <a:bodyPr wrap="square" rtlCol="0">
            <a:spAutoFit/>
          </a:bodyPr>
          <a:p>
            <a:pPr marL="285750" marR="0" lvl="0" indent="-285750" algn="l" defTabSz="457200" rtl="0" eaLnBrk="1" fontAlgn="auto" latinLnBrk="0" hangingPunct="1">
              <a:lnSpc>
                <a:spcPct val="140000"/>
              </a:lnSpc>
              <a:spcBef>
                <a:spcPts val="0"/>
              </a:spcBef>
              <a:spcAft>
                <a:spcPts val="0"/>
              </a:spcAft>
              <a:buClrTx/>
              <a:buSzTx/>
              <a:buFont typeface="Wingdings" panose="05000000000000000000" charset="0"/>
              <a:buChar char="l"/>
              <a:defRPr/>
            </a:pP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并进行了良好的别名回收，没有误报，没有内存超限或者内存重用。</a:t>
            </a:r>
            <a:endPar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40000"/>
              </a:lnSpc>
              <a:spcBef>
                <a:spcPts val="0"/>
              </a:spcBef>
              <a:spcAft>
                <a:spcPts val="0"/>
              </a:spcAft>
              <a:buClrTx/>
              <a:buSzTx/>
              <a:buFont typeface="Wingdings" panose="05000000000000000000" charset="0"/>
              <a:buChar char="l"/>
              <a:defRPr/>
            </a:pP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此外，对于</a:t>
            </a:r>
            <a:r>
              <a:rPr kumimoji="0" lang="en-US" altLang="zh-CN"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PHP</a:t>
            </a: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以及一些版本的</a:t>
            </a:r>
            <a:r>
              <a:rPr kumimoji="0" lang="en-US" altLang="zh-CN"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python</a:t>
            </a: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语言编写的程序也能进行有效的检测。</a:t>
            </a:r>
            <a:endPar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40000"/>
              </a:lnSpc>
              <a:spcBef>
                <a:spcPts val="0"/>
              </a:spcBef>
              <a:spcAft>
                <a:spcPts val="0"/>
              </a:spcAft>
              <a:buClrTx/>
              <a:buSzTx/>
              <a:buFont typeface="Wingdings" panose="05000000000000000000" charset="0"/>
              <a:buChar char="l"/>
              <a:defRPr/>
            </a:pP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仅</a:t>
            </a:r>
            <a:r>
              <a:rPr kumimoji="0" lang="en-US" altLang="zh-CN"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 3100 </a:t>
            </a: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行代码，远低于竞品。</a:t>
            </a:r>
            <a:endPar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1"/>
            </p:custDataLst>
          </p:nvPr>
        </p:nvSpPr>
        <p:spPr bwMode="auto">
          <a:xfrm>
            <a:off x="970280" y="1891665"/>
            <a:ext cx="1569720" cy="412115"/>
          </a:xfrm>
          <a:prstGeom prst="rect">
            <a:avLst/>
          </a:prstGeom>
          <a:solidFill>
            <a:srgbClr val="6B0261"/>
          </a:solidFill>
          <a:ln>
            <a:no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性能基线</a:t>
            </a:r>
            <a:endPar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矩形 13"/>
          <p:cNvSpPr>
            <a:spLocks noChangeArrowheads="1"/>
          </p:cNvSpPr>
          <p:nvPr/>
        </p:nvSpPr>
        <p:spPr bwMode="auto">
          <a:xfrm>
            <a:off x="634918" y="237124"/>
            <a:ext cx="34937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评价</a:t>
            </a:r>
            <a:r>
              <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性能基线</a:t>
            </a:r>
            <a:endPar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5" name="等腰三角形 14"/>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01" name="TextBox 100"/>
          <p:cNvSpPr txBox="1"/>
          <p:nvPr/>
        </p:nvSpPr>
        <p:spPr>
          <a:xfrm>
            <a:off x="970280" y="2303780"/>
            <a:ext cx="9753600" cy="2367280"/>
          </a:xfrm>
          <a:prstGeom prst="rect">
            <a:avLst/>
          </a:prstGeom>
          <a:noFill/>
          <a:ln>
            <a:solidFill>
              <a:srgbClr val="6B0261"/>
            </a:solidFill>
          </a:ln>
        </p:spPr>
        <p:txBody>
          <a:bodyPr wrap="square" rtlCol="0">
            <a:noAutofit/>
          </a:bodyPr>
          <a:p>
            <a:pPr marL="285750" marR="0" lvl="0" indent="-285750" algn="l" defTabSz="457200" rtl="0" eaLnBrk="1" fontAlgn="auto" latinLnBrk="0" hangingPunct="1">
              <a:lnSpc>
                <a:spcPct val="100000"/>
              </a:lnSpc>
              <a:spcBef>
                <a:spcPts val="0"/>
              </a:spcBef>
              <a:spcAft>
                <a:spcPts val="0"/>
              </a:spcAft>
              <a:buClrTx/>
              <a:buSzTx/>
              <a:buFont typeface="Wingdings" panose="05000000000000000000" charset="0"/>
              <a:buChar char="l"/>
              <a:defRPr/>
            </a:pP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使用无</a:t>
            </a:r>
            <a:r>
              <a:rPr kumimoji="0" lang="en-US" altLang="zh-CN"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KML</a:t>
            </a: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的虚拟环境作为基线进行测试。通过运行</a:t>
            </a:r>
            <a:r>
              <a:rPr kumimoji="0" lang="en-US" altLang="zh-CN"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KML</a:t>
            </a: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导致的开销和分配器导致的失速来衡量性能开销。</a:t>
            </a:r>
            <a:endPar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charset="0"/>
              <a:buChar char="l"/>
              <a:defRPr/>
            </a:pP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实验证明，虽然</a:t>
            </a:r>
            <a:r>
              <a:rPr lang="en-US">
                <a:latin typeface="+mn-ea"/>
                <a:cs typeface="+mn-ea"/>
                <a:sym typeface="+mn-ea"/>
              </a:rPr>
              <a:t>DangZero</a:t>
            </a: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消除了在</a:t>
            </a:r>
            <a:r>
              <a:rPr kumimoji="0" lang="en-US" altLang="zh-CN"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 syscall </a:t>
            </a: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接口进行模式切换的需要，但并没有带来很好的提速。</a:t>
            </a:r>
            <a:endPar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charset="0"/>
              <a:buChar char="l"/>
              <a:defRPr/>
            </a:pP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在</a:t>
            </a:r>
            <a:r>
              <a:rPr kumimoji="0" lang="en-US" altLang="zh-CN"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SPEC CPU2006</a:t>
            </a: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的基线测试中，平均下来其实并没有提速</a:t>
            </a:r>
            <a:r>
              <a:rPr kumimoji="0" lang="en-US" altLang="zh-CN"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(0%)</a:t>
            </a: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，但是其中单个样本最优提速是</a:t>
            </a:r>
            <a:r>
              <a:rPr kumimoji="0" lang="en-US" altLang="zh-CN"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8%</a:t>
            </a: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，最低失速</a:t>
            </a:r>
            <a:r>
              <a:rPr kumimoji="0" lang="en-US" altLang="zh-CN"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4%</a:t>
            </a: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endPar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charset="0"/>
              <a:buChar char="l"/>
              <a:defRPr/>
            </a:pP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对于所有的比较系统，进行测试的时候都是用的他们的裸机基线</a:t>
            </a:r>
            <a:r>
              <a:rPr kumimoji="0" lang="en-US" altLang="zh-CN"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(bare-metal baseline)</a:t>
            </a:r>
            <a:r>
              <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，从而保证符合其主要应用场景。</a:t>
            </a:r>
            <a:endPar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46"/>
          <p:cNvSpPr>
            <a:spLocks noChangeArrowheads="1"/>
          </p:cNvSpPr>
          <p:nvPr/>
        </p:nvSpPr>
        <p:spPr bwMode="auto">
          <a:xfrm>
            <a:off x="634918" y="237124"/>
            <a:ext cx="485013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评价</a:t>
            </a:r>
            <a:r>
              <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——SPEC CPU2006</a:t>
            </a:r>
            <a:endPar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 name="文本框 1"/>
          <p:cNvSpPr txBox="1"/>
          <p:nvPr/>
        </p:nvSpPr>
        <p:spPr>
          <a:xfrm>
            <a:off x="927735" y="1402715"/>
            <a:ext cx="8712835" cy="829945"/>
          </a:xfrm>
          <a:prstGeom prst="rect">
            <a:avLst/>
          </a:prstGeom>
        </p:spPr>
        <p:txBody>
          <a:bodyPr wrap="square">
            <a:spAutoFit/>
          </a:bodyPr>
          <a:p>
            <a:pPr defTabSz="266700"/>
            <a:r>
              <a:rPr lang="zh-CN" sz="1600" b="1">
                <a:latin typeface="+mn-ea"/>
                <a:cs typeface="+mn-ea"/>
              </a:rPr>
              <a:t>时间开销</a:t>
            </a:r>
            <a:r>
              <a:rPr lang="zh-CN" sz="1600">
                <a:latin typeface="+mn-ea"/>
                <a:cs typeface="+mn-ea"/>
              </a:rPr>
              <a:t>：在不考虑别名回收部分的情况下，对比于基线，</a:t>
            </a:r>
            <a:r>
              <a:rPr lang="en-US" sz="1600">
                <a:latin typeface="+mn-ea"/>
                <a:cs typeface="+mn-ea"/>
              </a:rPr>
              <a:t>DangZero</a:t>
            </a:r>
            <a:r>
              <a:rPr lang="zh-CN" sz="1600">
                <a:latin typeface="+mn-ea"/>
                <a:cs typeface="+mn-ea"/>
              </a:rPr>
              <a:t>方法只额外使用了</a:t>
            </a:r>
            <a:r>
              <a:rPr lang="en-US" sz="1600" b="1">
                <a:latin typeface="+mn-ea"/>
                <a:cs typeface="+mn-ea"/>
              </a:rPr>
              <a:t>14%</a:t>
            </a:r>
            <a:r>
              <a:rPr lang="zh-CN" sz="1600">
                <a:latin typeface="+mn-ea"/>
                <a:cs typeface="+mn-ea"/>
              </a:rPr>
              <a:t>的时间（平方平均数）；若在运行结束后加上别名回收，会多出</a:t>
            </a:r>
            <a:r>
              <a:rPr lang="en-US" sz="1600" b="1">
                <a:latin typeface="+mn-ea"/>
                <a:cs typeface="+mn-ea"/>
              </a:rPr>
              <a:t>2%</a:t>
            </a:r>
            <a:r>
              <a:rPr lang="en-US" sz="1600">
                <a:latin typeface="+mn-ea"/>
                <a:cs typeface="+mn-ea"/>
              </a:rPr>
              <a:t>(-&gt;16%)</a:t>
            </a:r>
            <a:r>
              <a:rPr lang="zh-CN" sz="1600">
                <a:latin typeface="+mn-ea"/>
                <a:cs typeface="+mn-ea"/>
              </a:rPr>
              <a:t>的时间，很高效。对于生存期较短的程序，不进行别名回收也是可行的。</a:t>
            </a:r>
            <a:endParaRPr lang="zh-CN" altLang="en-US" sz="1600">
              <a:latin typeface="+mn-ea"/>
              <a:cs typeface="+mn-ea"/>
            </a:endParaRPr>
          </a:p>
        </p:txBody>
      </p:sp>
      <p:pic>
        <p:nvPicPr>
          <p:cNvPr id="3" name="图片 2"/>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5351145" y="2550160"/>
            <a:ext cx="6210300" cy="2999105"/>
          </a:xfrm>
          <a:prstGeom prst="rect">
            <a:avLst/>
          </a:prstGeom>
        </p:spPr>
      </p:pic>
      <p:sp>
        <p:nvSpPr>
          <p:cNvPr id="5" name="文本框 4"/>
          <p:cNvSpPr txBox="1"/>
          <p:nvPr/>
        </p:nvSpPr>
        <p:spPr>
          <a:xfrm>
            <a:off x="768350" y="2550160"/>
            <a:ext cx="4582795" cy="3291840"/>
          </a:xfrm>
          <a:prstGeom prst="rect">
            <a:avLst/>
          </a:prstGeom>
        </p:spPr>
        <p:txBody>
          <a:bodyPr wrap="square">
            <a:spAutoFit/>
          </a:bodyPr>
          <a:p>
            <a:pPr defTabSz="266700"/>
            <a:r>
              <a:rPr lang="zh-CN" altLang="en-US" sz="1600" b="1">
                <a:latin typeface="+mn-ea"/>
                <a:cs typeface="+mn-ea"/>
              </a:rPr>
              <a:t>时间开销的主要组成：</a:t>
            </a:r>
            <a:endParaRPr lang="zh-CN" altLang="en-US" sz="1600" b="1">
              <a:latin typeface="+mn-ea"/>
              <a:cs typeface="+mn-ea"/>
            </a:endParaRPr>
          </a:p>
          <a:p>
            <a:pPr marL="285750" indent="-285750" defTabSz="266700">
              <a:buFont typeface="Wingdings" panose="05000000000000000000" charset="0"/>
              <a:buChar char="l"/>
            </a:pPr>
            <a:r>
              <a:rPr lang="zh-CN" altLang="en-US" sz="1600">
                <a:latin typeface="+mn-ea"/>
                <a:cs typeface="+mn-ea"/>
              </a:rPr>
              <a:t>使用核模式</a:t>
            </a:r>
            <a:r>
              <a:rPr lang="en-US" altLang="zh-CN" sz="1600">
                <a:latin typeface="+mn-ea"/>
                <a:cs typeface="+mn-ea"/>
              </a:rPr>
              <a:t>Linux</a:t>
            </a:r>
            <a:r>
              <a:rPr lang="zh-CN" altLang="en-US" sz="1600">
                <a:latin typeface="+mn-ea"/>
                <a:cs typeface="+mn-ea"/>
              </a:rPr>
              <a:t>，平均为</a:t>
            </a:r>
            <a:r>
              <a:rPr lang="en-US" altLang="zh-CN" sz="1600">
                <a:latin typeface="+mn-ea"/>
                <a:cs typeface="+mn-ea"/>
              </a:rPr>
              <a:t>0%</a:t>
            </a:r>
            <a:r>
              <a:rPr lang="zh-CN" altLang="en-US" sz="1600">
                <a:latin typeface="+mn-ea"/>
                <a:cs typeface="+mn-ea"/>
              </a:rPr>
              <a:t>速度影响，最优提速是</a:t>
            </a:r>
            <a:r>
              <a:rPr lang="en-US" altLang="zh-CN" sz="1600">
                <a:latin typeface="+mn-ea"/>
                <a:cs typeface="+mn-ea"/>
              </a:rPr>
              <a:t>8%</a:t>
            </a:r>
            <a:r>
              <a:rPr lang="zh-CN" altLang="en-US" sz="1600">
                <a:latin typeface="+mn-ea"/>
                <a:cs typeface="+mn-ea"/>
              </a:rPr>
              <a:t>，最低失速</a:t>
            </a:r>
            <a:r>
              <a:rPr lang="en-US" altLang="zh-CN" sz="1600">
                <a:latin typeface="+mn-ea"/>
                <a:cs typeface="+mn-ea"/>
              </a:rPr>
              <a:t>4%</a:t>
            </a:r>
            <a:r>
              <a:rPr lang="zh-CN" altLang="en-US" sz="1600">
                <a:latin typeface="+mn-ea"/>
                <a:cs typeface="+mn-ea"/>
              </a:rPr>
              <a:t>。</a:t>
            </a:r>
            <a:endParaRPr lang="en-US" altLang="zh-CN" sz="1600">
              <a:latin typeface="+mn-ea"/>
              <a:cs typeface="+mn-ea"/>
            </a:endParaRPr>
          </a:p>
          <a:p>
            <a:pPr marL="285750" indent="-285750" defTabSz="266700">
              <a:buFont typeface="Wingdings" panose="05000000000000000000" charset="0"/>
              <a:buChar char="l"/>
            </a:pPr>
            <a:r>
              <a:rPr lang="zh-CN" altLang="en-US" sz="1600">
                <a:latin typeface="+mn-ea"/>
                <a:cs typeface="+mn-ea"/>
              </a:rPr>
              <a:t>创建别名，对页进行访问，使虚拟地址可以访问到物理地址，很小的开销。</a:t>
            </a:r>
            <a:endParaRPr lang="zh-CN" altLang="en-US" sz="1600">
              <a:latin typeface="+mn-ea"/>
              <a:cs typeface="+mn-ea"/>
            </a:endParaRPr>
          </a:p>
          <a:p>
            <a:pPr marL="285750" indent="-285750" defTabSz="266700">
              <a:buFont typeface="Wingdings" panose="05000000000000000000" charset="0"/>
              <a:buChar char="l"/>
            </a:pPr>
            <a:r>
              <a:rPr lang="zh-CN" altLang="en-US" sz="1600">
                <a:latin typeface="+mn-ea"/>
                <a:cs typeface="+mn-ea"/>
              </a:rPr>
              <a:t>使用别名，最主要的开销，对快表的访问带来显著的压力。</a:t>
            </a:r>
            <a:endParaRPr lang="zh-CN" altLang="en-US" sz="1600">
              <a:latin typeface="+mn-ea"/>
              <a:cs typeface="+mn-ea"/>
            </a:endParaRPr>
          </a:p>
          <a:p>
            <a:pPr marL="285750" indent="-285750" defTabSz="266700">
              <a:buFont typeface="Wingdings" panose="05000000000000000000" charset="0"/>
              <a:buChar char="l"/>
            </a:pPr>
            <a:r>
              <a:rPr lang="zh-CN" altLang="en-US" sz="1600">
                <a:latin typeface="+mn-ea"/>
                <a:cs typeface="+mn-ea"/>
              </a:rPr>
              <a:t>释放别名，为确保安全。开销源于对</a:t>
            </a:r>
            <a:r>
              <a:rPr lang="en-US" altLang="zh-CN" sz="1600">
                <a:latin typeface="+mn-ea"/>
                <a:cs typeface="+mn-ea"/>
              </a:rPr>
              <a:t>TLB</a:t>
            </a:r>
            <a:r>
              <a:rPr lang="zh-CN" altLang="en-US" sz="1600">
                <a:latin typeface="+mn-ea"/>
                <a:cs typeface="+mn-ea"/>
              </a:rPr>
              <a:t>失效操作的开销。</a:t>
            </a:r>
            <a:endParaRPr lang="zh-CN" altLang="en-US" sz="1600">
              <a:latin typeface="+mn-ea"/>
              <a:cs typeface="+mn-ea"/>
            </a:endParaRPr>
          </a:p>
          <a:p>
            <a:pPr marL="285750" indent="-285750" defTabSz="266700">
              <a:buFont typeface="Wingdings" panose="05000000000000000000" charset="0"/>
              <a:buChar char="l"/>
            </a:pPr>
            <a:r>
              <a:rPr lang="zh-CN" altLang="en-US" sz="1600">
                <a:latin typeface="+mn-ea"/>
                <a:cs typeface="+mn-ea"/>
              </a:rPr>
              <a:t>回收别名，收集元数据以备别名回收，其中包含维护对象的边界信息，以及及时对</a:t>
            </a:r>
            <a:r>
              <a:rPr lang="en-US" altLang="zh-CN" sz="1600">
                <a:latin typeface="+mn-ea"/>
                <a:cs typeface="+mn-ea"/>
              </a:rPr>
              <a:t>free</a:t>
            </a:r>
            <a:r>
              <a:rPr lang="zh-CN" altLang="en-US" sz="1600">
                <a:latin typeface="+mn-ea"/>
                <a:cs typeface="+mn-ea"/>
              </a:rPr>
              <a:t>后的内存空间清零。</a:t>
            </a:r>
            <a:endParaRPr lang="zh-CN" altLang="en-US" sz="1600">
              <a:latin typeface="+mn-ea"/>
              <a:cs typeface="+mn-ea"/>
            </a:endParaRPr>
          </a:p>
          <a:p>
            <a:pPr defTabSz="266700"/>
            <a:endParaRPr lang="zh-CN" altLang="en-US" sz="1600">
              <a:latin typeface="+mn-ea"/>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46"/>
          <p:cNvSpPr>
            <a:spLocks noChangeArrowheads="1"/>
          </p:cNvSpPr>
          <p:nvPr/>
        </p:nvSpPr>
        <p:spPr bwMode="auto">
          <a:xfrm>
            <a:off x="634918" y="237124"/>
            <a:ext cx="485013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评价</a:t>
            </a:r>
            <a:r>
              <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——SPEC CPU2006</a:t>
            </a:r>
            <a:endPar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 name="文本框 1"/>
          <p:cNvSpPr txBox="1"/>
          <p:nvPr/>
        </p:nvSpPr>
        <p:spPr>
          <a:xfrm>
            <a:off x="927735" y="1080135"/>
            <a:ext cx="4667885" cy="4497070"/>
          </a:xfrm>
          <a:prstGeom prst="rect">
            <a:avLst/>
          </a:prstGeom>
        </p:spPr>
        <p:txBody>
          <a:bodyPr wrap="square">
            <a:spAutoFit/>
          </a:bodyPr>
          <a:p>
            <a:pPr defTabSz="266700">
              <a:lnSpc>
                <a:spcPct val="130000"/>
              </a:lnSpc>
            </a:pPr>
            <a:r>
              <a:rPr lang="zh-CN" altLang="en-US" sz="1600" b="1">
                <a:latin typeface="+mn-ea"/>
                <a:cs typeface="+mn-ea"/>
              </a:rPr>
              <a:t>时间开销与其他系统的比较：</a:t>
            </a:r>
            <a:endParaRPr lang="zh-CN" altLang="en-US" sz="1600" b="1">
              <a:latin typeface="+mn-ea"/>
              <a:cs typeface="+mn-ea"/>
            </a:endParaRPr>
          </a:p>
          <a:p>
            <a:pPr marL="285750" indent="-285750" defTabSz="266700">
              <a:lnSpc>
                <a:spcPct val="130000"/>
              </a:lnSpc>
              <a:buFont typeface="Wingdings" panose="05000000000000000000" charset="0"/>
              <a:buChar char="l"/>
            </a:pPr>
            <a:r>
              <a:rPr lang="zh-CN" altLang="en-US" sz="1600">
                <a:latin typeface="+mn-ea"/>
                <a:cs typeface="+mn-ea"/>
              </a:rPr>
              <a:t>相比于</a:t>
            </a:r>
            <a:r>
              <a:rPr lang="en-US" altLang="zh-CN" sz="1600">
                <a:latin typeface="+mn-ea"/>
                <a:cs typeface="+mn-ea"/>
              </a:rPr>
              <a:t>Oscar</a:t>
            </a:r>
            <a:r>
              <a:rPr lang="zh-CN" altLang="en-US" sz="1600">
                <a:latin typeface="+mn-ea"/>
                <a:cs typeface="+mn-ea"/>
              </a:rPr>
              <a:t>（平方平均</a:t>
            </a:r>
            <a:r>
              <a:rPr lang="en-US" altLang="zh-CN" sz="1600">
                <a:latin typeface="+mn-ea"/>
                <a:cs typeface="+mn-ea"/>
              </a:rPr>
              <a:t>40%</a:t>
            </a:r>
            <a:r>
              <a:rPr lang="zh-CN" altLang="en-US" sz="1600">
                <a:latin typeface="+mn-ea"/>
                <a:cs typeface="+mn-ea"/>
              </a:rPr>
              <a:t>额外开销）：</a:t>
            </a:r>
            <a:r>
              <a:rPr lang="en-US" sz="1600">
                <a:latin typeface="+mn-ea"/>
                <a:cs typeface="+mn-ea"/>
                <a:sym typeface="+mn-ea"/>
              </a:rPr>
              <a:t>DangZero</a:t>
            </a:r>
            <a:r>
              <a:rPr lang="zh-CN" altLang="en-US" sz="1600">
                <a:latin typeface="+mn-ea"/>
                <a:cs typeface="+mn-ea"/>
              </a:rPr>
              <a:t>只用</a:t>
            </a:r>
            <a:r>
              <a:rPr lang="en-US" altLang="zh-CN" sz="1600">
                <a:latin typeface="+mn-ea"/>
                <a:cs typeface="+mn-ea"/>
              </a:rPr>
              <a:t>14%</a:t>
            </a:r>
            <a:r>
              <a:rPr lang="zh-CN" altLang="en-US" sz="1600">
                <a:latin typeface="+mn-ea"/>
                <a:cs typeface="+mn-ea"/>
              </a:rPr>
              <a:t>至</a:t>
            </a:r>
            <a:r>
              <a:rPr lang="en-US" altLang="zh-CN" sz="1600">
                <a:latin typeface="+mn-ea"/>
                <a:cs typeface="+mn-ea"/>
              </a:rPr>
              <a:t>16%(alias reclaim required)</a:t>
            </a:r>
            <a:r>
              <a:rPr lang="zh-CN" altLang="en-US" sz="1600">
                <a:latin typeface="+mn-ea"/>
                <a:cs typeface="+mn-ea"/>
              </a:rPr>
              <a:t>。</a:t>
            </a:r>
            <a:endParaRPr lang="zh-CN" altLang="en-US" sz="1600">
              <a:latin typeface="+mn-ea"/>
              <a:cs typeface="+mn-ea"/>
            </a:endParaRPr>
          </a:p>
          <a:p>
            <a:pPr marL="285750" indent="-285750" defTabSz="266700">
              <a:lnSpc>
                <a:spcPct val="130000"/>
              </a:lnSpc>
              <a:buFont typeface="Wingdings" panose="05000000000000000000" charset="0"/>
              <a:buChar char="l"/>
            </a:pPr>
            <a:r>
              <a:rPr lang="zh-CN" altLang="en-US" sz="1600">
                <a:latin typeface="+mn-ea"/>
                <a:cs typeface="+mn-ea"/>
              </a:rPr>
              <a:t>对于最高开销：</a:t>
            </a:r>
            <a:r>
              <a:rPr lang="en-US" sz="1600">
                <a:latin typeface="+mn-ea"/>
                <a:cs typeface="+mn-ea"/>
                <a:sym typeface="+mn-ea"/>
              </a:rPr>
              <a:t>DangZero</a:t>
            </a:r>
            <a:r>
              <a:rPr lang="zh-CN" altLang="en-US" sz="1600">
                <a:latin typeface="+mn-ea"/>
                <a:cs typeface="+mn-ea"/>
              </a:rPr>
              <a:t>：</a:t>
            </a:r>
            <a:r>
              <a:rPr lang="en-US" altLang="zh-CN" sz="1600">
                <a:latin typeface="+mn-ea"/>
                <a:cs typeface="+mn-ea"/>
              </a:rPr>
              <a:t>2.03</a:t>
            </a:r>
            <a:r>
              <a:rPr lang="zh-CN" altLang="en-US" sz="1600">
                <a:latin typeface="+mn-ea"/>
                <a:cs typeface="+mn-ea"/>
              </a:rPr>
              <a:t>倍的运行时间，而</a:t>
            </a:r>
            <a:r>
              <a:rPr lang="en-US" altLang="zh-CN" sz="1600">
                <a:latin typeface="+mn-ea"/>
                <a:cs typeface="+mn-ea"/>
              </a:rPr>
              <a:t>Oscar</a:t>
            </a:r>
            <a:r>
              <a:rPr lang="zh-CN" altLang="en-US" sz="1600">
                <a:latin typeface="+mn-ea"/>
                <a:cs typeface="+mn-ea"/>
              </a:rPr>
              <a:t>高达</a:t>
            </a:r>
            <a:r>
              <a:rPr lang="en-US" altLang="zh-CN" sz="1600">
                <a:latin typeface="+mn-ea"/>
                <a:cs typeface="+mn-ea"/>
              </a:rPr>
              <a:t>4.5</a:t>
            </a:r>
            <a:r>
              <a:rPr lang="zh-CN" altLang="en-US" sz="1600">
                <a:latin typeface="+mn-ea"/>
                <a:cs typeface="+mn-ea"/>
              </a:rPr>
              <a:t>倍；</a:t>
            </a:r>
            <a:r>
              <a:rPr lang="en-US" sz="1600">
                <a:latin typeface="+mn-ea"/>
                <a:cs typeface="+mn-ea"/>
                <a:sym typeface="+mn-ea"/>
              </a:rPr>
              <a:t>DangZero</a:t>
            </a:r>
            <a:r>
              <a:rPr lang="zh-CN" altLang="en-US" sz="1600">
                <a:latin typeface="+mn-ea"/>
                <a:cs typeface="+mn-ea"/>
              </a:rPr>
              <a:t>与</a:t>
            </a:r>
            <a:r>
              <a:rPr lang="en-US" altLang="zh-CN" sz="1600">
                <a:latin typeface="+mn-ea"/>
                <a:cs typeface="+mn-ea"/>
              </a:rPr>
              <a:t>MineSweeper</a:t>
            </a:r>
            <a:r>
              <a:rPr lang="zh-CN" altLang="en-US" sz="1600">
                <a:latin typeface="+mn-ea"/>
                <a:cs typeface="+mn-ea"/>
              </a:rPr>
              <a:t>和</a:t>
            </a:r>
            <a:r>
              <a:rPr lang="en-US" altLang="zh-CN" sz="1600">
                <a:latin typeface="+mn-ea"/>
                <a:cs typeface="+mn-ea"/>
              </a:rPr>
              <a:t>MarkUs</a:t>
            </a:r>
            <a:r>
              <a:rPr lang="zh-CN" altLang="en-US" sz="1600">
                <a:latin typeface="+mn-ea"/>
                <a:cs typeface="+mn-ea"/>
              </a:rPr>
              <a:t>的性能不相上下</a:t>
            </a:r>
            <a:r>
              <a:rPr lang="en-US" altLang="zh-CN" sz="1600">
                <a:latin typeface="+mn-ea"/>
                <a:cs typeface="+mn-ea"/>
              </a:rPr>
              <a:t>(14%vs10%), (14%vs14%)</a:t>
            </a:r>
            <a:r>
              <a:rPr lang="zh-CN" altLang="en-US" sz="1600">
                <a:latin typeface="+mn-ea"/>
                <a:cs typeface="+mn-ea"/>
              </a:rPr>
              <a:t>。</a:t>
            </a:r>
            <a:endParaRPr lang="zh-CN" altLang="en-US" sz="1600">
              <a:latin typeface="+mn-ea"/>
              <a:cs typeface="+mn-ea"/>
            </a:endParaRPr>
          </a:p>
          <a:p>
            <a:pPr marL="285750" indent="-285750" defTabSz="266700">
              <a:lnSpc>
                <a:spcPct val="130000"/>
              </a:lnSpc>
              <a:buFont typeface="Wingdings" panose="05000000000000000000" charset="0"/>
              <a:buChar char="l"/>
            </a:pPr>
            <a:r>
              <a:rPr lang="zh-CN" altLang="en-US" sz="1600">
                <a:latin typeface="+mn-ea"/>
                <a:cs typeface="+mn-ea"/>
              </a:rPr>
              <a:t>相比于</a:t>
            </a:r>
            <a:r>
              <a:rPr lang="en-US" altLang="zh-CN" sz="1600">
                <a:latin typeface="+mn-ea"/>
                <a:cs typeface="+mn-ea"/>
              </a:rPr>
              <a:t>FFmalloc(1.2%)</a:t>
            </a:r>
            <a:r>
              <a:rPr lang="zh-CN" altLang="en-US" sz="1600">
                <a:latin typeface="+mn-ea"/>
                <a:cs typeface="+mn-ea"/>
              </a:rPr>
              <a:t>，看起来是</a:t>
            </a:r>
            <a:r>
              <a:rPr lang="en-US" sz="1600">
                <a:latin typeface="+mn-ea"/>
                <a:cs typeface="+mn-ea"/>
                <a:sym typeface="+mn-ea"/>
              </a:rPr>
              <a:t>DangZero</a:t>
            </a:r>
            <a:r>
              <a:rPr lang="zh-CN" altLang="en-US" sz="1600">
                <a:latin typeface="+mn-ea"/>
                <a:cs typeface="+mn-ea"/>
              </a:rPr>
              <a:t>差了很多，实际上是因为</a:t>
            </a:r>
            <a:r>
              <a:rPr lang="en-US" altLang="zh-CN" sz="1600">
                <a:latin typeface="+mn-ea"/>
                <a:cs typeface="+mn-ea"/>
              </a:rPr>
              <a:t>FFmalloc</a:t>
            </a:r>
            <a:r>
              <a:rPr lang="zh-CN" altLang="en-US" sz="1600">
                <a:latin typeface="+mn-ea"/>
                <a:cs typeface="+mn-ea"/>
              </a:rPr>
              <a:t>中存在空间和时间的折衷，用空间换了时间，且其存在一个问题：虚拟地址中被释放后的内存无法被重用</a:t>
            </a:r>
            <a:r>
              <a:rPr lang="zh-CN" altLang="en-US" sz="1600">
                <a:latin typeface="+mn-ea"/>
                <a:cs typeface="+mn-ea"/>
              </a:rPr>
              <a:t>。</a:t>
            </a:r>
            <a:endParaRPr lang="zh-CN" altLang="en-US" sz="1600">
              <a:latin typeface="+mn-ea"/>
              <a:cs typeface="+mn-ea"/>
            </a:endParaRPr>
          </a:p>
          <a:p>
            <a:pPr defTabSz="266700"/>
            <a:endParaRPr lang="zh-CN" altLang="en-US" sz="1600">
              <a:latin typeface="+mn-ea"/>
              <a:cs typeface="+mn-ea"/>
            </a:endParaRPr>
          </a:p>
        </p:txBody>
      </p:sp>
      <p:pic>
        <p:nvPicPr>
          <p:cNvPr id="4" name="图片 3"/>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6096000" y="1501775"/>
            <a:ext cx="4898390" cy="20402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46"/>
          <p:cNvSpPr>
            <a:spLocks noChangeArrowheads="1"/>
          </p:cNvSpPr>
          <p:nvPr/>
        </p:nvSpPr>
        <p:spPr bwMode="auto">
          <a:xfrm>
            <a:off x="634918" y="237124"/>
            <a:ext cx="485013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评价</a:t>
            </a:r>
            <a:r>
              <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——SPEC CPU2006</a:t>
            </a:r>
            <a:endPar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 name="文本框 1"/>
          <p:cNvSpPr txBox="1"/>
          <p:nvPr/>
        </p:nvSpPr>
        <p:spPr>
          <a:xfrm>
            <a:off x="635000" y="1080135"/>
            <a:ext cx="8409305" cy="1690370"/>
          </a:xfrm>
          <a:prstGeom prst="rect">
            <a:avLst/>
          </a:prstGeom>
        </p:spPr>
        <p:txBody>
          <a:bodyPr wrap="square">
            <a:spAutoFit/>
          </a:bodyPr>
          <a:p>
            <a:pPr defTabSz="266700"/>
            <a:r>
              <a:rPr lang="zh-CN" altLang="en-US" sz="1600" b="1">
                <a:latin typeface="+mn-ea"/>
                <a:cs typeface="+mn-ea"/>
              </a:rPr>
              <a:t>内存开销：</a:t>
            </a:r>
            <a:endParaRPr lang="zh-CN" altLang="en-US" sz="1600" b="1">
              <a:latin typeface="+mn-ea"/>
              <a:cs typeface="+mn-ea"/>
            </a:endParaRPr>
          </a:p>
          <a:p>
            <a:pPr defTabSz="266700">
              <a:lnSpc>
                <a:spcPct val="110000"/>
              </a:lnSpc>
            </a:pPr>
            <a:r>
              <a:rPr lang="zh-CN" altLang="en-US" sz="1600">
                <a:latin typeface="+mn-ea"/>
                <a:cs typeface="+mn-ea"/>
              </a:rPr>
              <a:t>由于页表压缩特性，当</a:t>
            </a:r>
            <a:r>
              <a:rPr lang="en-US" sz="1600">
                <a:latin typeface="+mn-ea"/>
                <a:cs typeface="+mn-ea"/>
                <a:sym typeface="+mn-ea"/>
              </a:rPr>
              <a:t>DangZero</a:t>
            </a:r>
            <a:r>
              <a:rPr lang="zh-CN" altLang="en-US" sz="1600">
                <a:latin typeface="+mn-ea"/>
                <a:cs typeface="+mn-ea"/>
              </a:rPr>
              <a:t>与</a:t>
            </a:r>
            <a:r>
              <a:rPr lang="en-US" altLang="zh-CN" sz="1600">
                <a:latin typeface="+mn-ea"/>
                <a:cs typeface="+mn-ea"/>
              </a:rPr>
              <a:t>Oscar</a:t>
            </a:r>
            <a:r>
              <a:rPr lang="zh-CN" altLang="en-US" sz="1600">
                <a:latin typeface="+mn-ea"/>
                <a:cs typeface="+mn-ea"/>
              </a:rPr>
              <a:t>对比时，在一个显著的例子上，</a:t>
            </a:r>
            <a:r>
              <a:rPr lang="en-US" sz="1600">
                <a:latin typeface="+mn-ea"/>
                <a:cs typeface="+mn-ea"/>
                <a:sym typeface="+mn-ea"/>
              </a:rPr>
              <a:t>DangZero</a:t>
            </a:r>
            <a:r>
              <a:rPr lang="zh-CN" altLang="en-US" sz="1600">
                <a:latin typeface="+mn-ea"/>
                <a:cs typeface="+mn-ea"/>
              </a:rPr>
              <a:t>的开销只超过基线的</a:t>
            </a:r>
            <a:r>
              <a:rPr lang="en-US" altLang="zh-CN" sz="1600">
                <a:latin typeface="+mn-ea"/>
                <a:cs typeface="+mn-ea"/>
              </a:rPr>
              <a:t>0.4</a:t>
            </a:r>
            <a:r>
              <a:rPr lang="zh-CN" altLang="en-US" sz="1600">
                <a:latin typeface="+mn-ea"/>
                <a:cs typeface="+mn-ea"/>
              </a:rPr>
              <a:t>倍，而</a:t>
            </a:r>
            <a:r>
              <a:rPr lang="en-US" altLang="zh-CN" sz="1600">
                <a:latin typeface="+mn-ea"/>
                <a:cs typeface="+mn-ea"/>
              </a:rPr>
              <a:t>Oscar</a:t>
            </a:r>
            <a:r>
              <a:rPr lang="zh-CN" altLang="en-US" sz="1600">
                <a:latin typeface="+mn-ea"/>
                <a:cs typeface="+mn-ea"/>
              </a:rPr>
              <a:t>超过了</a:t>
            </a:r>
            <a:r>
              <a:rPr lang="en-US" altLang="zh-CN" sz="1600">
                <a:latin typeface="+mn-ea"/>
                <a:cs typeface="+mn-ea"/>
              </a:rPr>
              <a:t>4.2</a:t>
            </a:r>
            <a:r>
              <a:rPr lang="zh-CN" altLang="en-US" sz="1600">
                <a:latin typeface="+mn-ea"/>
                <a:cs typeface="+mn-ea"/>
              </a:rPr>
              <a:t>倍。</a:t>
            </a:r>
            <a:endParaRPr lang="zh-CN" altLang="en-US" sz="1600">
              <a:latin typeface="+mn-ea"/>
              <a:cs typeface="+mn-ea"/>
            </a:endParaRPr>
          </a:p>
          <a:p>
            <a:pPr defTabSz="266700">
              <a:lnSpc>
                <a:spcPct val="110000"/>
              </a:lnSpc>
            </a:pPr>
            <a:r>
              <a:rPr lang="zh-CN" altLang="en-US" sz="1600">
                <a:latin typeface="+mn-ea"/>
                <a:cs typeface="+mn-ea"/>
              </a:rPr>
              <a:t>其与别的系统的对比，由上表可见，做了压缩的</a:t>
            </a:r>
            <a:r>
              <a:rPr lang="en-US" sz="1600">
                <a:latin typeface="+mn-ea"/>
                <a:cs typeface="+mn-ea"/>
                <a:sym typeface="+mn-ea"/>
              </a:rPr>
              <a:t>DangZero</a:t>
            </a:r>
            <a:r>
              <a:rPr lang="zh-CN" altLang="en-US" sz="1600">
                <a:latin typeface="+mn-ea"/>
                <a:cs typeface="+mn-ea"/>
              </a:rPr>
              <a:t>的内存开销</a:t>
            </a:r>
            <a:r>
              <a:rPr lang="en-US" altLang="zh-CN" sz="1600">
                <a:latin typeface="+mn-ea"/>
                <a:cs typeface="+mn-ea"/>
              </a:rPr>
              <a:t>(1.25X)</a:t>
            </a:r>
            <a:r>
              <a:rPr lang="zh-CN" altLang="en-US" sz="1600">
                <a:latin typeface="+mn-ea"/>
                <a:cs typeface="+mn-ea"/>
              </a:rPr>
              <a:t>略差于</a:t>
            </a:r>
            <a:r>
              <a:rPr lang="en-US" altLang="zh-CN" sz="1600">
                <a:latin typeface="+mn-ea"/>
                <a:cs typeface="+mn-ea"/>
              </a:rPr>
              <a:t>MineSweeper(+2.7%)</a:t>
            </a:r>
            <a:r>
              <a:rPr lang="zh-CN" altLang="en-US" sz="1600">
                <a:latin typeface="+mn-ea"/>
                <a:cs typeface="+mn-ea"/>
              </a:rPr>
              <a:t>，略优于</a:t>
            </a:r>
            <a:r>
              <a:rPr lang="en-US" altLang="zh-CN" sz="1600">
                <a:latin typeface="+mn-ea"/>
                <a:cs typeface="+mn-ea"/>
              </a:rPr>
              <a:t>MarkUs(-1.9%)</a:t>
            </a:r>
            <a:r>
              <a:rPr lang="zh-CN" altLang="en-US" sz="1600">
                <a:latin typeface="+mn-ea"/>
                <a:cs typeface="+mn-ea"/>
              </a:rPr>
              <a:t>，由于</a:t>
            </a:r>
            <a:r>
              <a:rPr lang="en-US" altLang="zh-CN" sz="1600">
                <a:latin typeface="+mn-ea"/>
                <a:cs typeface="+mn-ea"/>
              </a:rPr>
              <a:t>FFmalloc</a:t>
            </a:r>
            <a:r>
              <a:rPr lang="zh-CN" altLang="en-US" sz="1600">
                <a:latin typeface="+mn-ea"/>
                <a:cs typeface="+mn-ea"/>
              </a:rPr>
              <a:t>的</a:t>
            </a:r>
            <a:r>
              <a:rPr lang="en-US" altLang="zh-CN" sz="1600">
                <a:latin typeface="+mn-ea"/>
                <a:cs typeface="+mn-ea"/>
              </a:rPr>
              <a:t>115.8%</a:t>
            </a:r>
            <a:r>
              <a:rPr lang="zh-CN" altLang="en-US" sz="1600">
                <a:latin typeface="+mn-ea"/>
                <a:cs typeface="+mn-ea"/>
              </a:rPr>
              <a:t>，这正是由于以前提到过的</a:t>
            </a:r>
            <a:r>
              <a:rPr lang="en-US" altLang="zh-CN" sz="1600">
                <a:latin typeface="+mn-ea"/>
                <a:cs typeface="+mn-ea"/>
              </a:rPr>
              <a:t>FFmalloc</a:t>
            </a:r>
            <a:r>
              <a:rPr lang="zh-CN" altLang="en-US" sz="1600">
                <a:latin typeface="+mn-ea"/>
                <a:cs typeface="+mn-ea"/>
              </a:rPr>
              <a:t>方法中的时间与空间的折衷。</a:t>
            </a:r>
            <a:endParaRPr lang="zh-CN" altLang="en-US" sz="1600">
              <a:latin typeface="+mn-ea"/>
              <a:cs typeface="+mn-ea"/>
            </a:endParaRPr>
          </a:p>
        </p:txBody>
      </p:sp>
      <p:pic>
        <p:nvPicPr>
          <p:cNvPr id="4" name="图片 3"/>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668655" y="2733675"/>
            <a:ext cx="5793105" cy="3751580"/>
          </a:xfrm>
          <a:prstGeom prst="rect">
            <a:avLst/>
          </a:prstGeom>
        </p:spPr>
      </p:pic>
      <p:pic>
        <p:nvPicPr>
          <p:cNvPr id="5" name="图片 4"/>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6785610" y="2770505"/>
            <a:ext cx="4704080" cy="17875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46"/>
          <p:cNvSpPr>
            <a:spLocks noChangeArrowheads="1"/>
          </p:cNvSpPr>
          <p:nvPr/>
        </p:nvSpPr>
        <p:spPr bwMode="auto">
          <a:xfrm>
            <a:off x="634918" y="237124"/>
            <a:ext cx="505396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评价</a:t>
            </a:r>
            <a:r>
              <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——SPECspeed2017</a:t>
            </a:r>
            <a:endPar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 name="文本框 1"/>
          <p:cNvSpPr txBox="1"/>
          <p:nvPr/>
        </p:nvSpPr>
        <p:spPr>
          <a:xfrm>
            <a:off x="635000" y="1080135"/>
            <a:ext cx="9330690" cy="1617345"/>
          </a:xfrm>
          <a:prstGeom prst="rect">
            <a:avLst/>
          </a:prstGeom>
        </p:spPr>
        <p:txBody>
          <a:bodyPr wrap="square">
            <a:noAutofit/>
          </a:bodyPr>
          <a:p>
            <a:pPr defTabSz="266700"/>
            <a:r>
              <a:rPr lang="zh-CN" altLang="en-US" sz="1600" b="1">
                <a:latin typeface="+mn-ea"/>
                <a:cs typeface="+mn-ea"/>
              </a:rPr>
              <a:t>性能比较：</a:t>
            </a:r>
            <a:endParaRPr lang="zh-CN" altLang="en-US" sz="1600" b="1">
              <a:latin typeface="+mn-ea"/>
              <a:cs typeface="+mn-ea"/>
            </a:endParaRPr>
          </a:p>
          <a:p>
            <a:pPr defTabSz="266700"/>
            <a:r>
              <a:rPr lang="zh-CN" altLang="en-US" sz="1600">
                <a:latin typeface="+mn-ea"/>
                <a:cs typeface="+mn-ea"/>
              </a:rPr>
              <a:t>对于去除一个特定的实验样例的数据的部分平方平均数</a:t>
            </a:r>
            <a:r>
              <a:rPr lang="en-US" altLang="zh-CN" sz="1600">
                <a:latin typeface="+mn-ea"/>
                <a:cs typeface="+mn-ea"/>
              </a:rPr>
              <a:t>(partial geomean)</a:t>
            </a:r>
            <a:r>
              <a:rPr lang="zh-CN" altLang="en-US" sz="1600">
                <a:latin typeface="+mn-ea"/>
                <a:cs typeface="+mn-ea"/>
              </a:rPr>
              <a:t>，</a:t>
            </a:r>
            <a:r>
              <a:rPr lang="en-US" sz="1600">
                <a:latin typeface="+mn-ea"/>
                <a:cs typeface="+mn-ea"/>
                <a:sym typeface="+mn-ea"/>
              </a:rPr>
              <a:t>DangZero</a:t>
            </a:r>
            <a:r>
              <a:rPr lang="zh-CN" altLang="en-US" sz="1600">
                <a:latin typeface="+mn-ea"/>
                <a:cs typeface="+mn-ea"/>
              </a:rPr>
              <a:t>的开销：</a:t>
            </a:r>
            <a:r>
              <a:rPr lang="en-US" altLang="zh-CN" sz="1600">
                <a:latin typeface="+mn-ea"/>
                <a:cs typeface="+mn-ea"/>
              </a:rPr>
              <a:t>17%</a:t>
            </a:r>
            <a:r>
              <a:rPr lang="zh-CN" altLang="en-US" sz="1600">
                <a:latin typeface="+mn-ea"/>
                <a:cs typeface="+mn-ea"/>
              </a:rPr>
              <a:t>，略差于</a:t>
            </a:r>
            <a:r>
              <a:rPr lang="en-US" altLang="zh-CN" sz="1600">
                <a:latin typeface="+mn-ea"/>
                <a:cs typeface="+mn-ea"/>
              </a:rPr>
              <a:t>MineSweeper</a:t>
            </a:r>
            <a:r>
              <a:rPr lang="zh-CN" altLang="en-US" sz="1600">
                <a:latin typeface="+mn-ea"/>
                <a:cs typeface="+mn-ea"/>
              </a:rPr>
              <a:t>的</a:t>
            </a:r>
            <a:r>
              <a:rPr lang="en-US" altLang="zh-CN" sz="1600">
                <a:latin typeface="+mn-ea"/>
                <a:cs typeface="+mn-ea"/>
              </a:rPr>
              <a:t>12%</a:t>
            </a:r>
            <a:r>
              <a:rPr lang="zh-CN" altLang="en-US" sz="1600">
                <a:latin typeface="+mn-ea"/>
                <a:cs typeface="+mn-ea"/>
              </a:rPr>
              <a:t>。对于平方平均数，与</a:t>
            </a:r>
            <a:r>
              <a:rPr lang="en-US" altLang="zh-CN" sz="1600">
                <a:latin typeface="+mn-ea"/>
                <a:cs typeface="+mn-ea"/>
              </a:rPr>
              <a:t>MarkUs</a:t>
            </a:r>
            <a:r>
              <a:rPr lang="zh-CN" altLang="en-US" sz="1600">
                <a:latin typeface="+mn-ea"/>
                <a:cs typeface="+mn-ea"/>
              </a:rPr>
              <a:t>的</a:t>
            </a:r>
            <a:r>
              <a:rPr lang="en-US" altLang="zh-CN" sz="1600">
                <a:latin typeface="+mn-ea"/>
                <a:cs typeface="+mn-ea"/>
              </a:rPr>
              <a:t>13%</a:t>
            </a:r>
            <a:r>
              <a:rPr lang="zh-CN" altLang="en-US" sz="1600">
                <a:latin typeface="+mn-ea"/>
                <a:cs typeface="+mn-ea"/>
              </a:rPr>
              <a:t>相比，</a:t>
            </a:r>
            <a:r>
              <a:rPr lang="en-US" sz="1600">
                <a:latin typeface="+mn-ea"/>
                <a:cs typeface="+mn-ea"/>
                <a:sym typeface="+mn-ea"/>
              </a:rPr>
              <a:t>DangZero</a:t>
            </a:r>
            <a:r>
              <a:rPr lang="zh-CN" altLang="en-US" sz="1600">
                <a:latin typeface="+mn-ea"/>
                <a:cs typeface="+mn-ea"/>
              </a:rPr>
              <a:t>的也略差</a:t>
            </a:r>
            <a:r>
              <a:rPr lang="en-US" altLang="zh-CN" sz="1600">
                <a:latin typeface="+mn-ea"/>
                <a:cs typeface="+mn-ea"/>
              </a:rPr>
              <a:t>(14.5%)</a:t>
            </a:r>
            <a:r>
              <a:rPr lang="zh-CN" altLang="en-US" sz="1600">
                <a:latin typeface="+mn-ea"/>
                <a:cs typeface="+mn-ea"/>
              </a:rPr>
              <a:t>。论文认为，在</a:t>
            </a:r>
            <a:r>
              <a:rPr lang="en-US" sz="1600">
                <a:latin typeface="+mn-ea"/>
                <a:cs typeface="+mn-ea"/>
                <a:sym typeface="+mn-ea"/>
              </a:rPr>
              <a:t>DangZero</a:t>
            </a:r>
            <a:r>
              <a:rPr lang="zh-CN" altLang="en-US" sz="1600">
                <a:latin typeface="+mn-ea"/>
                <a:cs typeface="+mn-ea"/>
              </a:rPr>
              <a:t>比另外两者额外提供了</a:t>
            </a:r>
            <a:r>
              <a:rPr lang="en-US" altLang="zh-CN" sz="1600">
                <a:latin typeface="+mn-ea"/>
                <a:cs typeface="+mn-ea"/>
              </a:rPr>
              <a:t>UAF</a:t>
            </a:r>
            <a:r>
              <a:rPr lang="zh-CN" altLang="en-US" sz="1600">
                <a:latin typeface="+mn-ea"/>
                <a:cs typeface="+mn-ea"/>
              </a:rPr>
              <a:t>漏洞检测功能的同时，还能勉强与其性能媲美。</a:t>
            </a:r>
            <a:endParaRPr lang="zh-CN" altLang="en-US" sz="1600">
              <a:latin typeface="+mn-ea"/>
              <a:cs typeface="+mn-ea"/>
            </a:endParaRPr>
          </a:p>
          <a:p>
            <a:pPr defTabSz="266700"/>
            <a:r>
              <a:rPr lang="zh-CN" altLang="en-US" sz="1600" b="1">
                <a:latin typeface="+mn-ea"/>
                <a:cs typeface="+mn-ea"/>
              </a:rPr>
              <a:t>内存比较：</a:t>
            </a:r>
            <a:endParaRPr lang="zh-CN" altLang="en-US" sz="1600" b="1">
              <a:latin typeface="+mn-ea"/>
              <a:cs typeface="+mn-ea"/>
            </a:endParaRPr>
          </a:p>
          <a:p>
            <a:pPr defTabSz="266700"/>
            <a:r>
              <a:rPr lang="en-US" altLang="zh-CN" sz="1600">
                <a:latin typeface="+mn-ea"/>
                <a:cs typeface="+mn-ea"/>
              </a:rPr>
              <a:t>overhead</a:t>
            </a:r>
            <a:r>
              <a:rPr lang="zh-CN" altLang="en-US" sz="1600">
                <a:latin typeface="+mn-ea"/>
                <a:cs typeface="+mn-ea"/>
              </a:rPr>
              <a:t>：</a:t>
            </a:r>
            <a:r>
              <a:rPr lang="en-US" altLang="zh-CN" sz="1600">
                <a:latin typeface="+mn-ea"/>
                <a:cs typeface="+mn-ea"/>
              </a:rPr>
              <a:t>MarkUs</a:t>
            </a:r>
            <a:r>
              <a:rPr lang="zh-CN" altLang="en-US" sz="1600">
                <a:latin typeface="+mn-ea"/>
                <a:cs typeface="+mn-ea"/>
              </a:rPr>
              <a:t>：</a:t>
            </a:r>
            <a:r>
              <a:rPr lang="en-US" altLang="zh-CN" sz="1600">
                <a:latin typeface="+mn-ea"/>
                <a:cs typeface="+mn-ea"/>
              </a:rPr>
              <a:t>19%</a:t>
            </a:r>
            <a:r>
              <a:rPr lang="zh-CN" altLang="en-US" sz="1600">
                <a:latin typeface="+mn-ea"/>
                <a:cs typeface="+mn-ea"/>
              </a:rPr>
              <a:t>；</a:t>
            </a:r>
            <a:r>
              <a:rPr lang="en-US" altLang="zh-CN" sz="1600">
                <a:latin typeface="+mn-ea"/>
                <a:cs typeface="+mn-ea"/>
              </a:rPr>
              <a:t>FFmalloc</a:t>
            </a:r>
            <a:r>
              <a:rPr lang="zh-CN" altLang="en-US" sz="1600">
                <a:latin typeface="+mn-ea"/>
                <a:cs typeface="+mn-ea"/>
              </a:rPr>
              <a:t>：</a:t>
            </a:r>
            <a:r>
              <a:rPr lang="en-US" altLang="zh-CN" sz="1600">
                <a:latin typeface="+mn-ea"/>
                <a:cs typeface="+mn-ea"/>
              </a:rPr>
              <a:t>29.5%</a:t>
            </a:r>
            <a:r>
              <a:rPr lang="zh-CN" altLang="en-US" sz="1600">
                <a:latin typeface="+mn-ea"/>
                <a:cs typeface="+mn-ea"/>
              </a:rPr>
              <a:t>；</a:t>
            </a:r>
            <a:r>
              <a:rPr lang="en-US" altLang="zh-CN" sz="1600">
                <a:latin typeface="+mn-ea"/>
                <a:cs typeface="+mn-ea"/>
              </a:rPr>
              <a:t>MineSweeper</a:t>
            </a:r>
            <a:r>
              <a:rPr lang="zh-CN" altLang="en-US" sz="1600">
                <a:latin typeface="+mn-ea"/>
                <a:cs typeface="+mn-ea"/>
              </a:rPr>
              <a:t>：</a:t>
            </a:r>
            <a:r>
              <a:rPr lang="en-US" altLang="zh-CN" sz="1600">
                <a:latin typeface="+mn-ea"/>
                <a:cs typeface="+mn-ea"/>
              </a:rPr>
              <a:t>8.1%</a:t>
            </a:r>
            <a:r>
              <a:rPr lang="zh-CN" altLang="en-US" sz="1600">
                <a:latin typeface="+mn-ea"/>
                <a:cs typeface="+mn-ea"/>
              </a:rPr>
              <a:t>；</a:t>
            </a:r>
            <a:r>
              <a:rPr lang="en-US" sz="1600">
                <a:latin typeface="+mn-ea"/>
                <a:cs typeface="+mn-ea"/>
                <a:sym typeface="+mn-ea"/>
              </a:rPr>
              <a:t>DangZero</a:t>
            </a:r>
            <a:r>
              <a:rPr lang="zh-CN" altLang="en-US" sz="1600">
                <a:latin typeface="+mn-ea"/>
                <a:cs typeface="+mn-ea"/>
              </a:rPr>
              <a:t>：</a:t>
            </a:r>
            <a:r>
              <a:rPr lang="en-US" altLang="zh-CN" sz="1600">
                <a:latin typeface="+mn-ea"/>
                <a:cs typeface="+mn-ea"/>
              </a:rPr>
              <a:t>30%</a:t>
            </a:r>
            <a:r>
              <a:rPr lang="zh-CN" altLang="en-US" sz="1600">
                <a:latin typeface="+mn-ea"/>
                <a:cs typeface="+mn-ea"/>
              </a:rPr>
              <a:t>。</a:t>
            </a:r>
            <a:endParaRPr lang="zh-CN" altLang="en-US" sz="1600">
              <a:latin typeface="+mn-ea"/>
              <a:cs typeface="+mn-ea"/>
            </a:endParaRPr>
          </a:p>
          <a:p>
            <a:pPr defTabSz="266700"/>
            <a:endParaRPr lang="zh-CN" altLang="en-US" sz="1600">
              <a:latin typeface="+mn-ea"/>
              <a:cs typeface="+mn-ea"/>
            </a:endParaRPr>
          </a:p>
        </p:txBody>
      </p:sp>
      <p:pic>
        <p:nvPicPr>
          <p:cNvPr id="3" name="图片 2"/>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668655" y="2886075"/>
            <a:ext cx="7160895" cy="34778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46"/>
          <p:cNvSpPr>
            <a:spLocks noChangeArrowheads="1"/>
          </p:cNvSpPr>
          <p:nvPr/>
        </p:nvSpPr>
        <p:spPr bwMode="auto">
          <a:xfrm>
            <a:off x="634918" y="237124"/>
            <a:ext cx="29972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评价</a:t>
            </a:r>
            <a:r>
              <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——Nginx</a:t>
            </a:r>
            <a:endPar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 name="文本框 1"/>
          <p:cNvSpPr txBox="1"/>
          <p:nvPr/>
        </p:nvSpPr>
        <p:spPr>
          <a:xfrm>
            <a:off x="635000" y="1080135"/>
            <a:ext cx="4953000" cy="4769485"/>
          </a:xfrm>
          <a:prstGeom prst="rect">
            <a:avLst/>
          </a:prstGeom>
        </p:spPr>
        <p:txBody>
          <a:bodyPr wrap="square">
            <a:spAutoFit/>
          </a:bodyPr>
          <a:p>
            <a:pPr defTabSz="266700"/>
            <a:r>
              <a:rPr lang="zh-CN" altLang="en-US" sz="1600" b="1">
                <a:latin typeface="+mn-ea"/>
                <a:cs typeface="+mn-ea"/>
              </a:rPr>
              <a:t>吞吐与性能：</a:t>
            </a:r>
            <a:endParaRPr lang="zh-CN" altLang="en-US" sz="1600" b="1">
              <a:latin typeface="+mn-ea"/>
              <a:cs typeface="+mn-ea"/>
            </a:endParaRPr>
          </a:p>
          <a:p>
            <a:pPr defTabSz="266700"/>
            <a:r>
              <a:rPr lang="zh-CN" altLang="en-US" sz="1600">
                <a:latin typeface="+mn-ea"/>
                <a:cs typeface="+mn-ea"/>
              </a:rPr>
              <a:t>在最大吞吐（</a:t>
            </a:r>
            <a:r>
              <a:rPr lang="en-US" altLang="zh-CN" sz="1600">
                <a:latin typeface="+mn-ea"/>
                <a:cs typeface="+mn-ea"/>
              </a:rPr>
              <a:t>256 </a:t>
            </a:r>
            <a:r>
              <a:rPr lang="zh-CN" altLang="en-US" sz="1600">
                <a:latin typeface="+mn-ea"/>
                <a:cs typeface="+mn-ea"/>
              </a:rPr>
              <a:t>并发连接）时：</a:t>
            </a:r>
            <a:endParaRPr lang="en-US" altLang="zh-CN" sz="1600">
              <a:latin typeface="+mn-ea"/>
              <a:cs typeface="+mn-ea"/>
            </a:endParaRPr>
          </a:p>
          <a:p>
            <a:pPr marL="285750" indent="-285750" defTabSz="266700">
              <a:buFont typeface="Arial" panose="020B0604020202020204" pitchFamily="34" charset="0"/>
              <a:buChar char="•"/>
            </a:pPr>
            <a:r>
              <a:rPr lang="en-US" altLang="zh-CN" sz="1600">
                <a:latin typeface="+mn-ea"/>
                <a:cs typeface="+mn-ea"/>
              </a:rPr>
              <a:t>DangZero </a:t>
            </a:r>
            <a:r>
              <a:rPr lang="zh-CN" altLang="en-US" sz="1600">
                <a:latin typeface="+mn-ea"/>
                <a:cs typeface="+mn-ea"/>
              </a:rPr>
              <a:t>吞吐下降</a:t>
            </a:r>
            <a:r>
              <a:rPr lang="en-US" altLang="zh-CN" sz="1600">
                <a:latin typeface="+mn-ea"/>
                <a:cs typeface="+mn-ea"/>
              </a:rPr>
              <a:t> 18%</a:t>
            </a:r>
            <a:endParaRPr lang="en-US" altLang="zh-CN" sz="1600">
              <a:latin typeface="+mn-ea"/>
              <a:cs typeface="+mn-ea"/>
            </a:endParaRPr>
          </a:p>
          <a:p>
            <a:pPr marL="285750" indent="-285750" defTabSz="266700">
              <a:buFont typeface="Arial" panose="020B0604020202020204" pitchFamily="34" charset="0"/>
              <a:buChar char="•"/>
            </a:pPr>
            <a:r>
              <a:rPr lang="en-US" altLang="zh-CN" sz="1600">
                <a:latin typeface="+mn-ea"/>
                <a:cs typeface="+mn-ea"/>
              </a:rPr>
              <a:t>FFmalloc </a:t>
            </a:r>
            <a:r>
              <a:rPr lang="zh-CN" altLang="en-US" sz="1600">
                <a:latin typeface="+mn-ea"/>
                <a:cs typeface="+mn-ea"/>
              </a:rPr>
              <a:t>下降</a:t>
            </a:r>
            <a:r>
              <a:rPr lang="en-US" altLang="zh-CN" sz="1600">
                <a:latin typeface="+mn-ea"/>
                <a:cs typeface="+mn-ea"/>
              </a:rPr>
              <a:t> 31%</a:t>
            </a:r>
            <a:endParaRPr lang="en-US" altLang="zh-CN" sz="1600">
              <a:latin typeface="+mn-ea"/>
              <a:cs typeface="+mn-ea"/>
            </a:endParaRPr>
          </a:p>
          <a:p>
            <a:pPr marL="285750" indent="-285750" defTabSz="266700">
              <a:buFont typeface="Arial" panose="020B0604020202020204" pitchFamily="34" charset="0"/>
              <a:buChar char="•"/>
            </a:pPr>
            <a:r>
              <a:rPr lang="en-US" altLang="zh-CN" sz="1600">
                <a:latin typeface="+mn-ea"/>
                <a:cs typeface="+mn-ea"/>
              </a:rPr>
              <a:t>MineSweeper </a:t>
            </a:r>
            <a:r>
              <a:rPr lang="zh-CN" altLang="en-US" sz="1600">
                <a:latin typeface="+mn-ea"/>
                <a:cs typeface="+mn-ea"/>
              </a:rPr>
              <a:t>下降</a:t>
            </a:r>
            <a:r>
              <a:rPr lang="en-US" altLang="zh-CN" sz="1600">
                <a:latin typeface="+mn-ea"/>
                <a:cs typeface="+mn-ea"/>
              </a:rPr>
              <a:t> 56%</a:t>
            </a:r>
            <a:r>
              <a:rPr lang="zh-CN" altLang="en-US" sz="1600">
                <a:latin typeface="+mn-ea"/>
                <a:cs typeface="+mn-ea"/>
              </a:rPr>
              <a:t>（</a:t>
            </a:r>
            <a:r>
              <a:rPr lang="en-US" altLang="zh-CN" sz="1600">
                <a:latin typeface="+mn-ea"/>
                <a:cs typeface="+mn-ea"/>
              </a:rPr>
              <a:t>GC</a:t>
            </a:r>
            <a:r>
              <a:rPr lang="zh-CN" altLang="en-US" sz="1600">
                <a:latin typeface="+mn-ea"/>
                <a:cs typeface="+mn-ea"/>
              </a:rPr>
              <a:t>线程干扰大）</a:t>
            </a:r>
            <a:endParaRPr lang="en-US" altLang="zh-CN" sz="1600">
              <a:latin typeface="+mn-ea"/>
              <a:cs typeface="+mn-ea"/>
            </a:endParaRPr>
          </a:p>
          <a:p>
            <a:pPr defTabSz="266700"/>
            <a:r>
              <a:rPr lang="en-US" altLang="zh-CN" sz="1600">
                <a:latin typeface="+mn-ea"/>
                <a:cs typeface="+mn-ea"/>
                <a:sym typeface="+mn-ea"/>
              </a:rPr>
              <a:t>DangZero </a:t>
            </a:r>
            <a:r>
              <a:rPr lang="zh-CN" altLang="en-US" sz="1600">
                <a:latin typeface="+mn-ea"/>
                <a:cs typeface="+mn-ea"/>
              </a:rPr>
              <a:t>方法在</a:t>
            </a:r>
            <a:r>
              <a:rPr lang="en-US" altLang="zh-CN" sz="1600">
                <a:latin typeface="+mn-ea"/>
                <a:cs typeface="+mn-ea"/>
              </a:rPr>
              <a:t>Ngnix</a:t>
            </a:r>
            <a:r>
              <a:rPr lang="zh-CN" altLang="en-US" sz="1600">
                <a:latin typeface="+mn-ea"/>
                <a:cs typeface="+mn-ea"/>
              </a:rPr>
              <a:t>下吞吐量降级是最低的</a:t>
            </a:r>
            <a:r>
              <a:rPr lang="zh-CN" altLang="en-US" sz="1600">
                <a:latin typeface="+mn-ea"/>
                <a:cs typeface="+mn-ea"/>
              </a:rPr>
              <a:t>。</a:t>
            </a:r>
            <a:endParaRPr lang="en-US" altLang="zh-CN" sz="1600">
              <a:latin typeface="+mn-ea"/>
              <a:cs typeface="+mn-ea"/>
            </a:endParaRPr>
          </a:p>
          <a:p>
            <a:pPr defTabSz="266700"/>
            <a:r>
              <a:rPr lang="zh-CN" altLang="en-US" sz="1600" b="1">
                <a:latin typeface="+mn-ea"/>
                <a:cs typeface="+mn-ea"/>
              </a:rPr>
              <a:t>可扩展性与别名空间回收：</a:t>
            </a:r>
            <a:endParaRPr lang="zh-CN" altLang="en-US" sz="1600" b="1">
              <a:latin typeface="+mn-ea"/>
              <a:cs typeface="+mn-ea"/>
            </a:endParaRPr>
          </a:p>
          <a:p>
            <a:pPr defTabSz="266700"/>
            <a:r>
              <a:rPr lang="zh-CN" altLang="en-US" sz="1600">
                <a:latin typeface="+mn-ea"/>
                <a:cs typeface="+mn-ea"/>
              </a:rPr>
              <a:t>不进行别名回收时，</a:t>
            </a:r>
            <a:r>
              <a:rPr lang="en-US" altLang="zh-CN" sz="1600">
                <a:latin typeface="+mn-ea"/>
                <a:cs typeface="+mn-ea"/>
              </a:rPr>
              <a:t>DangZero 24 </a:t>
            </a:r>
            <a:r>
              <a:rPr lang="zh-CN" altLang="en-US" sz="1600">
                <a:latin typeface="+mn-ea"/>
                <a:cs typeface="+mn-ea"/>
              </a:rPr>
              <a:t>小时内耗尽别名</a:t>
            </a:r>
            <a:r>
              <a:rPr lang="zh-CN" altLang="en-US" sz="1600">
                <a:latin typeface="+mn-ea"/>
                <a:cs typeface="+mn-ea"/>
              </a:rPr>
              <a:t>空间；</a:t>
            </a:r>
            <a:endParaRPr lang="en-US" altLang="zh-CN" sz="1600">
              <a:latin typeface="+mn-ea"/>
              <a:cs typeface="+mn-ea"/>
            </a:endParaRPr>
          </a:p>
          <a:p>
            <a:pPr defTabSz="266700"/>
            <a:r>
              <a:rPr lang="zh-CN" altLang="en-US" sz="1600">
                <a:latin typeface="+mn-ea"/>
                <a:cs typeface="+mn-ea"/>
              </a:rPr>
              <a:t>开启别名回收后，空间增长被控制；</a:t>
            </a:r>
            <a:endParaRPr lang="en-US" altLang="zh-CN" sz="1600">
              <a:latin typeface="+mn-ea"/>
              <a:cs typeface="+mn-ea"/>
            </a:endParaRPr>
          </a:p>
          <a:p>
            <a:pPr defTabSz="266700"/>
            <a:r>
              <a:rPr lang="zh-CN" altLang="en-US" sz="1600">
                <a:latin typeface="+mn-ea"/>
                <a:cs typeface="+mn-ea"/>
              </a:rPr>
              <a:t>压缩与元数据回收机制降低物理内存压力（由</a:t>
            </a:r>
            <a:r>
              <a:rPr lang="en-US" altLang="zh-CN" sz="1600">
                <a:latin typeface="+mn-ea"/>
                <a:cs typeface="+mn-ea"/>
              </a:rPr>
              <a:t> 2400% </a:t>
            </a:r>
            <a:r>
              <a:rPr lang="zh-CN" altLang="en-US" sz="1600">
                <a:latin typeface="+mn-ea"/>
                <a:cs typeface="+mn-ea"/>
              </a:rPr>
              <a:t>降至</a:t>
            </a:r>
            <a:r>
              <a:rPr lang="en-US" altLang="zh-CN" sz="1600">
                <a:latin typeface="+mn-ea"/>
                <a:cs typeface="+mn-ea"/>
              </a:rPr>
              <a:t> 15%</a:t>
            </a:r>
            <a:r>
              <a:rPr lang="zh-CN" altLang="en-US" sz="1600">
                <a:latin typeface="+mn-ea"/>
                <a:cs typeface="+mn-ea"/>
              </a:rPr>
              <a:t>）。</a:t>
            </a:r>
            <a:endParaRPr lang="en-US" altLang="zh-CN" sz="1600">
              <a:latin typeface="+mn-ea"/>
              <a:cs typeface="+mn-ea"/>
            </a:endParaRPr>
          </a:p>
          <a:p>
            <a:pPr defTabSz="266700"/>
            <a:r>
              <a:rPr lang="zh-CN" altLang="en-US" sz="1600" b="1">
                <a:latin typeface="+mn-ea"/>
                <a:cs typeface="+mn-ea"/>
              </a:rPr>
              <a:t>内存稳定性：</a:t>
            </a:r>
            <a:endParaRPr lang="zh-CN" altLang="en-US" sz="1600" b="1">
              <a:latin typeface="+mn-ea"/>
              <a:cs typeface="+mn-ea"/>
            </a:endParaRPr>
          </a:p>
          <a:p>
            <a:pPr defTabSz="266700"/>
            <a:r>
              <a:rPr lang="en-US" altLang="zh-CN" sz="1600">
                <a:latin typeface="+mn-ea"/>
                <a:cs typeface="+mn-ea"/>
              </a:rPr>
              <a:t>DangZero </a:t>
            </a:r>
            <a:r>
              <a:rPr lang="zh-CN" altLang="en-US" sz="1600">
                <a:latin typeface="+mn-ea"/>
                <a:cs typeface="+mn-ea"/>
              </a:rPr>
              <a:t>在</a:t>
            </a:r>
            <a:r>
              <a:rPr lang="en-US" altLang="zh-CN" sz="1600">
                <a:latin typeface="+mn-ea"/>
                <a:cs typeface="+mn-ea"/>
              </a:rPr>
              <a:t> 10 </a:t>
            </a:r>
            <a:r>
              <a:rPr lang="zh-CN" altLang="en-US" sz="1600">
                <a:latin typeface="+mn-ea"/>
                <a:cs typeface="+mn-ea"/>
              </a:rPr>
              <a:t>分钟内内存稳定在</a:t>
            </a:r>
            <a:r>
              <a:rPr lang="en-US" altLang="zh-CN" sz="1600">
                <a:latin typeface="+mn-ea"/>
                <a:cs typeface="+mn-ea"/>
              </a:rPr>
              <a:t>76MB</a:t>
            </a:r>
            <a:r>
              <a:rPr lang="zh-CN" altLang="en-US" sz="1600">
                <a:latin typeface="+mn-ea"/>
                <a:cs typeface="+mn-ea"/>
              </a:rPr>
              <a:t>（</a:t>
            </a:r>
            <a:r>
              <a:rPr lang="zh-CN" sz="1600">
                <a:latin typeface="+mn-ea"/>
                <a:cs typeface="+mn-ea"/>
              </a:rPr>
              <a:t>基线的约</a:t>
            </a:r>
            <a:r>
              <a:rPr lang="en-US" altLang="zh-CN" sz="1600">
                <a:latin typeface="+mn-ea"/>
                <a:cs typeface="+mn-ea"/>
              </a:rPr>
              <a:t>2.76</a:t>
            </a:r>
            <a:r>
              <a:rPr lang="zh-CN" altLang="en-US" sz="1600">
                <a:latin typeface="+mn-ea"/>
                <a:cs typeface="+mn-ea"/>
              </a:rPr>
              <a:t>倍）；</a:t>
            </a:r>
            <a:endParaRPr lang="zh-CN" altLang="en-US" sz="1600">
              <a:latin typeface="+mn-ea"/>
              <a:cs typeface="+mn-ea"/>
            </a:endParaRPr>
          </a:p>
          <a:p>
            <a:pPr defTabSz="266700"/>
            <a:r>
              <a:rPr lang="en-US" altLang="zh-CN" sz="1600">
                <a:latin typeface="+mn-ea"/>
                <a:cs typeface="+mn-ea"/>
              </a:rPr>
              <a:t>MineSweeper</a:t>
            </a:r>
            <a:r>
              <a:rPr lang="zh-CN" altLang="en-US" sz="1600">
                <a:latin typeface="+mn-ea"/>
                <a:cs typeface="+mn-ea"/>
              </a:rPr>
              <a:t>的内存占用可以达到</a:t>
            </a:r>
            <a:r>
              <a:rPr lang="en-US" altLang="zh-CN" sz="1600">
                <a:latin typeface="+mn-ea"/>
                <a:cs typeface="+mn-ea"/>
              </a:rPr>
              <a:t>110MB</a:t>
            </a:r>
            <a:r>
              <a:rPr lang="zh-CN" altLang="en-US" sz="1600">
                <a:latin typeface="+mn-ea"/>
                <a:cs typeface="+mn-ea"/>
              </a:rPr>
              <a:t>左右，在一定程度上高于</a:t>
            </a:r>
            <a:r>
              <a:rPr lang="en-US" altLang="zh-CN" sz="1600">
                <a:latin typeface="+mn-ea"/>
                <a:cs typeface="+mn-ea"/>
                <a:sym typeface="+mn-ea"/>
              </a:rPr>
              <a:t>DangZero</a:t>
            </a:r>
            <a:r>
              <a:rPr lang="zh-CN" altLang="en-US" sz="1600">
                <a:latin typeface="+mn-ea"/>
                <a:cs typeface="+mn-ea"/>
                <a:sym typeface="+mn-ea"/>
              </a:rPr>
              <a:t>；</a:t>
            </a:r>
            <a:endParaRPr lang="zh-CN" altLang="en-US" sz="1600">
              <a:latin typeface="+mn-ea"/>
              <a:cs typeface="+mn-ea"/>
            </a:endParaRPr>
          </a:p>
          <a:p>
            <a:pPr defTabSz="266700"/>
            <a:r>
              <a:rPr lang="en-US" altLang="zh-CN" sz="1600">
                <a:latin typeface="+mn-ea"/>
                <a:cs typeface="+mn-ea"/>
              </a:rPr>
              <a:t>FFmalloc </a:t>
            </a:r>
            <a:r>
              <a:rPr lang="zh-CN" altLang="en-US" sz="1600">
                <a:latin typeface="+mn-ea"/>
                <a:cs typeface="+mn-ea"/>
              </a:rPr>
              <a:t>内存使用持续上升至</a:t>
            </a:r>
            <a:r>
              <a:rPr lang="en-US" altLang="zh-CN" sz="1600">
                <a:latin typeface="+mn-ea"/>
                <a:cs typeface="+mn-ea"/>
              </a:rPr>
              <a:t> 675MB</a:t>
            </a:r>
            <a:r>
              <a:rPr lang="zh-CN" altLang="en-US" sz="1600">
                <a:latin typeface="+mn-ea"/>
                <a:cs typeface="+mn-ea"/>
              </a:rPr>
              <a:t>（</a:t>
            </a:r>
            <a:r>
              <a:rPr lang="en-US" altLang="zh-CN" sz="1600">
                <a:latin typeface="+mn-ea"/>
                <a:cs typeface="+mn-ea"/>
              </a:rPr>
              <a:t>25 </a:t>
            </a:r>
            <a:r>
              <a:rPr lang="zh-CN" altLang="en-US" sz="1600">
                <a:latin typeface="+mn-ea"/>
                <a:cs typeface="+mn-ea"/>
              </a:rPr>
              <a:t>倍），疑似存在内存泄漏。</a:t>
            </a:r>
            <a:endParaRPr lang="zh-CN" altLang="en-US" sz="1600">
              <a:latin typeface="+mn-ea"/>
              <a:cs typeface="+mn-ea"/>
            </a:endParaRPr>
          </a:p>
        </p:txBody>
      </p:sp>
      <p:pic>
        <p:nvPicPr>
          <p:cNvPr id="3" name="图片 2"/>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5648325" y="1678940"/>
            <a:ext cx="6205855" cy="39058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46"/>
          <p:cNvSpPr>
            <a:spLocks noChangeArrowheads="1"/>
          </p:cNvSpPr>
          <p:nvPr/>
        </p:nvSpPr>
        <p:spPr bwMode="auto">
          <a:xfrm>
            <a:off x="634918" y="237124"/>
            <a:ext cx="333629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评价</a:t>
            </a:r>
            <a:r>
              <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——Apache</a:t>
            </a:r>
            <a:endParaRPr kumimoji="0" lang="en-US" altLang="zh-CN"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 name="文本框 1"/>
          <p:cNvSpPr txBox="1"/>
          <p:nvPr/>
        </p:nvSpPr>
        <p:spPr>
          <a:xfrm>
            <a:off x="635000" y="1080135"/>
            <a:ext cx="9126220" cy="1322070"/>
          </a:xfrm>
          <a:prstGeom prst="rect">
            <a:avLst/>
          </a:prstGeom>
        </p:spPr>
        <p:txBody>
          <a:bodyPr wrap="square">
            <a:spAutoFit/>
          </a:bodyPr>
          <a:p>
            <a:pPr defTabSz="266700"/>
            <a:r>
              <a:rPr lang="en-US" altLang="zh-CN" sz="1600" b="1">
                <a:latin typeface="+mn-ea"/>
                <a:cs typeface="+mn-ea"/>
              </a:rPr>
              <a:t>Apache</a:t>
            </a:r>
            <a:r>
              <a:rPr lang="zh-CN" altLang="en-US" sz="1600" b="1">
                <a:latin typeface="+mn-ea"/>
                <a:cs typeface="+mn-ea"/>
              </a:rPr>
              <a:t>上的测试：</a:t>
            </a:r>
            <a:endParaRPr lang="zh-CN" altLang="en-US" sz="1600" b="1">
              <a:latin typeface="+mn-ea"/>
              <a:cs typeface="+mn-ea"/>
            </a:endParaRPr>
          </a:p>
          <a:p>
            <a:pPr marL="285750" indent="-285750" defTabSz="266700">
              <a:buFont typeface="Arial" panose="020B0604020202020204" pitchFamily="34" charset="0"/>
              <a:buChar char="•"/>
            </a:pPr>
            <a:r>
              <a:rPr lang="zh-CN" altLang="en-US" sz="1600">
                <a:latin typeface="+mn-ea"/>
                <a:cs typeface="+mn-ea"/>
              </a:rPr>
              <a:t>使用</a:t>
            </a:r>
            <a:r>
              <a:rPr lang="en-US" altLang="zh-CN" sz="1600">
                <a:latin typeface="+mn-ea"/>
                <a:cs typeface="+mn-ea"/>
              </a:rPr>
              <a:t> prefork </a:t>
            </a:r>
            <a:r>
              <a:rPr lang="zh-CN" altLang="en-US" sz="1600">
                <a:latin typeface="+mn-ea"/>
                <a:cs typeface="+mn-ea"/>
              </a:rPr>
              <a:t>模式运行，确保与非线程安全的</a:t>
            </a:r>
            <a:r>
              <a:rPr lang="en-US" altLang="zh-CN" sz="1600">
                <a:latin typeface="+mn-ea"/>
                <a:cs typeface="+mn-ea"/>
              </a:rPr>
              <a:t> DangZero </a:t>
            </a:r>
            <a:r>
              <a:rPr lang="zh-CN" altLang="en-US" sz="1600">
                <a:latin typeface="+mn-ea"/>
                <a:cs typeface="+mn-ea"/>
              </a:rPr>
              <a:t>兼容。</a:t>
            </a:r>
            <a:endParaRPr lang="zh-CN" altLang="en-US" sz="1600">
              <a:latin typeface="+mn-ea"/>
              <a:cs typeface="+mn-ea"/>
            </a:endParaRPr>
          </a:p>
          <a:p>
            <a:pPr marL="285750" indent="-285750" defTabSz="266700">
              <a:buFont typeface="Arial" panose="020B0604020202020204" pitchFamily="34" charset="0"/>
              <a:buChar char="•"/>
            </a:pPr>
            <a:r>
              <a:rPr lang="zh-CN" altLang="en-US" sz="1600">
                <a:latin typeface="+mn-ea"/>
                <a:cs typeface="+mn-ea"/>
              </a:rPr>
              <a:t>禁用</a:t>
            </a:r>
            <a:r>
              <a:rPr lang="en-US" altLang="zh-CN" sz="1600">
                <a:latin typeface="+mn-ea"/>
                <a:cs typeface="+mn-ea"/>
              </a:rPr>
              <a:t> Apache </a:t>
            </a:r>
            <a:r>
              <a:rPr lang="zh-CN" altLang="en-US" sz="1600">
                <a:latin typeface="+mn-ea"/>
                <a:cs typeface="+mn-ea"/>
              </a:rPr>
              <a:t>内部内存缓存以保证测试准确性。只有</a:t>
            </a:r>
            <a:r>
              <a:rPr lang="en-US" altLang="zh-CN" sz="1600">
                <a:latin typeface="+mn-ea"/>
                <a:cs typeface="+mn-ea"/>
                <a:sym typeface="+mn-ea"/>
              </a:rPr>
              <a:t>DangZero</a:t>
            </a:r>
            <a:r>
              <a:rPr lang="zh-CN" altLang="en-US" sz="1600">
                <a:latin typeface="+mn-ea"/>
                <a:cs typeface="+mn-ea"/>
              </a:rPr>
              <a:t>和</a:t>
            </a:r>
            <a:r>
              <a:rPr lang="en-US" altLang="zh-CN" sz="1600">
                <a:latin typeface="+mn-ea"/>
                <a:cs typeface="+mn-ea"/>
              </a:rPr>
              <a:t>FFmalloc</a:t>
            </a:r>
            <a:r>
              <a:rPr lang="zh-CN" altLang="en-US" sz="1600">
                <a:latin typeface="+mn-ea"/>
                <a:cs typeface="+mn-ea"/>
              </a:rPr>
              <a:t>可以成功运行。</a:t>
            </a:r>
            <a:endParaRPr lang="zh-CN" altLang="en-US" sz="1600">
              <a:latin typeface="+mn-ea"/>
              <a:cs typeface="+mn-ea"/>
            </a:endParaRPr>
          </a:p>
          <a:p>
            <a:pPr marL="285750" indent="-285750" defTabSz="266700">
              <a:buFont typeface="Arial" panose="020B0604020202020204" pitchFamily="34" charset="0"/>
              <a:buChar char="•"/>
            </a:pPr>
            <a:r>
              <a:rPr lang="zh-CN" altLang="en-US" sz="1600">
                <a:latin typeface="+mn-ea"/>
                <a:cs typeface="+mn-ea"/>
              </a:rPr>
              <a:t>在</a:t>
            </a:r>
            <a:r>
              <a:rPr lang="en-US" altLang="zh-CN" sz="1600">
                <a:latin typeface="+mn-ea"/>
                <a:cs typeface="+mn-ea"/>
              </a:rPr>
              <a:t>176</a:t>
            </a:r>
            <a:r>
              <a:rPr lang="zh-CN" altLang="en-US" sz="1600">
                <a:latin typeface="+mn-ea"/>
                <a:cs typeface="+mn-ea"/>
              </a:rPr>
              <a:t>并发连接的情况下，</a:t>
            </a:r>
            <a:r>
              <a:rPr lang="en-US" altLang="zh-CN" sz="1600">
                <a:latin typeface="+mn-ea"/>
                <a:cs typeface="+mn-ea"/>
                <a:sym typeface="+mn-ea"/>
              </a:rPr>
              <a:t>DangZero</a:t>
            </a:r>
            <a:r>
              <a:rPr lang="zh-CN" altLang="en-US" sz="1600">
                <a:latin typeface="+mn-ea"/>
                <a:cs typeface="+mn-ea"/>
              </a:rPr>
              <a:t>的吞吐量降低相较基线为</a:t>
            </a:r>
            <a:r>
              <a:rPr lang="en-US" altLang="zh-CN" sz="1600">
                <a:latin typeface="+mn-ea"/>
                <a:cs typeface="+mn-ea"/>
              </a:rPr>
              <a:t>19.1%</a:t>
            </a:r>
            <a:r>
              <a:rPr lang="zh-CN" altLang="en-US" sz="1600">
                <a:latin typeface="+mn-ea"/>
                <a:cs typeface="+mn-ea"/>
              </a:rPr>
              <a:t>，而</a:t>
            </a:r>
            <a:r>
              <a:rPr lang="en-US" altLang="zh-CN" sz="1600">
                <a:latin typeface="+mn-ea"/>
                <a:cs typeface="+mn-ea"/>
              </a:rPr>
              <a:t>FFmalloc</a:t>
            </a:r>
            <a:r>
              <a:rPr lang="zh-CN" altLang="en-US" sz="1600">
                <a:latin typeface="+mn-ea"/>
                <a:cs typeface="+mn-ea"/>
              </a:rPr>
              <a:t>为</a:t>
            </a:r>
            <a:r>
              <a:rPr lang="en-US" altLang="zh-CN" sz="1600">
                <a:latin typeface="+mn-ea"/>
                <a:cs typeface="+mn-ea"/>
              </a:rPr>
              <a:t>28.7%</a:t>
            </a:r>
            <a:r>
              <a:rPr lang="zh-CN" altLang="en-US" sz="1600">
                <a:latin typeface="+mn-ea"/>
                <a:cs typeface="+mn-ea"/>
              </a:rPr>
              <a:t>。</a:t>
            </a:r>
            <a:endParaRPr lang="zh-CN" altLang="en-US" sz="1600">
              <a:latin typeface="+mn-ea"/>
              <a:cs typeface="+mn-ea"/>
            </a:endParaRPr>
          </a:p>
          <a:p>
            <a:pPr defTabSz="266700"/>
            <a:endParaRPr lang="zh-CN" altLang="en-US" sz="1600">
              <a:latin typeface="+mn-ea"/>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梯形 36"/>
          <p:cNvSpPr/>
          <p:nvPr/>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5" name="梯形 34"/>
          <p:cNvSpPr/>
          <p:nvPr/>
        </p:nvSpPr>
        <p:spPr>
          <a:xfrm rot="16200000">
            <a:off x="7446198" y="-451317"/>
            <a:ext cx="2291737" cy="7199871"/>
          </a:xfrm>
          <a:prstGeom prst="trapezoid">
            <a:avLst>
              <a:gd name="adj" fmla="val 16935"/>
            </a:avLst>
          </a:prstGeom>
          <a:solidFill>
            <a:srgbClr val="6B026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53795" cy="1198880"/>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5</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638798" y="2692405"/>
            <a:ext cx="2621280" cy="829945"/>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相关工作</a:t>
            </a: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30836" y="1705564"/>
            <a:ext cx="2823720" cy="280467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46"/>
          <p:cNvSpPr>
            <a:spLocks noChangeArrowheads="1"/>
          </p:cNvSpPr>
          <p:nvPr/>
        </p:nvSpPr>
        <p:spPr bwMode="auto">
          <a:xfrm>
            <a:off x="634918" y="237124"/>
            <a:ext cx="18681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相关工作</a:t>
            </a:r>
            <a:endPar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6"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3" name="组合 12"/>
          <p:cNvGrpSpPr/>
          <p:nvPr>
            <p:custDataLst>
              <p:tags r:id="rId1"/>
            </p:custDataLst>
          </p:nvPr>
        </p:nvGrpSpPr>
        <p:grpSpPr>
          <a:xfrm>
            <a:off x="837498" y="1098225"/>
            <a:ext cx="7685313" cy="465118"/>
            <a:chOff x="3002037" y="1465798"/>
            <a:chExt cx="7067433" cy="369332"/>
          </a:xfrm>
          <a:solidFill>
            <a:schemeClr val="accent2">
              <a:lumMod val="75000"/>
            </a:schemeClr>
          </a:solidFill>
        </p:grpSpPr>
        <p:sp>
          <p:nvSpPr>
            <p:cNvPr id="14" name="矩形 13"/>
            <p:cNvSpPr/>
            <p:nvPr>
              <p:custDataLst>
                <p:tags r:id="rId2"/>
              </p:custDataLst>
            </p:nvPr>
          </p:nvSpPr>
          <p:spPr bwMode="auto">
            <a:xfrm>
              <a:off x="3002037" y="1465798"/>
              <a:ext cx="7067433" cy="369332"/>
            </a:xfrm>
            <a:prstGeom prst="rect">
              <a:avLst/>
            </a:prstGeom>
            <a:solidFill>
              <a:srgbClr val="6B0261"/>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213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7" name="TextBox 16"/>
            <p:cNvSpPr txBox="1"/>
            <p:nvPr>
              <p:custDataLst>
                <p:tags r:id="rId3"/>
              </p:custDataLst>
            </p:nvPr>
          </p:nvSpPr>
          <p:spPr>
            <a:xfrm>
              <a:off x="3033223" y="1474123"/>
              <a:ext cx="5688633" cy="3337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135"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安全分配器（</a:t>
              </a:r>
              <a:r>
                <a:rPr kumimoji="0" lang="en-US" altLang="zh-CN" sz="2135"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safe allocator</a:t>
              </a:r>
              <a:r>
                <a:rPr kumimoji="0" lang="zh-CN" altLang="en-US" sz="2135"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a:t>
              </a:r>
              <a:endParaRPr kumimoji="0" lang="zh-CN" altLang="en-US" sz="2135"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endParaRPr>
            </a:p>
          </p:txBody>
        </p:sp>
      </p:grpSp>
      <p:grpSp>
        <p:nvGrpSpPr>
          <p:cNvPr id="18" name="组合 17"/>
          <p:cNvGrpSpPr/>
          <p:nvPr>
            <p:custDataLst>
              <p:tags r:id="rId4"/>
            </p:custDataLst>
          </p:nvPr>
        </p:nvGrpSpPr>
        <p:grpSpPr>
          <a:xfrm>
            <a:off x="814003" y="2544771"/>
            <a:ext cx="7685313" cy="465119"/>
            <a:chOff x="3002037" y="3922395"/>
            <a:chExt cx="7067433" cy="369332"/>
          </a:xfrm>
          <a:solidFill>
            <a:schemeClr val="accent2">
              <a:lumMod val="75000"/>
            </a:schemeClr>
          </a:solidFill>
        </p:grpSpPr>
        <p:sp>
          <p:nvSpPr>
            <p:cNvPr id="19" name="矩形 18"/>
            <p:cNvSpPr/>
            <p:nvPr>
              <p:custDataLst>
                <p:tags r:id="rId5"/>
              </p:custDataLst>
            </p:nvPr>
          </p:nvSpPr>
          <p:spPr bwMode="auto">
            <a:xfrm>
              <a:off x="3002037" y="3922395"/>
              <a:ext cx="7067433" cy="369332"/>
            </a:xfrm>
            <a:prstGeom prst="rect">
              <a:avLst/>
            </a:prstGeom>
            <a:solidFill>
              <a:srgbClr val="6B0261"/>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213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 name="TextBox 19"/>
            <p:cNvSpPr txBox="1"/>
            <p:nvPr>
              <p:custDataLst>
                <p:tags r:id="rId6"/>
              </p:custDataLst>
            </p:nvPr>
          </p:nvSpPr>
          <p:spPr>
            <a:xfrm>
              <a:off x="3023808" y="3939647"/>
              <a:ext cx="4085844" cy="3337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135"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UAF</a:t>
              </a:r>
              <a:r>
                <a:rPr kumimoji="0" lang="zh-CN" altLang="en-US" sz="2135"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检测器（</a:t>
              </a:r>
              <a:r>
                <a:rPr kumimoji="0" lang="en-US" altLang="zh-CN" sz="2135"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UAF Detectors</a:t>
              </a:r>
              <a:r>
                <a:rPr kumimoji="0" lang="zh-CN" altLang="en-US" sz="2135"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a:t>
              </a:r>
              <a:endParaRPr kumimoji="0" lang="zh-CN" altLang="en-US" sz="2135"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endParaRPr>
            </a:p>
          </p:txBody>
        </p:sp>
      </p:grpSp>
      <p:sp>
        <p:nvSpPr>
          <p:cNvPr id="21" name="TextBox 20"/>
          <p:cNvSpPr txBox="1"/>
          <p:nvPr>
            <p:custDataLst>
              <p:tags r:id="rId7"/>
            </p:custDataLst>
          </p:nvPr>
        </p:nvSpPr>
        <p:spPr>
          <a:xfrm>
            <a:off x="837499" y="1563395"/>
            <a:ext cx="7685312" cy="730885"/>
          </a:xfrm>
          <a:prstGeom prst="rect">
            <a:avLst/>
          </a:prstGeom>
          <a:noFill/>
        </p:spPr>
        <p:txBody>
          <a:bodyPr wrap="square" lIns="91440" tIns="45720" rIns="91440" bIns="45720" rtlCol="0">
            <a:spAutoFit/>
          </a:bodyPr>
          <a:lstStyle/>
          <a:p>
            <a:pPr marL="285750" marR="0" lvl="0" indent="-285750" algn="l" defTabSz="4572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随机化分配：随机放置对象</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 </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重初始化释放的内存</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增加利用难度</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类型安全重用：确保释放内存仅被同类型对象重用</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阻止类型混淆攻击</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2" name="TextBox 21"/>
          <p:cNvSpPr txBox="1"/>
          <p:nvPr>
            <p:custDataLst>
              <p:tags r:id="rId8"/>
            </p:custDataLst>
          </p:nvPr>
        </p:nvSpPr>
        <p:spPr>
          <a:xfrm>
            <a:off x="814004" y="3010463"/>
            <a:ext cx="7685312" cy="1050925"/>
          </a:xfrm>
          <a:prstGeom prst="rect">
            <a:avLst/>
          </a:prstGeom>
          <a:noFill/>
        </p:spPr>
        <p:txBody>
          <a:bodyPr wrap="square" lIns="91440" tIns="45720" rIns="91440" bIns="45720" rtlCol="0">
            <a:spAutoFit/>
          </a:bodyPr>
          <a:lstStyle/>
          <a:p>
            <a:pPr marL="285750" marR="0" lvl="0" indent="-285750" algn="l" defTabSz="4572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指针追踪：记录所有对象指针，释放时作废</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后续访问崩溃</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毒化值：释放内存填充毒值，访问时触发错误</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对象标签：为对象和指针分配唯一</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ID</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，访问时验证匹配</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6" name="组合 5"/>
          <p:cNvGrpSpPr/>
          <p:nvPr>
            <p:custDataLst>
              <p:tags r:id="rId9"/>
            </p:custDataLst>
          </p:nvPr>
        </p:nvGrpSpPr>
        <p:grpSpPr>
          <a:xfrm>
            <a:off x="814003" y="4178626"/>
            <a:ext cx="7685313" cy="465119"/>
            <a:chOff x="3002037" y="3922395"/>
            <a:chExt cx="7067433" cy="369332"/>
          </a:xfrm>
          <a:solidFill>
            <a:schemeClr val="accent2">
              <a:lumMod val="75000"/>
            </a:schemeClr>
          </a:solidFill>
        </p:grpSpPr>
        <p:sp>
          <p:nvSpPr>
            <p:cNvPr id="7" name="矩形 6"/>
            <p:cNvSpPr/>
            <p:nvPr>
              <p:custDataLst>
                <p:tags r:id="rId10"/>
              </p:custDataLst>
            </p:nvPr>
          </p:nvSpPr>
          <p:spPr bwMode="auto">
            <a:xfrm>
              <a:off x="3002037" y="3922395"/>
              <a:ext cx="7067433" cy="369332"/>
            </a:xfrm>
            <a:prstGeom prst="rect">
              <a:avLst/>
            </a:prstGeom>
            <a:solidFill>
              <a:srgbClr val="6B0261"/>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213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TextBox 19"/>
            <p:cNvSpPr txBox="1"/>
            <p:nvPr>
              <p:custDataLst>
                <p:tags r:id="rId11"/>
              </p:custDataLst>
            </p:nvPr>
          </p:nvSpPr>
          <p:spPr>
            <a:xfrm>
              <a:off x="3023643" y="3939539"/>
              <a:ext cx="6809413" cy="333799"/>
            </a:xfrm>
            <a:prstGeom prst="rect">
              <a:avLst/>
            </a:prstGeom>
            <a:noFill/>
          </p:spPr>
          <p:txBody>
            <a:bodyPr wrap="square" rtlCol="0">
              <a:sp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135"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虚拟化安全（</a:t>
              </a:r>
              <a:r>
                <a:rPr kumimoji="0" lang="en-US" altLang="zh-CN" sz="2135"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Virtualization for Security</a:t>
              </a:r>
              <a:r>
                <a:rPr kumimoji="0" lang="zh-CN" altLang="en-US" sz="2135"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a:t>
              </a:r>
              <a:endParaRPr kumimoji="0" lang="zh-CN" altLang="en-US" sz="2135"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endParaRPr>
            </a:p>
          </p:txBody>
        </p:sp>
      </p:grpSp>
      <p:sp>
        <p:nvSpPr>
          <p:cNvPr id="9" name="TextBox 21"/>
          <p:cNvSpPr txBox="1"/>
          <p:nvPr>
            <p:custDataLst>
              <p:tags r:id="rId12"/>
            </p:custDataLst>
          </p:nvPr>
        </p:nvSpPr>
        <p:spPr>
          <a:xfrm>
            <a:off x="814004" y="4637968"/>
            <a:ext cx="7685312" cy="730885"/>
          </a:xfrm>
          <a:prstGeom prst="rect">
            <a:avLst/>
          </a:prstGeom>
          <a:noFill/>
        </p:spPr>
        <p:txBody>
          <a:bodyPr wrap="square" lIns="91440" tIns="45720" rIns="91440" bIns="45720" rtlCol="0">
            <a:spAutoFit/>
          </a:bodyPr>
          <a:p>
            <a:pPr marL="285750" marR="0" lvl="0" indent="-285750" algn="l" defTabSz="4572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确保安全与隔离，在管理程序</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(hypervisor)</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上的研究很多。一些项目使用虚拟化扩展来实现隔离，利用非特权指令切换基于扩展页表的域。</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梯形 36"/>
          <p:cNvSpPr/>
          <p:nvPr/>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5" name="梯形 34"/>
          <p:cNvSpPr/>
          <p:nvPr/>
        </p:nvSpPr>
        <p:spPr>
          <a:xfrm rot="16200000">
            <a:off x="7446198" y="-451317"/>
            <a:ext cx="2291737" cy="7199871"/>
          </a:xfrm>
          <a:prstGeom prst="trapezoid">
            <a:avLst>
              <a:gd name="adj" fmla="val 16935"/>
            </a:avLst>
          </a:prstGeom>
          <a:solidFill>
            <a:srgbClr val="6B026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53795" cy="1198880"/>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6</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638798" y="2692405"/>
            <a:ext cx="3230880" cy="829945"/>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局限与不足</a:t>
            </a: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30836" y="1705564"/>
            <a:ext cx="2823720" cy="280467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custDataLst>
              <p:tags r:id="rId1"/>
            </p:custDataLst>
          </p:nvPr>
        </p:nvCxnSpPr>
        <p:spPr>
          <a:xfrm>
            <a:off x="0" y="3629960"/>
            <a:ext cx="12192000" cy="0"/>
          </a:xfrm>
          <a:prstGeom prst="line">
            <a:avLst/>
          </a:prstGeom>
          <a:ln w="38100">
            <a:solidFill>
              <a:srgbClr val="6B0261"/>
            </a:solidFill>
          </a:ln>
        </p:spPr>
        <p:style>
          <a:lnRef idx="1">
            <a:schemeClr val="accent1"/>
          </a:lnRef>
          <a:fillRef idx="0">
            <a:schemeClr val="accent1"/>
          </a:fillRef>
          <a:effectRef idx="0">
            <a:schemeClr val="accent1"/>
          </a:effectRef>
          <a:fontRef idx="minor">
            <a:schemeClr val="tx1"/>
          </a:fontRef>
        </p:style>
      </p:cxnSp>
      <p:grpSp>
        <p:nvGrpSpPr>
          <p:cNvPr id="34" name="组合 33"/>
          <p:cNvGrpSpPr/>
          <p:nvPr>
            <p:custDataLst>
              <p:tags r:id="rId2"/>
            </p:custDataLst>
          </p:nvPr>
        </p:nvGrpSpPr>
        <p:grpSpPr>
          <a:xfrm>
            <a:off x="774723" y="1627841"/>
            <a:ext cx="2104056" cy="3990861"/>
            <a:chOff x="1595438" y="1219202"/>
            <a:chExt cx="2104056" cy="4419596"/>
          </a:xfrm>
        </p:grpSpPr>
        <p:sp>
          <p:nvSpPr>
            <p:cNvPr id="35" name="任意多边形 34"/>
            <p:cNvSpPr/>
            <p:nvPr>
              <p:custDataLst>
                <p:tags r:id="rId3"/>
              </p:custDataLst>
            </p:nvPr>
          </p:nvSpPr>
          <p:spPr>
            <a:xfrm>
              <a:off x="1595438" y="1219202"/>
              <a:ext cx="2104056" cy="441959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rgbClr val="6B02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a:p>
              <a:pPr marL="457200" marR="0" lvl="1"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a:p>
              <a:pPr marL="457200" marR="0" lvl="1"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36" name="矩形 35"/>
            <p:cNvSpPr/>
            <p:nvPr>
              <p:custDataLst>
                <p:tags r:id="rId4"/>
              </p:custDataLst>
            </p:nvPr>
          </p:nvSpPr>
          <p:spPr>
            <a:xfrm>
              <a:off x="1695919" y="2408991"/>
              <a:ext cx="1920996" cy="2282644"/>
            </a:xfrm>
            <a:prstGeom prst="rect">
              <a:avLst/>
            </a:prstGeom>
          </p:spPr>
          <p:txBody>
            <a:bodyPr wrap="square">
              <a:spAutoFit/>
            </a:bodyPr>
            <a:lstStyle/>
            <a:p>
              <a:pPr marL="0" marR="0" lvl="0" indent="304800" algn="ctr" defTabSz="4572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a:t>
              </a:r>
              <a:endParaRPr kumimoji="0" lang="en-US" altLang="zh-CN"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304800" algn="l" defTabSz="457200" rtl="0" eaLnBrk="1" fontAlgn="auto" latinLnBrk="0" hangingPunct="1">
                <a:lnSpc>
                  <a:spcPct val="125000"/>
                </a:lnSpc>
                <a:spcBef>
                  <a:spcPts val="0"/>
                </a:spcBef>
                <a:spcAft>
                  <a:spcPts val="0"/>
                </a:spcAft>
                <a:buClrTx/>
                <a:buSzTx/>
                <a:buFontTx/>
                <a:buNone/>
                <a:defRPr/>
              </a:pPr>
              <a:r>
                <a:rPr kumimoji="0" lang="zh-CN" altLang="en-US" sz="16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不能在高于</a:t>
              </a:r>
              <a:r>
                <a:rPr kumimoji="0" lang="en-US" altLang="zh-CN" sz="16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4.0</a:t>
              </a:r>
              <a:r>
                <a:rPr kumimoji="0" lang="zh-CN" altLang="en-US" sz="16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版本的</a:t>
              </a:r>
              <a:r>
                <a:rPr kumimoji="0" lang="en-US" altLang="zh-CN" sz="16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Linux</a:t>
              </a:r>
              <a:r>
                <a:rPr kumimoji="0" lang="zh-CN" altLang="en-US" sz="16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核上运行</a:t>
              </a:r>
              <a:r>
                <a:rPr kumimoji="0" lang="zh-CN" altLang="en-US" sz="1600"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，但是</a:t>
              </a:r>
              <a:r>
                <a:rPr kumimoji="0" lang="en-US" altLang="zh-CN" sz="1600"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KML</a:t>
              </a:r>
              <a:r>
                <a:rPr kumimoji="0" lang="zh-CN" altLang="en-US" sz="1600"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移植到更新的内核版本是可行的。</a:t>
              </a:r>
              <a:endParaRPr kumimoji="0" lang="zh-CN" altLang="en-US" sz="1600"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37" name="组合 36"/>
          <p:cNvGrpSpPr/>
          <p:nvPr>
            <p:custDataLst>
              <p:tags r:id="rId5"/>
            </p:custDataLst>
          </p:nvPr>
        </p:nvGrpSpPr>
        <p:grpSpPr>
          <a:xfrm>
            <a:off x="3633223" y="1627840"/>
            <a:ext cx="2104056" cy="3990862"/>
            <a:chOff x="5043972" y="1219202"/>
            <a:chExt cx="2104056" cy="4419596"/>
          </a:xfrm>
        </p:grpSpPr>
        <p:sp>
          <p:nvSpPr>
            <p:cNvPr id="38" name="任意多边形 37"/>
            <p:cNvSpPr/>
            <p:nvPr>
              <p:custDataLst>
                <p:tags r:id="rId6"/>
              </p:custDataLst>
            </p:nvPr>
          </p:nvSpPr>
          <p:spPr>
            <a:xfrm>
              <a:off x="5043972" y="1219202"/>
              <a:ext cx="2104056" cy="441959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endParaRPr>
            </a:p>
            <a:p>
              <a:pPr marL="457200" marR="0" lvl="1"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a:p>
              <a:pPr marL="457200" marR="0" lvl="1"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9" name="矩形 38"/>
            <p:cNvSpPr/>
            <p:nvPr>
              <p:custDataLst>
                <p:tags r:id="rId7"/>
              </p:custDataLst>
            </p:nvPr>
          </p:nvSpPr>
          <p:spPr>
            <a:xfrm>
              <a:off x="5140056" y="2348704"/>
              <a:ext cx="1923780" cy="1720070"/>
            </a:xfrm>
            <a:prstGeom prst="rect">
              <a:avLst/>
            </a:prstGeom>
          </p:spPr>
          <p:txBody>
            <a:bodyPr wrap="square">
              <a:spAutoFit/>
            </a:bodyPr>
            <a:lstStyle/>
            <a:p>
              <a:pPr marL="0" marR="0" lvl="0" indent="304800" algn="ctr" defTabSz="457200" rtl="0" eaLnBrk="1" fontAlgn="auto" latinLnBrk="0" hangingPunct="1">
                <a:lnSpc>
                  <a:spcPct val="125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en-US" altLang="zh-CN"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304800" algn="l" defTabSz="457200" rtl="0" eaLnBrk="1" fontAlgn="auto" latinLnBrk="0" hangingPunct="1">
                <a:lnSpc>
                  <a:spcPct val="125000"/>
                </a:lnSpc>
                <a:spcBef>
                  <a:spcPts val="0"/>
                </a:spcBef>
                <a:spcAft>
                  <a:spcPts val="0"/>
                </a:spcAft>
                <a:buClrTx/>
                <a:buSzTx/>
                <a:buFontTx/>
                <a:buNone/>
                <a:defRPr/>
              </a:pPr>
              <a:r>
                <a:rPr kumimoji="0" lang="en-US" altLang="zh-CN" sz="16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DangZero</a:t>
              </a:r>
              <a:r>
                <a:rPr kumimoji="0" lang="zh-CN" altLang="en-US" sz="16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不是线程安全的</a:t>
              </a:r>
              <a:r>
                <a:rPr kumimoji="0" lang="zh-CN" altLang="en-US" sz="1600"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，可以通过页表锁定解决。</a:t>
              </a:r>
              <a:endParaRPr kumimoji="0" lang="zh-CN" altLang="en-US" sz="1600"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40" name="组合 39"/>
          <p:cNvGrpSpPr/>
          <p:nvPr>
            <p:custDataLst>
              <p:tags r:id="rId8"/>
            </p:custDataLst>
          </p:nvPr>
        </p:nvGrpSpPr>
        <p:grpSpPr>
          <a:xfrm>
            <a:off x="6470517" y="1627840"/>
            <a:ext cx="2104056" cy="3990862"/>
            <a:chOff x="8492507" y="1219202"/>
            <a:chExt cx="2104056" cy="4419596"/>
          </a:xfrm>
        </p:grpSpPr>
        <p:sp>
          <p:nvSpPr>
            <p:cNvPr id="41" name="任意多边形 40"/>
            <p:cNvSpPr/>
            <p:nvPr>
              <p:custDataLst>
                <p:tags r:id="rId9"/>
              </p:custDataLst>
            </p:nvPr>
          </p:nvSpPr>
          <p:spPr>
            <a:xfrm>
              <a:off x="8492507" y="1219202"/>
              <a:ext cx="2104056" cy="441959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rgbClr val="6B02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endParaRPr>
            </a:p>
            <a:p>
              <a:pPr marL="457200" marR="0" lvl="1"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a:p>
              <a:pPr marL="457200" marR="0" lvl="1"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48" name="矩形 47"/>
            <p:cNvSpPr/>
            <p:nvPr>
              <p:custDataLst>
                <p:tags r:id="rId10"/>
              </p:custDataLst>
            </p:nvPr>
          </p:nvSpPr>
          <p:spPr>
            <a:xfrm>
              <a:off x="8557700" y="1845903"/>
              <a:ext cx="1960571" cy="3083608"/>
            </a:xfrm>
            <a:prstGeom prst="rect">
              <a:avLst/>
            </a:prstGeom>
          </p:spPr>
          <p:txBody>
            <a:bodyPr wrap="square">
              <a:spAutoFit/>
            </a:bodyPr>
            <a:lstStyle/>
            <a:p>
              <a:pPr marL="0" marR="0" lvl="0" indent="304800" algn="ctr" defTabSz="457200" rtl="0" eaLnBrk="1" fontAlgn="auto" latinLnBrk="0" hangingPunct="1">
                <a:lnSpc>
                  <a:spcPct val="125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en-US" altLang="zh-CN"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304800" algn="l" defTabSz="457200" rtl="0" eaLnBrk="1" fontAlgn="auto" latinLnBrk="0" hangingPunct="1">
                <a:lnSpc>
                  <a:spcPct val="125000"/>
                </a:lnSpc>
                <a:spcBef>
                  <a:spcPts val="0"/>
                </a:spcBef>
                <a:spcAft>
                  <a:spcPts val="0"/>
                </a:spcAft>
                <a:buClrTx/>
                <a:buSzTx/>
                <a:buFontTx/>
                <a:buNone/>
                <a:defRPr/>
              </a:pPr>
              <a:r>
                <a:rPr lang="en-US" altLang="zh-CN" sz="1600" b="1" kern="100"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DangZero</a:t>
              </a:r>
              <a:r>
                <a:rPr kumimoji="0" lang="zh-CN" altLang="en-US" sz="16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针对的也是默认的</a:t>
              </a:r>
              <a:r>
                <a:rPr kumimoji="0" lang="en-US" altLang="zh-CN" sz="16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malloc</a:t>
              </a:r>
              <a:r>
                <a:rPr kumimoji="0" lang="zh-CN" altLang="en-US" sz="16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系列分配器，</a:t>
              </a:r>
              <a:r>
                <a:rPr kumimoji="0" lang="zh-CN" altLang="en-US" sz="1600"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当应用于自定义分配器的程序时，有的可能需要进行插桩才可以运行。</a:t>
              </a:r>
              <a:endParaRPr kumimoji="0" lang="zh-CN" altLang="en-US" sz="1600"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52" name="组合 51"/>
          <p:cNvGrpSpPr/>
          <p:nvPr>
            <p:custDataLst>
              <p:tags r:id="rId11"/>
            </p:custDataLst>
          </p:nvPr>
        </p:nvGrpSpPr>
        <p:grpSpPr>
          <a:xfrm>
            <a:off x="9097942" y="1627840"/>
            <a:ext cx="2795270" cy="3990975"/>
            <a:chOff x="8295657" y="1219202"/>
            <a:chExt cx="2795270" cy="4419721"/>
          </a:xfrm>
        </p:grpSpPr>
        <p:sp>
          <p:nvSpPr>
            <p:cNvPr id="53" name="任意多边形 52"/>
            <p:cNvSpPr/>
            <p:nvPr>
              <p:custDataLst>
                <p:tags r:id="rId12"/>
              </p:custDataLst>
            </p:nvPr>
          </p:nvSpPr>
          <p:spPr>
            <a:xfrm>
              <a:off x="8295657" y="1219202"/>
              <a:ext cx="2795270" cy="4419721"/>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a:p>
              <a:pPr marL="457200" marR="0" lvl="1"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a:p>
              <a:pPr marL="457200" marR="0" lvl="1"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54" name="矩形 53"/>
            <p:cNvSpPr/>
            <p:nvPr>
              <p:custDataLst>
                <p:tags r:id="rId13"/>
              </p:custDataLst>
            </p:nvPr>
          </p:nvSpPr>
          <p:spPr>
            <a:xfrm>
              <a:off x="8361062" y="1553230"/>
              <a:ext cx="2491740" cy="3765026"/>
            </a:xfrm>
            <a:prstGeom prst="rect">
              <a:avLst/>
            </a:prstGeom>
          </p:spPr>
          <p:txBody>
            <a:bodyPr wrap="square">
              <a:spAutoFit/>
            </a:bodyPr>
            <a:lstStyle/>
            <a:p>
              <a:pPr marL="0" marR="0" lvl="0" indent="304800" algn="ctr" defTabSz="457200" rtl="0" eaLnBrk="1" fontAlgn="auto" latinLnBrk="0" hangingPunct="1">
                <a:lnSpc>
                  <a:spcPct val="125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a:t>
              </a:r>
              <a:endParaRPr kumimoji="0" lang="en-US" altLang="zh-CN"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304800" algn="l" defTabSz="457200" rtl="0" eaLnBrk="1" fontAlgn="auto" latinLnBrk="0" hangingPunct="1">
                <a:lnSpc>
                  <a:spcPct val="125000"/>
                </a:lnSpc>
                <a:spcBef>
                  <a:spcPts val="0"/>
                </a:spcBef>
                <a:spcAft>
                  <a:spcPts val="0"/>
                </a:spcAft>
                <a:buClrTx/>
                <a:buSzTx/>
                <a:buFontTx/>
                <a:buNone/>
                <a:defRPr/>
              </a:pPr>
              <a:r>
                <a:rPr kumimoji="0" lang="zh-CN" altLang="en-US" sz="16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有的应用程序可能会依赖于用户定义的指针进行编码，</a:t>
              </a:r>
              <a:r>
                <a:rPr kumimoji="0" lang="zh-CN" altLang="en-US" sz="1600"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一些非常见的编码可能阻碍别名回收器对内存</a:t>
              </a:r>
              <a:r>
                <a:rPr kumimoji="0" lang="en-US" altLang="zh-CN" sz="1600"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zh-CN" altLang="en-US" sz="1600"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寄存器中一些悬挂的指针的定位。如果需要，可以为每个特定的应用程序分别实现对自定义编码的支持。</a:t>
              </a:r>
              <a:endParaRPr kumimoji="0" lang="zh-CN" altLang="en-US" sz="1600"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19" name="矩形 46"/>
          <p:cNvSpPr>
            <a:spLocks noChangeArrowheads="1"/>
          </p:cNvSpPr>
          <p:nvPr/>
        </p:nvSpPr>
        <p:spPr bwMode="auto">
          <a:xfrm>
            <a:off x="634918" y="237124"/>
            <a:ext cx="22745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局限与不足</a:t>
            </a:r>
            <a:endPar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20" name="等腰三角形 47"/>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梯形 36"/>
          <p:cNvSpPr/>
          <p:nvPr/>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5" name="梯形 34"/>
          <p:cNvSpPr/>
          <p:nvPr/>
        </p:nvSpPr>
        <p:spPr>
          <a:xfrm rot="16200000">
            <a:off x="7446198" y="-451317"/>
            <a:ext cx="2291737" cy="7199871"/>
          </a:xfrm>
          <a:prstGeom prst="trapezoid">
            <a:avLst>
              <a:gd name="adj" fmla="val 16935"/>
            </a:avLst>
          </a:prstGeom>
          <a:solidFill>
            <a:srgbClr val="6B026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53795" cy="1198880"/>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7</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638798" y="2692405"/>
            <a:ext cx="1402080" cy="829945"/>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总结</a:t>
            </a: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30836" y="1705564"/>
            <a:ext cx="2823720" cy="280467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custDataLst>
              <p:tags r:id="rId1"/>
            </p:custDataLst>
          </p:nvPr>
        </p:nvSpPr>
        <p:spPr>
          <a:xfrm>
            <a:off x="2637794" y="1279760"/>
            <a:ext cx="1004399" cy="1004399"/>
          </a:xfrm>
          <a:prstGeom prst="ellipse">
            <a:avLst/>
          </a:prstGeom>
          <a:solidFill>
            <a:srgbClr val="6B026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a:t>
            </a:r>
            <a:endParaRPr kumimoji="0" lang="zh-HK"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椭圆 6"/>
          <p:cNvSpPr/>
          <p:nvPr>
            <p:custDataLst>
              <p:tags r:id="rId2"/>
            </p:custDataLst>
          </p:nvPr>
        </p:nvSpPr>
        <p:spPr>
          <a:xfrm>
            <a:off x="3610444" y="2984004"/>
            <a:ext cx="1004399" cy="1004399"/>
          </a:xfrm>
          <a:prstGeom prst="ellipse">
            <a:avLst/>
          </a:prstGeom>
          <a:solidFill>
            <a:srgbClr val="6B026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B</a:t>
            </a:r>
            <a:endParaRPr kumimoji="0" lang="zh-HK"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椭圆 7"/>
          <p:cNvSpPr/>
          <p:nvPr>
            <p:custDataLst>
              <p:tags r:id="rId3"/>
            </p:custDataLst>
          </p:nvPr>
        </p:nvSpPr>
        <p:spPr>
          <a:xfrm>
            <a:off x="2637794" y="4977345"/>
            <a:ext cx="1004399" cy="1004399"/>
          </a:xfrm>
          <a:prstGeom prst="ellipse">
            <a:avLst/>
          </a:prstGeom>
          <a:solidFill>
            <a:srgbClr val="6B026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a:t>
            </a:r>
            <a:endParaRPr kumimoji="0" lang="zh-HK"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9" name="直接连接符 8"/>
          <p:cNvCxnSpPr/>
          <p:nvPr/>
        </p:nvCxnSpPr>
        <p:spPr>
          <a:xfrm flipV="1">
            <a:off x="1415173" y="2133488"/>
            <a:ext cx="1021080" cy="579120"/>
          </a:xfrm>
          <a:prstGeom prst="line">
            <a:avLst/>
          </a:prstGeom>
          <a:ln w="28575">
            <a:solidFill>
              <a:srgbClr val="6B026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1735506" y="3578912"/>
            <a:ext cx="1645920" cy="15240"/>
          </a:xfrm>
          <a:prstGeom prst="line">
            <a:avLst/>
          </a:prstGeom>
          <a:ln w="28575">
            <a:solidFill>
              <a:srgbClr val="6B026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562019" y="4723543"/>
            <a:ext cx="960589" cy="507148"/>
          </a:xfrm>
          <a:prstGeom prst="line">
            <a:avLst/>
          </a:prstGeom>
          <a:ln w="28575">
            <a:solidFill>
              <a:srgbClr val="6B0261"/>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4012565" y="1136015"/>
            <a:ext cx="7627620" cy="1291590"/>
          </a:xfrm>
          <a:prstGeom prst="rect">
            <a:avLst/>
          </a:prstGeom>
        </p:spPr>
        <p:txBody>
          <a:bodyPr wrap="square">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    </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利用由内存管理单元提供的页保护功能检测</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UAF</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漏洞是一个古老的想法，经过二十多年的发展，尽管采用了现代的基于别名的优化，最先进的防御方案仍然面临非平凡的性能和可扩展性成本。</a:t>
            </a:r>
            <a:endPar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14" name="矩形 13"/>
          <p:cNvSpPr/>
          <p:nvPr>
            <p:custDataLst>
              <p:tags r:id="rId5"/>
            </p:custDataLst>
          </p:nvPr>
        </p:nvSpPr>
        <p:spPr>
          <a:xfrm>
            <a:off x="4873625" y="2640330"/>
            <a:ext cx="7078980" cy="1691640"/>
          </a:xfrm>
          <a:prstGeom prst="rect">
            <a:avLst/>
          </a:prstGeom>
        </p:spPr>
        <p:txBody>
          <a:bodyPr wrap="square">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    </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通过</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DangZero</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作者展示了这些成本并非根本不可避免，可以实现为一种实用的解决方案。</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DangZero</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利用直接访问页表，消除了操作系统在快速分配或释放路径中的干预，同时也实现了高效的元数据管理和用于</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GC</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风格的别名回收。</a:t>
            </a:r>
            <a:endPar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16" name="矩形 15"/>
          <p:cNvSpPr/>
          <p:nvPr>
            <p:custDataLst>
              <p:tags r:id="rId6"/>
            </p:custDataLst>
          </p:nvPr>
        </p:nvSpPr>
        <p:spPr>
          <a:xfrm>
            <a:off x="4012565" y="4688205"/>
            <a:ext cx="7940040" cy="1691640"/>
          </a:xfrm>
          <a:prstGeom prst="rect">
            <a:avLst/>
          </a:prstGeom>
        </p:spPr>
        <p:txBody>
          <a:bodyPr wrap="square">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    </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评估显示，该设计显著提升了之前基于别名的解决方案的性能，且不引起内存耗尽或失去检测保证性。在长时间运行的基准测试以及</a:t>
            </a:r>
            <a:r>
              <a:rPr lang="zh-CN" altLang="en-US" sz="200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频繁短暂的分配场景</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中，</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DangZero</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性能明显优于最先进的</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GC</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风格保护系统，无需额外的</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CPU</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核心或内存过度配置。</a:t>
            </a:r>
            <a:endPar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pic>
        <p:nvPicPr>
          <p:cNvPr id="18" name="图片 17"/>
          <p:cNvPicPr>
            <a:picLocks noChangeAspect="1"/>
          </p:cNvPicPr>
          <p:nvPr/>
        </p:nvPicPr>
        <p:blipFill rotWithShape="1">
          <a:blip r:embed="rId7" cstate="screen">
            <a:duotone>
              <a:schemeClr val="accent6">
                <a:shade val="45000"/>
                <a:satMod val="135000"/>
              </a:schemeClr>
              <a:prstClr val="white"/>
            </a:duotone>
          </a:blip>
          <a:srcRect l="48604"/>
          <a:stretch>
            <a:fillRect/>
          </a:stretch>
        </p:blipFill>
        <p:spPr>
          <a:xfrm>
            <a:off x="1" y="2158068"/>
            <a:ext cx="1623327" cy="3158577"/>
          </a:xfrm>
          <a:prstGeom prst="rect">
            <a:avLst/>
          </a:prstGeom>
        </p:spPr>
      </p:pic>
      <p:sp>
        <p:nvSpPr>
          <p:cNvPr id="22" name="矩形 21"/>
          <p:cNvSpPr>
            <a:spLocks noChangeArrowheads="1"/>
          </p:cNvSpPr>
          <p:nvPr/>
        </p:nvSpPr>
        <p:spPr bwMode="auto">
          <a:xfrm>
            <a:off x="634918" y="237124"/>
            <a:ext cx="10553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总结</a:t>
            </a:r>
            <a:endParaRPr kumimoji="0" lang="zh-CN" altLang="en-US" sz="3200" b="1" i="0" u="none" strike="noStrike" kern="1200" cap="none" spc="0" normalizeH="0" baseline="0" noProof="0" dirty="0">
              <a:ln>
                <a:noFill/>
              </a:ln>
              <a:solidFill>
                <a:srgbClr val="6B0261"/>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23" name="等腰三角形 22"/>
          <p:cNvSpPr>
            <a:spLocks noChangeArrowheads="1"/>
          </p:cNvSpPr>
          <p:nvPr/>
        </p:nvSpPr>
        <p:spPr bwMode="auto">
          <a:xfrm rot="5400000">
            <a:off x="-53049" y="209721"/>
            <a:ext cx="774879" cy="668780"/>
          </a:xfrm>
          <a:prstGeom prst="triangle">
            <a:avLst>
              <a:gd name="adj" fmla="val 50000"/>
            </a:avLst>
          </a:prstGeom>
          <a:solidFill>
            <a:srgbClr val="6B0261"/>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1">
            <a:alphaModFix amt="10000"/>
            <a:extLst>
              <a:ext uri="{28A0092B-C50C-407E-A947-70E740481C1C}">
                <a14:useLocalDpi xmlns:a14="http://schemas.microsoft.com/office/drawing/2010/main" val="0"/>
              </a:ext>
            </a:extLst>
          </a:blip>
          <a:srcRect/>
          <a:stretch>
            <a:fillRect/>
          </a:stretch>
        </p:blipFill>
        <p:spPr>
          <a:xfrm>
            <a:off x="6338468" y="829330"/>
            <a:ext cx="5234124" cy="5201369"/>
          </a:xfrm>
          <a:prstGeom prst="rect">
            <a:avLst/>
          </a:prstGeom>
        </p:spPr>
      </p:pic>
      <p:sp>
        <p:nvSpPr>
          <p:cNvPr id="22" name="矩形 21"/>
          <p:cNvSpPr/>
          <p:nvPr/>
        </p:nvSpPr>
        <p:spPr>
          <a:xfrm>
            <a:off x="3204688" y="4818562"/>
            <a:ext cx="5214620" cy="378460"/>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小组成员：张肇秋</a:t>
            </a:r>
            <a:r>
              <a:rPr kumimoji="1" lang="en-US" altLang="zh-CN"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蒋枘言</a:t>
            </a:r>
            <a:r>
              <a:rPr kumimoji="1" lang="en-US" altLang="zh-CN"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李胜林</a:t>
            </a:r>
            <a:r>
              <a:rPr kumimoji="1" lang="en-US" altLang="zh-CN"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于昊汐</a:t>
            </a:r>
            <a:r>
              <a:rPr kumimoji="1" lang="en-US" altLang="zh-CN"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王怡博</a:t>
            </a:r>
            <a:endPar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矩形 20"/>
          <p:cNvSpPr/>
          <p:nvPr/>
        </p:nvSpPr>
        <p:spPr>
          <a:xfrm>
            <a:off x="3204845" y="3823970"/>
            <a:ext cx="6783070" cy="954405"/>
          </a:xfrm>
          <a:prstGeom prst="rect">
            <a:avLst/>
          </a:prstGeom>
        </p:spPr>
        <p:txBody>
          <a:bodyPr wrap="square" lIns="91440" tIns="45720" rIns="91440" bIns="45720">
            <a:spAutoFit/>
          </a:bodyPr>
          <a:lstStyle/>
          <a:p>
            <a:pPr marL="0" marR="0" lvl="0" indent="0" algn="l" defTabSz="457200" rtl="0" eaLnBrk="1" fontAlgn="auto" latinLnBrk="0" hangingPunct="1">
              <a:lnSpc>
                <a:spcPct val="150000"/>
              </a:lnSpc>
              <a:spcBef>
                <a:spcPct val="0"/>
              </a:spcBef>
              <a:spcAft>
                <a:spcPts val="0"/>
              </a:spcAft>
              <a:buClrTx/>
              <a:buSzTx/>
              <a:buFontTx/>
              <a:buNone/>
              <a:defRPr/>
            </a:pPr>
            <a:r>
              <a:rPr kumimoji="0" lang="en-US" altLang="zh-CN"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DangZero: Efficient Use-After-Free Detection via Direct Page Table Access</a:t>
            </a:r>
            <a:endParaRPr kumimoji="0" lang="en-US" altLang="zh-CN"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3" name="矩形 22"/>
          <p:cNvSpPr/>
          <p:nvPr/>
        </p:nvSpPr>
        <p:spPr>
          <a:xfrm>
            <a:off x="3148965" y="2546985"/>
            <a:ext cx="2947035" cy="768350"/>
          </a:xfrm>
          <a:prstGeom prst="rect">
            <a:avLst/>
          </a:prstGeom>
        </p:spPr>
        <p:txBody>
          <a:bodyPr wrap="squar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sz="4400"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mn-cs"/>
              </a:rPr>
              <a:t>谢谢大家！</a:t>
            </a:r>
            <a:endParaRPr kumimoji="0" lang="zh-CN" sz="4400"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mn-cs"/>
            </a:endParaRPr>
          </a:p>
        </p:txBody>
      </p:sp>
      <p:cxnSp>
        <p:nvCxnSpPr>
          <p:cNvPr id="24" name="直接连接符 23"/>
          <p:cNvCxnSpPr/>
          <p:nvPr/>
        </p:nvCxnSpPr>
        <p:spPr>
          <a:xfrm flipH="1">
            <a:off x="3278983" y="3875861"/>
            <a:ext cx="67090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Freeform 5"/>
          <p:cNvSpPr>
            <a:spLocks noEditPoints="1"/>
          </p:cNvSpPr>
          <p:nvPr/>
        </p:nvSpPr>
        <p:spPr bwMode="auto">
          <a:xfrm>
            <a:off x="1" y="1552169"/>
            <a:ext cx="2387969" cy="3826419"/>
          </a:xfrm>
          <a:custGeom>
            <a:avLst/>
            <a:gdLst>
              <a:gd name="T0" fmla="*/ 0 w 7449"/>
              <a:gd name="T1" fmla="*/ 0 h 11906"/>
              <a:gd name="T2" fmla="*/ 7449 w 7449"/>
              <a:gd name="T3" fmla="*/ 4223 h 11906"/>
              <a:gd name="T4" fmla="*/ 0 w 7449"/>
              <a:gd name="T5" fmla="*/ 4223 h 11906"/>
              <a:gd name="T6" fmla="*/ 0 w 7449"/>
              <a:gd name="T7" fmla="*/ 0 h 11906"/>
              <a:gd name="T8" fmla="*/ 7449 w 7449"/>
              <a:gd name="T9" fmla="*/ 4302 h 11906"/>
              <a:gd name="T10" fmla="*/ 0 w 7449"/>
              <a:gd name="T11" fmla="*/ 8525 h 11906"/>
              <a:gd name="T12" fmla="*/ 0 w 7449"/>
              <a:gd name="T13" fmla="*/ 4302 h 11906"/>
              <a:gd name="T14" fmla="*/ 7449 w 7449"/>
              <a:gd name="T15" fmla="*/ 4302 h 11906"/>
              <a:gd name="T16" fmla="*/ 2857 w 7449"/>
              <a:gd name="T17" fmla="*/ 10038 h 11906"/>
              <a:gd name="T18" fmla="*/ 5 w 7449"/>
              <a:gd name="T19" fmla="*/ 11903 h 11906"/>
              <a:gd name="T20" fmla="*/ 0 w 7449"/>
              <a:gd name="T21" fmla="*/ 11906 h 11906"/>
              <a:gd name="T22" fmla="*/ 0 w 7449"/>
              <a:gd name="T23" fmla="*/ 8789 h 11906"/>
              <a:gd name="T24" fmla="*/ 2857 w 7449"/>
              <a:gd name="T25" fmla="*/ 7136 h 11906"/>
              <a:gd name="T26" fmla="*/ 2857 w 7449"/>
              <a:gd name="T27" fmla="*/ 10038 h 11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49" h="11906">
                <a:moveTo>
                  <a:pt x="0" y="0"/>
                </a:moveTo>
                <a:lnTo>
                  <a:pt x="7449" y="4223"/>
                </a:lnTo>
                <a:lnTo>
                  <a:pt x="0" y="4223"/>
                </a:lnTo>
                <a:lnTo>
                  <a:pt x="0" y="0"/>
                </a:lnTo>
                <a:close/>
                <a:moveTo>
                  <a:pt x="7449" y="4302"/>
                </a:moveTo>
                <a:lnTo>
                  <a:pt x="0" y="8525"/>
                </a:lnTo>
                <a:lnTo>
                  <a:pt x="0" y="4302"/>
                </a:lnTo>
                <a:lnTo>
                  <a:pt x="7449" y="4302"/>
                </a:lnTo>
                <a:close/>
                <a:moveTo>
                  <a:pt x="2857" y="10038"/>
                </a:moveTo>
                <a:cubicBezTo>
                  <a:pt x="2537" y="11326"/>
                  <a:pt x="721" y="11825"/>
                  <a:pt x="5" y="11903"/>
                </a:cubicBezTo>
                <a:lnTo>
                  <a:pt x="0" y="11906"/>
                </a:lnTo>
                <a:lnTo>
                  <a:pt x="0" y="8789"/>
                </a:lnTo>
                <a:lnTo>
                  <a:pt x="2857" y="7136"/>
                </a:lnTo>
                <a:lnTo>
                  <a:pt x="2857" y="10038"/>
                </a:lnTo>
                <a:close/>
              </a:path>
            </a:pathLst>
          </a:custGeom>
          <a:solidFill>
            <a:srgbClr val="6B0261"/>
          </a:solidFill>
          <a:ln w="5" cap="flat">
            <a:solidFill>
              <a:srgbClr val="6B0261"/>
            </a:solidFill>
            <a:prstDash val="solid"/>
            <a:miter lim="800000"/>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 name="Freeform 6"/>
          <p:cNvSpPr>
            <a:spLocks noEditPoints="1"/>
          </p:cNvSpPr>
          <p:nvPr/>
        </p:nvSpPr>
        <p:spPr bwMode="auto">
          <a:xfrm>
            <a:off x="2296560" y="2937549"/>
            <a:ext cx="182819" cy="2259004"/>
          </a:xfrm>
          <a:custGeom>
            <a:avLst/>
            <a:gdLst>
              <a:gd name="T0" fmla="*/ 246 w 571"/>
              <a:gd name="T1" fmla="*/ 0 h 7028"/>
              <a:gd name="T2" fmla="*/ 246 w 571"/>
              <a:gd name="T3" fmla="*/ 2716 h 7028"/>
              <a:gd name="T4" fmla="*/ 178 w 571"/>
              <a:gd name="T5" fmla="*/ 2816 h 7028"/>
              <a:gd name="T6" fmla="*/ 286 w 571"/>
              <a:gd name="T7" fmla="*/ 2924 h 7028"/>
              <a:gd name="T8" fmla="*/ 394 w 571"/>
              <a:gd name="T9" fmla="*/ 2816 h 7028"/>
              <a:gd name="T10" fmla="*/ 325 w 571"/>
              <a:gd name="T11" fmla="*/ 2716 h 7028"/>
              <a:gd name="T12" fmla="*/ 325 w 571"/>
              <a:gd name="T13" fmla="*/ 0 h 7028"/>
              <a:gd name="T14" fmla="*/ 246 w 571"/>
              <a:gd name="T15" fmla="*/ 0 h 7028"/>
              <a:gd name="T16" fmla="*/ 0 w 571"/>
              <a:gd name="T17" fmla="*/ 3749 h 7028"/>
              <a:gd name="T18" fmla="*/ 571 w 571"/>
              <a:gd name="T19" fmla="*/ 3749 h 7028"/>
              <a:gd name="T20" fmla="*/ 571 w 571"/>
              <a:gd name="T21" fmla="*/ 3790 h 7028"/>
              <a:gd name="T22" fmla="*/ 0 w 571"/>
              <a:gd name="T23" fmla="*/ 3790 h 7028"/>
              <a:gd name="T24" fmla="*/ 0 w 571"/>
              <a:gd name="T25" fmla="*/ 3749 h 7028"/>
              <a:gd name="T26" fmla="*/ 0 w 571"/>
              <a:gd name="T27" fmla="*/ 3323 h 7028"/>
              <a:gd name="T28" fmla="*/ 0 w 571"/>
              <a:gd name="T29" fmla="*/ 3323 h 7028"/>
              <a:gd name="T30" fmla="*/ 0 w 571"/>
              <a:gd name="T31" fmla="*/ 3323 h 7028"/>
              <a:gd name="T32" fmla="*/ 286 w 571"/>
              <a:gd name="T33" fmla="*/ 3037 h 7028"/>
              <a:gd name="T34" fmla="*/ 571 w 571"/>
              <a:gd name="T35" fmla="*/ 3323 h 7028"/>
              <a:gd name="T36" fmla="*/ 571 w 571"/>
              <a:gd name="T37" fmla="*/ 3323 h 7028"/>
              <a:gd name="T38" fmla="*/ 571 w 571"/>
              <a:gd name="T39" fmla="*/ 3323 h 7028"/>
              <a:gd name="T40" fmla="*/ 571 w 571"/>
              <a:gd name="T41" fmla="*/ 3683 h 7028"/>
              <a:gd name="T42" fmla="*/ 0 w 571"/>
              <a:gd name="T43" fmla="*/ 3683 h 7028"/>
              <a:gd name="T44" fmla="*/ 0 w 571"/>
              <a:gd name="T45" fmla="*/ 3323 h 7028"/>
              <a:gd name="T46" fmla="*/ 37 w 571"/>
              <a:gd name="T47" fmla="*/ 3885 h 7028"/>
              <a:gd name="T48" fmla="*/ 0 w 571"/>
              <a:gd name="T49" fmla="*/ 3885 h 7028"/>
              <a:gd name="T50" fmla="*/ 0 w 571"/>
              <a:gd name="T51" fmla="*/ 7028 h 7028"/>
              <a:gd name="T52" fmla="*/ 37 w 571"/>
              <a:gd name="T53" fmla="*/ 7028 h 7028"/>
              <a:gd name="T54" fmla="*/ 37 w 571"/>
              <a:gd name="T55" fmla="*/ 3885 h 7028"/>
              <a:gd name="T56" fmla="*/ 126 w 571"/>
              <a:gd name="T57" fmla="*/ 3885 h 7028"/>
              <a:gd name="T58" fmla="*/ 89 w 571"/>
              <a:gd name="T59" fmla="*/ 3885 h 7028"/>
              <a:gd name="T60" fmla="*/ 89 w 571"/>
              <a:gd name="T61" fmla="*/ 7028 h 7028"/>
              <a:gd name="T62" fmla="*/ 126 w 571"/>
              <a:gd name="T63" fmla="*/ 7028 h 7028"/>
              <a:gd name="T64" fmla="*/ 126 w 571"/>
              <a:gd name="T65" fmla="*/ 3885 h 7028"/>
              <a:gd name="T66" fmla="*/ 215 w 571"/>
              <a:gd name="T67" fmla="*/ 3885 h 7028"/>
              <a:gd name="T68" fmla="*/ 178 w 571"/>
              <a:gd name="T69" fmla="*/ 3885 h 7028"/>
              <a:gd name="T70" fmla="*/ 178 w 571"/>
              <a:gd name="T71" fmla="*/ 7028 h 7028"/>
              <a:gd name="T72" fmla="*/ 215 w 571"/>
              <a:gd name="T73" fmla="*/ 7028 h 7028"/>
              <a:gd name="T74" fmla="*/ 215 w 571"/>
              <a:gd name="T75" fmla="*/ 3885 h 7028"/>
              <a:gd name="T76" fmla="*/ 304 w 571"/>
              <a:gd name="T77" fmla="*/ 3885 h 7028"/>
              <a:gd name="T78" fmla="*/ 267 w 571"/>
              <a:gd name="T79" fmla="*/ 3885 h 7028"/>
              <a:gd name="T80" fmla="*/ 267 w 571"/>
              <a:gd name="T81" fmla="*/ 7028 h 7028"/>
              <a:gd name="T82" fmla="*/ 304 w 571"/>
              <a:gd name="T83" fmla="*/ 7028 h 7028"/>
              <a:gd name="T84" fmla="*/ 304 w 571"/>
              <a:gd name="T85" fmla="*/ 3885 h 7028"/>
              <a:gd name="T86" fmla="*/ 393 w 571"/>
              <a:gd name="T87" fmla="*/ 3885 h 7028"/>
              <a:gd name="T88" fmla="*/ 356 w 571"/>
              <a:gd name="T89" fmla="*/ 3885 h 7028"/>
              <a:gd name="T90" fmla="*/ 356 w 571"/>
              <a:gd name="T91" fmla="*/ 7028 h 7028"/>
              <a:gd name="T92" fmla="*/ 393 w 571"/>
              <a:gd name="T93" fmla="*/ 7028 h 7028"/>
              <a:gd name="T94" fmla="*/ 393 w 571"/>
              <a:gd name="T95" fmla="*/ 3885 h 7028"/>
              <a:gd name="T96" fmla="*/ 482 w 571"/>
              <a:gd name="T97" fmla="*/ 3885 h 7028"/>
              <a:gd name="T98" fmla="*/ 445 w 571"/>
              <a:gd name="T99" fmla="*/ 3885 h 7028"/>
              <a:gd name="T100" fmla="*/ 445 w 571"/>
              <a:gd name="T101" fmla="*/ 7028 h 7028"/>
              <a:gd name="T102" fmla="*/ 482 w 571"/>
              <a:gd name="T103" fmla="*/ 7028 h 7028"/>
              <a:gd name="T104" fmla="*/ 482 w 571"/>
              <a:gd name="T105" fmla="*/ 3885 h 7028"/>
              <a:gd name="T106" fmla="*/ 571 w 571"/>
              <a:gd name="T107" fmla="*/ 3885 h 7028"/>
              <a:gd name="T108" fmla="*/ 534 w 571"/>
              <a:gd name="T109" fmla="*/ 3885 h 7028"/>
              <a:gd name="T110" fmla="*/ 534 w 571"/>
              <a:gd name="T111" fmla="*/ 7028 h 7028"/>
              <a:gd name="T112" fmla="*/ 571 w 571"/>
              <a:gd name="T113" fmla="*/ 7028 h 7028"/>
              <a:gd name="T114" fmla="*/ 571 w 571"/>
              <a:gd name="T115" fmla="*/ 3885 h 7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71" h="7028">
                <a:moveTo>
                  <a:pt x="246" y="0"/>
                </a:moveTo>
                <a:lnTo>
                  <a:pt x="246" y="2716"/>
                </a:lnTo>
                <a:cubicBezTo>
                  <a:pt x="206" y="2731"/>
                  <a:pt x="178" y="2770"/>
                  <a:pt x="178" y="2816"/>
                </a:cubicBezTo>
                <a:cubicBezTo>
                  <a:pt x="178" y="2876"/>
                  <a:pt x="226" y="2924"/>
                  <a:pt x="286" y="2924"/>
                </a:cubicBezTo>
                <a:cubicBezTo>
                  <a:pt x="345" y="2924"/>
                  <a:pt x="394" y="2876"/>
                  <a:pt x="394" y="2816"/>
                </a:cubicBezTo>
                <a:cubicBezTo>
                  <a:pt x="394" y="2770"/>
                  <a:pt x="365" y="2731"/>
                  <a:pt x="325" y="2716"/>
                </a:cubicBezTo>
                <a:lnTo>
                  <a:pt x="325" y="0"/>
                </a:lnTo>
                <a:lnTo>
                  <a:pt x="246" y="0"/>
                </a:lnTo>
                <a:close/>
                <a:moveTo>
                  <a:pt x="0" y="3749"/>
                </a:moveTo>
                <a:lnTo>
                  <a:pt x="571" y="3749"/>
                </a:lnTo>
                <a:lnTo>
                  <a:pt x="571" y="3790"/>
                </a:lnTo>
                <a:lnTo>
                  <a:pt x="0" y="3790"/>
                </a:lnTo>
                <a:lnTo>
                  <a:pt x="0" y="3749"/>
                </a:lnTo>
                <a:close/>
                <a:moveTo>
                  <a:pt x="0" y="3323"/>
                </a:moveTo>
                <a:lnTo>
                  <a:pt x="0" y="3323"/>
                </a:lnTo>
                <a:lnTo>
                  <a:pt x="0" y="3323"/>
                </a:lnTo>
                <a:cubicBezTo>
                  <a:pt x="0" y="3165"/>
                  <a:pt x="128" y="3037"/>
                  <a:pt x="286" y="3037"/>
                </a:cubicBezTo>
                <a:cubicBezTo>
                  <a:pt x="443" y="3037"/>
                  <a:pt x="571" y="3165"/>
                  <a:pt x="571" y="3323"/>
                </a:cubicBezTo>
                <a:lnTo>
                  <a:pt x="571" y="3323"/>
                </a:lnTo>
                <a:lnTo>
                  <a:pt x="571" y="3323"/>
                </a:lnTo>
                <a:lnTo>
                  <a:pt x="571" y="3683"/>
                </a:lnTo>
                <a:lnTo>
                  <a:pt x="0" y="3683"/>
                </a:lnTo>
                <a:lnTo>
                  <a:pt x="0" y="3323"/>
                </a:lnTo>
                <a:close/>
                <a:moveTo>
                  <a:pt x="37" y="3885"/>
                </a:moveTo>
                <a:lnTo>
                  <a:pt x="0" y="3885"/>
                </a:lnTo>
                <a:lnTo>
                  <a:pt x="0" y="7028"/>
                </a:lnTo>
                <a:lnTo>
                  <a:pt x="37" y="7028"/>
                </a:lnTo>
                <a:lnTo>
                  <a:pt x="37" y="3885"/>
                </a:lnTo>
                <a:close/>
                <a:moveTo>
                  <a:pt x="126" y="3885"/>
                </a:moveTo>
                <a:lnTo>
                  <a:pt x="89" y="3885"/>
                </a:lnTo>
                <a:lnTo>
                  <a:pt x="89" y="7028"/>
                </a:lnTo>
                <a:lnTo>
                  <a:pt x="126" y="7028"/>
                </a:lnTo>
                <a:lnTo>
                  <a:pt x="126" y="3885"/>
                </a:lnTo>
                <a:close/>
                <a:moveTo>
                  <a:pt x="215" y="3885"/>
                </a:moveTo>
                <a:lnTo>
                  <a:pt x="178" y="3885"/>
                </a:lnTo>
                <a:lnTo>
                  <a:pt x="178" y="7028"/>
                </a:lnTo>
                <a:lnTo>
                  <a:pt x="215" y="7028"/>
                </a:lnTo>
                <a:lnTo>
                  <a:pt x="215" y="3885"/>
                </a:lnTo>
                <a:close/>
                <a:moveTo>
                  <a:pt x="304" y="3885"/>
                </a:moveTo>
                <a:lnTo>
                  <a:pt x="267" y="3885"/>
                </a:lnTo>
                <a:lnTo>
                  <a:pt x="267" y="7028"/>
                </a:lnTo>
                <a:lnTo>
                  <a:pt x="304" y="7028"/>
                </a:lnTo>
                <a:lnTo>
                  <a:pt x="304" y="3885"/>
                </a:lnTo>
                <a:close/>
                <a:moveTo>
                  <a:pt x="393" y="3885"/>
                </a:moveTo>
                <a:lnTo>
                  <a:pt x="356" y="3885"/>
                </a:lnTo>
                <a:lnTo>
                  <a:pt x="356" y="7028"/>
                </a:lnTo>
                <a:lnTo>
                  <a:pt x="393" y="7028"/>
                </a:lnTo>
                <a:lnTo>
                  <a:pt x="393" y="3885"/>
                </a:lnTo>
                <a:close/>
                <a:moveTo>
                  <a:pt x="482" y="3885"/>
                </a:moveTo>
                <a:lnTo>
                  <a:pt x="445" y="3885"/>
                </a:lnTo>
                <a:lnTo>
                  <a:pt x="445" y="7028"/>
                </a:lnTo>
                <a:lnTo>
                  <a:pt x="482" y="7028"/>
                </a:lnTo>
                <a:lnTo>
                  <a:pt x="482" y="3885"/>
                </a:lnTo>
                <a:close/>
                <a:moveTo>
                  <a:pt x="571" y="3885"/>
                </a:moveTo>
                <a:lnTo>
                  <a:pt x="534" y="3885"/>
                </a:lnTo>
                <a:lnTo>
                  <a:pt x="534" y="7028"/>
                </a:lnTo>
                <a:lnTo>
                  <a:pt x="571" y="7028"/>
                </a:lnTo>
                <a:lnTo>
                  <a:pt x="571" y="3885"/>
                </a:lnTo>
                <a:close/>
              </a:path>
            </a:pathLst>
          </a:custGeom>
          <a:solidFill>
            <a:srgbClr val="6B0261"/>
          </a:solidFill>
          <a:ln>
            <a:solidFill>
              <a:srgbClr val="6B0261"/>
            </a:solid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pic>
        <p:nvPicPr>
          <p:cNvPr id="4" name="图片 3"/>
          <p:cNvPicPr>
            <a:picLocks noChangeAspect="1"/>
          </p:cNvPicPr>
          <p:nvPr/>
        </p:nvPicPr>
        <p:blipFill rotWithShape="1">
          <a:blip r:embed="rId2" cstate="print">
            <a:extLst>
              <a:ext uri="{28A0092B-C50C-407E-A947-70E740481C1C}">
                <a14:useLocalDpi xmlns:a14="http://schemas.microsoft.com/office/drawing/2010/main" val="0"/>
              </a:ext>
            </a:extLst>
          </a:blip>
          <a:srcRect l="7586" t="36068" r="13573" b="36906"/>
          <a:stretch>
            <a:fillRect/>
          </a:stretch>
        </p:blipFill>
        <p:spPr>
          <a:xfrm>
            <a:off x="289560" y="149225"/>
            <a:ext cx="2377440" cy="815340"/>
          </a:xfrm>
          <a:prstGeom prst="rect">
            <a:avLst/>
          </a:prstGeom>
        </p:spPr>
      </p:pic>
      <p:grpSp>
        <p:nvGrpSpPr>
          <p:cNvPr id="9" name="组合 8"/>
          <p:cNvGrpSpPr/>
          <p:nvPr/>
        </p:nvGrpSpPr>
        <p:grpSpPr>
          <a:xfrm>
            <a:off x="9863839" y="5580305"/>
            <a:ext cx="1956886" cy="1125141"/>
            <a:chOff x="9915418" y="5732859"/>
            <a:chExt cx="1956886" cy="1125141"/>
          </a:xfrm>
        </p:grpSpPr>
        <p:pic>
          <p:nvPicPr>
            <p:cNvPr id="6" name="图片 5"/>
            <p:cNvPicPr>
              <a:picLocks noChangeAspect="1"/>
            </p:cNvPicPr>
            <p:nvPr/>
          </p:nvPicPr>
          <p:blipFill rotWithShape="1">
            <a:blip r:embed="rId3">
              <a:alphaModFix amt="70000"/>
              <a:extLst>
                <a:ext uri="{28A0092B-C50C-407E-A947-70E740481C1C}">
                  <a14:useLocalDpi xmlns:a14="http://schemas.microsoft.com/office/drawing/2010/main" val="0"/>
                </a:ext>
              </a:extLst>
            </a:blip>
            <a:srcRect r="51439" b="9544"/>
            <a:stretch>
              <a:fillRect/>
            </a:stretch>
          </p:blipFill>
          <p:spPr>
            <a:xfrm>
              <a:off x="9915419" y="5732859"/>
              <a:ext cx="1956885" cy="523359"/>
            </a:xfrm>
            <a:prstGeom prst="rect">
              <a:avLst/>
            </a:prstGeom>
          </p:spPr>
        </p:pic>
        <p:pic>
          <p:nvPicPr>
            <p:cNvPr id="8" name="图片 7"/>
            <p:cNvPicPr>
              <a:picLocks noChangeAspect="1"/>
            </p:cNvPicPr>
            <p:nvPr/>
          </p:nvPicPr>
          <p:blipFill rotWithShape="1">
            <a:blip r:embed="rId3">
              <a:alphaModFix amt="70000"/>
              <a:extLst>
                <a:ext uri="{28A0092B-C50C-407E-A947-70E740481C1C}">
                  <a14:useLocalDpi xmlns:a14="http://schemas.microsoft.com/office/drawing/2010/main" val="0"/>
                </a:ext>
              </a:extLst>
            </a:blip>
            <a:srcRect l="53312"/>
            <a:stretch>
              <a:fillRect/>
            </a:stretch>
          </p:blipFill>
          <p:spPr>
            <a:xfrm>
              <a:off x="9915418" y="6256218"/>
              <a:ext cx="1956886" cy="601782"/>
            </a:xfrm>
            <a:prstGeom prst="rect">
              <a:avLst/>
            </a:prstGeom>
          </p:spPr>
        </p:pic>
      </p:grpSp>
      <p:sp>
        <p:nvSpPr>
          <p:cNvPr id="2" name="矩形 1"/>
          <p:cNvSpPr/>
          <p:nvPr/>
        </p:nvSpPr>
        <p:spPr>
          <a:xfrm>
            <a:off x="3204688" y="5237027"/>
            <a:ext cx="1922145" cy="378460"/>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2025</a:t>
            </a:r>
            <a:r>
              <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a:t>
            </a:r>
            <a:r>
              <a:rPr kumimoji="1" lang="en-US" altLang="zh-CN"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6</a:t>
            </a:r>
            <a:r>
              <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月</a:t>
            </a:r>
            <a:r>
              <a:rPr kumimoji="1" lang="en-US" altLang="zh-CN"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30</a:t>
            </a:r>
            <a:r>
              <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日</a:t>
            </a:r>
            <a:endParaRPr kumimoji="1" lang="zh-CN" altLang="en-US" sz="1865" b="1" i="0" u="none" strike="noStrike" kern="1200" cap="none" spc="0" normalizeH="0" baseline="0" noProof="0" dirty="0">
              <a:ln>
                <a:noFill/>
              </a:ln>
              <a:solidFill>
                <a:srgbClr val="6B026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tags/tag1.xml><?xml version="1.0" encoding="utf-8"?>
<p:tagLst xmlns:p="http://schemas.openxmlformats.org/presentationml/2006/main">
  <p:tag name="KSO_WM_DIAGRAM_VIRTUALLY_FRAME" val="{&quot;height&quot;:452.2984251968504,&quot;left&quot;:57.9,&quot;top&quot;:93.69881889763778,&quot;width&quot;:833.05}"/>
</p:tagLst>
</file>

<file path=ppt/tags/tag2.xml><?xml version="1.0" encoding="utf-8"?>
<p:tagLst xmlns:p="http://schemas.openxmlformats.org/presentationml/2006/main">
  <p:tag name="KSO_WM_DIAGRAM_VIRTUALLY_FRAME" val="{&quot;height&quot;:452.2984251968504,&quot;left&quot;:57.9,&quot;top&quot;:93.69881889763778,&quot;width&quot;:833.05}"/>
</p:tagLst>
</file>

<file path=ppt/tags/tag3.xml><?xml version="1.0" encoding="utf-8"?>
<p:tagLst xmlns:p="http://schemas.openxmlformats.org/presentationml/2006/main">
  <p:tag name="KSO_WM_DIAGRAM_VIRTUALLY_FRAME" val="{&quot;height&quot;:452.2984251968504,&quot;left&quot;:57.9,&quot;top&quot;:93.69881889763778,&quot;width&quot;:833.05}"/>
</p:tagLst>
</file>

<file path=ppt/tags/tag4.xml><?xml version="1.0" encoding="utf-8"?>
<p:tagLst xmlns:p="http://schemas.openxmlformats.org/presentationml/2006/main">
  <p:tag name="KSO_WM_DIAGRAM_VIRTUALLY_FRAME" val="{&quot;height&quot;:452.2984251968504,&quot;left&quot;:57.9,&quot;top&quot;:93.69881889763778,&quot;width&quot;:833.05}"/>
</p:tagLst>
</file>

<file path=ppt/tags/tag5.xml><?xml version="1.0" encoding="utf-8"?>
<p:tagLst xmlns:p="http://schemas.openxmlformats.org/presentationml/2006/main">
  <p:tag name="KSO_WM_DIAGRAM_VIRTUALLY_FRAME" val="{&quot;height&quot;:452.2984251968504,&quot;left&quot;:57.9,&quot;top&quot;:93.69881889763778,&quot;width&quot;:833.05}"/>
</p:tagLst>
</file>

<file path=ppt/tags/tag6.xml><?xml version="1.0" encoding="utf-8"?>
<p:tagLst xmlns:p="http://schemas.openxmlformats.org/presentationml/2006/main">
  <p:tag name="KSO_WM_DIAGRAM_VIRTUALLY_FRAME" val="{&quot;height&quot;:452.2984251968504,&quot;left&quot;:57.9,&quot;top&quot;:93.69881889763778,&quot;width&quot;:833.05}"/>
</p:tagLst>
</file>

<file path=ppt/tags/tag7.xml><?xml version="1.0" encoding="utf-8"?>
<p:tagLst xmlns:p="http://schemas.openxmlformats.org/presentationml/2006/main">
  <p:tag name="KSO_WM_DIAGRAM_VIRTUALLY_FRAME" val="{&quot;height&quot;:452.2984251968504,&quot;left&quot;:57.9,&quot;top&quot;:93.69881889763778,&quot;width&quot;:833.05}"/>
</p:tagLst>
</file>

<file path=ppt/tags/tag8.xml><?xml version="1.0" encoding="utf-8"?>
<p:tagLst xmlns:p="http://schemas.openxmlformats.org/presentationml/2006/main">
  <p:tag name="KSO_WM_DIAGRAM_VIRTUALLY_FRAME" val="{&quot;height&quot;:452.2984251968504,&quot;left&quot;:57.9,&quot;top&quot;:93.69881889763778,&quot;width&quot;:833.05}"/>
</p:tagLst>
</file>

<file path=ppt/tags/tag9.xml><?xml version="1.0" encoding="utf-8"?>
<p:tagLst xmlns:p="http://schemas.openxmlformats.org/presentationml/2006/main">
  <p:tag name="KSO_WM_DIAGRAM_VIRTUALLY_FRAME" val="{&quot;height&quot;:452.2984251968504,&quot;left&quot;:57.9,&quot;top&quot;:93.69881889763778,&quot;width&quot;:833.05}"/>
</p:tagLst>
</file>

<file path=ppt/tags/tag10.xml><?xml version="1.0" encoding="utf-8"?>
<p:tagLst xmlns:p="http://schemas.openxmlformats.org/presentationml/2006/main">
  <p:tag name="KSO_WM_DIAGRAM_VIRTUALLY_FRAME" val="{&quot;height&quot;:452.2984251968504,&quot;left&quot;:57.9,&quot;top&quot;:93.69881889763778,&quot;width&quot;:833.05}"/>
</p:tagLst>
</file>

<file path=ppt/tags/tag11.xml><?xml version="1.0" encoding="utf-8"?>
<p:tagLst xmlns:p="http://schemas.openxmlformats.org/presentationml/2006/main">
  <p:tag name="KSO_WM_DIAGRAM_VIRTUALLY_FRAME" val="{&quot;height&quot;:452.2984251968504,&quot;left&quot;:57.9,&quot;top&quot;:93.69881889763778,&quot;width&quot;:833.05}"/>
</p:tagLst>
</file>

<file path=ppt/tags/tag12.xml><?xml version="1.0" encoding="utf-8"?>
<p:tagLst xmlns:p="http://schemas.openxmlformats.org/presentationml/2006/main">
  <p:tag name="KSO_WM_DIAGRAM_VIRTUALLY_FRAME" val="{&quot;height&quot;:452.2984251968504,&quot;left&quot;:57.9,&quot;top&quot;:93.69881889763778,&quot;width&quot;:833.05}"/>
</p:tagLst>
</file>

<file path=ppt/tags/tag13.xml><?xml version="1.0" encoding="utf-8"?>
<p:tagLst xmlns:p="http://schemas.openxmlformats.org/presentationml/2006/main">
  <p:tag name="KSO_WM_DIAGRAM_VIRTUALLY_FRAME" val="{&quot;height&quot;:452.2984251968504,&quot;left&quot;:57.9,&quot;top&quot;:93.69881889763778,&quot;width&quot;:833.05}"/>
</p:tagLst>
</file>

<file path=ppt/tags/tag14.xml><?xml version="1.0" encoding="utf-8"?>
<p:tagLst xmlns:p="http://schemas.openxmlformats.org/presentationml/2006/main">
  <p:tag name="KSO_WM_DIAGRAM_VIRTUALLY_FRAME" val="{&quot;height&quot;:475.41984251968495,&quot;left&quot;:52.64354330708661,&quot;top&quot;:71.92724409448819,&quot;width&quot;:821.5064566929134}"/>
</p:tagLst>
</file>

<file path=ppt/tags/tag15.xml><?xml version="1.0" encoding="utf-8"?>
<p:tagLst xmlns:p="http://schemas.openxmlformats.org/presentationml/2006/main">
  <p:tag name="KSO_WM_DIAGRAM_VIRTUALLY_FRAME" val="{&quot;height&quot;:475.41984251968495,&quot;left&quot;:52.64354330708661,&quot;top&quot;:71.92724409448819,&quot;width&quot;:821.5064566929134}"/>
</p:tagLst>
</file>

<file path=ppt/tags/tag16.xml><?xml version="1.0" encoding="utf-8"?>
<p:tagLst xmlns:p="http://schemas.openxmlformats.org/presentationml/2006/main">
  <p:tag name="KSO_WM_DIAGRAM_VIRTUALLY_FRAME" val="{&quot;height&quot;:475.41984251968495,&quot;left&quot;:52.64354330708661,&quot;top&quot;:71.92724409448819,&quot;width&quot;:821.5064566929134}"/>
</p:tagLst>
</file>

<file path=ppt/tags/tag17.xml><?xml version="1.0" encoding="utf-8"?>
<p:tagLst xmlns:p="http://schemas.openxmlformats.org/presentationml/2006/main">
  <p:tag name="KSO_WM_DIAGRAM_VIRTUALLY_FRAME" val="{&quot;height&quot;:475.41984251968495,&quot;left&quot;:52.64354330708661,&quot;top&quot;:71.92724409448819,&quot;width&quot;:821.5064566929134}"/>
</p:tagLst>
</file>

<file path=ppt/tags/tag18.xml><?xml version="1.0" encoding="utf-8"?>
<p:tagLst xmlns:p="http://schemas.openxmlformats.org/presentationml/2006/main">
  <p:tag name="KSO_WM_DIAGRAM_VIRTUALLY_FRAME" val="{&quot;height&quot;:321.4150393700787,&quot;left&quot;:272.3807874015748,&quot;top&quot;:121.0318897637795,&quot;width&quot;:563.3645669291338}"/>
</p:tagLst>
</file>

<file path=ppt/tags/tag19.xml><?xml version="1.0" encoding="utf-8"?>
<p:tagLst xmlns:p="http://schemas.openxmlformats.org/presentationml/2006/main">
  <p:tag name="KSO_WM_DIAGRAM_VIRTUALLY_FRAME" val="{&quot;height&quot;:321.4150393700787,&quot;left&quot;:272.3807874015748,&quot;top&quot;:121.0318897637795,&quot;width&quot;:563.3645669291338}"/>
</p:tagLst>
</file>

<file path=ppt/tags/tag20.xml><?xml version="1.0" encoding="utf-8"?>
<p:tagLst xmlns:p="http://schemas.openxmlformats.org/presentationml/2006/main">
  <p:tag name="KSO_WM_DIAGRAM_VIRTUALLY_FRAME" val="{&quot;height&quot;:321.4150393700787,&quot;left&quot;:272.3807874015748,&quot;top&quot;:121.0318897637795,&quot;width&quot;:563.3645669291338}"/>
</p:tagLst>
</file>

<file path=ppt/tags/tag21.xml><?xml version="1.0" encoding="utf-8"?>
<p:tagLst xmlns:p="http://schemas.openxmlformats.org/presentationml/2006/main">
  <p:tag name="KSO_WM_DIAGRAM_VIRTUALLY_FRAME" val="{&quot;height&quot;:321.4150393700787,&quot;left&quot;:272.3807874015748,&quot;top&quot;:121.0318897637795,&quot;width&quot;:563.3645669291338}"/>
</p:tagLst>
</file>

<file path=ppt/tags/tag22.xml><?xml version="1.0" encoding="utf-8"?>
<p:tagLst xmlns:p="http://schemas.openxmlformats.org/presentationml/2006/main">
  <p:tag name="KSO_WM_DIAGRAM_VIRTUALLY_FRAME" val="{&quot;height&quot;:356.5083356342545,&quot;left&quot;:47.613977482387554,&quot;top&quot;:87.08599507440697,&quot;width&quot;:617.8735028325731}"/>
</p:tagLst>
</file>

<file path=ppt/tags/tag23.xml><?xml version="1.0" encoding="utf-8"?>
<p:tagLst xmlns:p="http://schemas.openxmlformats.org/presentationml/2006/main">
  <p:tag name="KSO_WM_DIAGRAM_VIRTUALLY_FRAME" val="{&quot;height&quot;:356.5083356342545,&quot;left&quot;:47.613977482387554,&quot;top&quot;:87.08599507440697,&quot;width&quot;:617.8735028325731}"/>
</p:tagLst>
</file>

<file path=ppt/tags/tag24.xml><?xml version="1.0" encoding="utf-8"?>
<p:tagLst xmlns:p="http://schemas.openxmlformats.org/presentationml/2006/main">
  <p:tag name="KSO_WM_DIAGRAM_VIRTUALLY_FRAME" val="{&quot;height&quot;:356.5083356342545,&quot;left&quot;:47.613977482387554,&quot;top&quot;:87.08599507440697,&quot;width&quot;:617.8735028325731}"/>
</p:tagLst>
</file>

<file path=ppt/tags/tag25.xml><?xml version="1.0" encoding="utf-8"?>
<p:tagLst xmlns:p="http://schemas.openxmlformats.org/presentationml/2006/main">
  <p:tag name="KSO_WM_DIAGRAM_VIRTUALLY_FRAME" val="{&quot;height&quot;:356.5083356342545,&quot;left&quot;:47.613977482387554,&quot;top&quot;:87.08599507440697,&quot;width&quot;:617.8735028325731}"/>
</p:tagLst>
</file>

<file path=ppt/tags/tag26.xml><?xml version="1.0" encoding="utf-8"?>
<p:tagLst xmlns:p="http://schemas.openxmlformats.org/presentationml/2006/main">
  <p:tag name="KSO_WM_DIAGRAM_VIRTUALLY_FRAME" val="{&quot;height&quot;:356.5083356342545,&quot;left&quot;:47.613977482387554,&quot;top&quot;:87.08599507440697,&quot;width&quot;:617.8735028325731}"/>
</p:tagLst>
</file>

<file path=ppt/tags/tag27.xml><?xml version="1.0" encoding="utf-8"?>
<p:tagLst xmlns:p="http://schemas.openxmlformats.org/presentationml/2006/main">
  <p:tag name="KSO_WM_DIAGRAM_VIRTUALLY_FRAME" val="{&quot;height&quot;:356.5083356342545,&quot;left&quot;:47.613977482387554,&quot;top&quot;:87.08599507440697,&quot;width&quot;:617.8735028325731}"/>
</p:tagLst>
</file>

<file path=ppt/tags/tag28.xml><?xml version="1.0" encoding="utf-8"?>
<p:tagLst xmlns:p="http://schemas.openxmlformats.org/presentationml/2006/main">
  <p:tag name="KSO_WM_DIAGRAM_VIRTUALLY_FRAME" val="{&quot;height&quot;:356.5083356342545,&quot;left&quot;:47.613977482387554,&quot;top&quot;:87.08599507440697,&quot;width&quot;:617.8735028325731}"/>
</p:tagLst>
</file>

<file path=ppt/tags/tag29.xml><?xml version="1.0" encoding="utf-8"?>
<p:tagLst xmlns:p="http://schemas.openxmlformats.org/presentationml/2006/main">
  <p:tag name="KSO_WM_DIAGRAM_VIRTUALLY_FRAME" val="{&quot;height&quot;:356.5083356342545,&quot;left&quot;:47.613977482387554,&quot;top&quot;:87.08599507440697,&quot;width&quot;:617.8735028325731}"/>
</p:tagLst>
</file>

<file path=ppt/tags/tag30.xml><?xml version="1.0" encoding="utf-8"?>
<p:tagLst xmlns:p="http://schemas.openxmlformats.org/presentationml/2006/main">
  <p:tag name="KSO_WM_DIAGRAM_VIRTUALLY_FRAME" val="{&quot;height&quot;:321.4150393700787,&quot;left&quot;:256.8307874015748,&quot;top&quot;:141.48188976377952,&quot;width&quot;:563.3645669291338}"/>
</p:tagLst>
</file>

<file path=ppt/tags/tag31.xml><?xml version="1.0" encoding="utf-8"?>
<p:tagLst xmlns:p="http://schemas.openxmlformats.org/presentationml/2006/main">
  <p:tag name="KSO_WM_DIAGRAM_VIRTUALLY_FRAME" val="{&quot;height&quot;:321.4150393700787,&quot;left&quot;:256.8307874015748,&quot;top&quot;:141.48188976377952,&quot;width&quot;:563.3645669291338}"/>
</p:tagLst>
</file>

<file path=ppt/tags/tag32.xml><?xml version="1.0" encoding="utf-8"?>
<p:tagLst xmlns:p="http://schemas.openxmlformats.org/presentationml/2006/main">
  <p:tag name="KSO_WM_DIAGRAM_VIRTUALLY_FRAME" val="{&quot;height&quot;:464.36400492559306,&quot;left&quot;:37.01397748238755,&quot;top&quot;:55.335995074406966,&quot;width&quot;:824.4860225176124}"/>
</p:tagLst>
</file>

<file path=ppt/tags/tag33.xml><?xml version="1.0" encoding="utf-8"?>
<p:tagLst xmlns:p="http://schemas.openxmlformats.org/presentationml/2006/main">
  <p:tag name="KSO_WM_DIAGRAM_VIRTUALLY_FRAME" val="{&quot;height&quot;:464.36400492559306,&quot;left&quot;:37.01397748238755,&quot;top&quot;:55.335995074406966,&quot;width&quot;:824.4860225176124}"/>
</p:tagLst>
</file>

<file path=ppt/tags/tag34.xml><?xml version="1.0" encoding="utf-8"?>
<p:tagLst xmlns:p="http://schemas.openxmlformats.org/presentationml/2006/main">
  <p:tag name="KSO_WM_DIAGRAM_VIRTUALLY_FRAME" val="{&quot;height&quot;:464.36400492559306,&quot;left&quot;:37.01397748238755,&quot;top&quot;:55.335995074406966,&quot;width&quot;:824.4860225176124}"/>
</p:tagLst>
</file>

<file path=ppt/tags/tag35.xml><?xml version="1.0" encoding="utf-8"?>
<p:tagLst xmlns:p="http://schemas.openxmlformats.org/presentationml/2006/main">
  <p:tag name="KSO_WM_DIAGRAM_VIRTUALLY_FRAME" val="{&quot;height&quot;:464.36400492559306,&quot;left&quot;:37.01397748238755,&quot;top&quot;:55.335995074406966,&quot;width&quot;:824.4860225176124}"/>
</p:tagLst>
</file>

<file path=ppt/tags/tag36.xml><?xml version="1.0" encoding="utf-8"?>
<p:tagLst xmlns:p="http://schemas.openxmlformats.org/presentationml/2006/main">
  <p:tag name="KSO_WM_DIAGRAM_VIRTUALLY_FRAME" val="{&quot;height&quot;:464.36400492559306,&quot;left&quot;:37.01397748238755,&quot;top&quot;:55.335995074406966,&quot;width&quot;:824.4860225176124}"/>
</p:tagLst>
</file>

<file path=ppt/tags/tag37.xml><?xml version="1.0" encoding="utf-8"?>
<p:tagLst xmlns:p="http://schemas.openxmlformats.org/presentationml/2006/main">
  <p:tag name="KSO_WM_DIAGRAM_VIRTUALLY_FRAME" val="{&quot;height&quot;:464.36400492559306,&quot;left&quot;:37.01397748238755,&quot;top&quot;:55.335995074406966,&quot;width&quot;:824.4860225176124}"/>
</p:tagLst>
</file>

<file path=ppt/tags/tag38.xml><?xml version="1.0" encoding="utf-8"?>
<p:tagLst xmlns:p="http://schemas.openxmlformats.org/presentationml/2006/main">
  <p:tag name="KSO_WM_DIAGRAM_VIRTUALLY_FRAME" val="{&quot;height&quot;:464.36400492559306,&quot;left&quot;:37.01397748238755,&quot;top&quot;:55.335995074406966,&quot;width&quot;:824.4860225176124}"/>
</p:tagLst>
</file>

<file path=ppt/tags/tag39.xml><?xml version="1.0" encoding="utf-8"?>
<p:tagLst xmlns:p="http://schemas.openxmlformats.org/presentationml/2006/main">
  <p:tag name="KSO_WM_DIAGRAM_VIRTUALLY_FRAME" val="{&quot;height&quot;:464.36400492559306,&quot;left&quot;:37.01397748238755,&quot;top&quot;:55.335995074406966,&quot;width&quot;:824.4860225176124}"/>
</p:tagLst>
</file>

<file path=ppt/tags/tag40.xml><?xml version="1.0" encoding="utf-8"?>
<p:tagLst xmlns:p="http://schemas.openxmlformats.org/presentationml/2006/main">
  <p:tag name="KSO_WM_DIAGRAM_VIRTUALLY_FRAME" val="{&quot;height&quot;:379.3736220472441,&quot;left&quot;:76.4,&quot;top&quot;:92.9,&quot;width&quot;:751.2046456692913}"/>
</p:tagLst>
</file>

<file path=ppt/tags/tag41.xml><?xml version="1.0" encoding="utf-8"?>
<p:tagLst xmlns:p="http://schemas.openxmlformats.org/presentationml/2006/main">
  <p:tag name="KSO_WM_DIAGRAM_VIRTUALLY_FRAME" val="{&quot;height&quot;:379.3736220472441,&quot;left&quot;:76.4,&quot;top&quot;:92.9,&quot;width&quot;:751.2046456692913}"/>
</p:tagLst>
</file>

<file path=ppt/tags/tag42.xml><?xml version="1.0" encoding="utf-8"?>
<p:tagLst xmlns:p="http://schemas.openxmlformats.org/presentationml/2006/main">
  <p:tag name="KSO_WM_DIAGRAM_VIRTUALLY_FRAME" val="{&quot;height&quot;:379.3736220472441,&quot;left&quot;:76.4,&quot;top&quot;:92.9,&quot;width&quot;:751.2046456692913}"/>
</p:tagLst>
</file>

<file path=ppt/tags/tag43.xml><?xml version="1.0" encoding="utf-8"?>
<p:tagLst xmlns:p="http://schemas.openxmlformats.org/presentationml/2006/main">
  <p:tag name="KSO_WM_DIAGRAM_VIRTUALLY_FRAME" val="{&quot;height&quot;:379.3736220472441,&quot;left&quot;:76.4,&quot;top&quot;:92.9,&quot;width&quot;:751.2046456692913}"/>
</p:tagLst>
</file>

<file path=ppt/tags/tag44.xml><?xml version="1.0" encoding="utf-8"?>
<p:tagLst xmlns:p="http://schemas.openxmlformats.org/presentationml/2006/main">
  <p:tag name="KSO_WM_DIAGRAM_VIRTUALLY_FRAME" val="{&quot;height&quot;:425.6199212598425,&quot;left&quot;:62.376531582529665,&quot;top&quot;:86.47440944881892,&quot;width&quot;:660.160948732431}"/>
</p:tagLst>
</file>

<file path=ppt/tags/tag45.xml><?xml version="1.0" encoding="utf-8"?>
<p:tagLst xmlns:p="http://schemas.openxmlformats.org/presentationml/2006/main">
  <p:tag name="KSO_WM_DIAGRAM_VIRTUALLY_FRAME" val="{&quot;height&quot;:425.6199212598425,&quot;left&quot;:62.376531582529665,&quot;top&quot;:86.47440944881892,&quot;width&quot;:660.160948732431}"/>
</p:tagLst>
</file>

<file path=ppt/tags/tag46.xml><?xml version="1.0" encoding="utf-8"?>
<p:tagLst xmlns:p="http://schemas.openxmlformats.org/presentationml/2006/main">
  <p:tag name="KSO_WM_DIAGRAM_VIRTUALLY_FRAME" val="{&quot;height&quot;:425.6199212598425,&quot;left&quot;:62.376531582529665,&quot;top&quot;:86.47440944881892,&quot;width&quot;:660.160948732431}"/>
</p:tagLst>
</file>

<file path=ppt/tags/tag47.xml><?xml version="1.0" encoding="utf-8"?>
<p:tagLst xmlns:p="http://schemas.openxmlformats.org/presentationml/2006/main">
  <p:tag name="KSO_WM_DIAGRAM_VIRTUALLY_FRAME" val="{&quot;height&quot;:425.6199212598425,&quot;left&quot;:62.376531582529665,&quot;top&quot;:86.47440944881892,&quot;width&quot;:660.160948732431}"/>
</p:tagLst>
</file>

<file path=ppt/tags/tag48.xml><?xml version="1.0" encoding="utf-8"?>
<p:tagLst xmlns:p="http://schemas.openxmlformats.org/presentationml/2006/main">
  <p:tag name="KSO_WM_DIAGRAM_VIRTUALLY_FRAME" val="{&quot;height&quot;:425.6199212598425,&quot;left&quot;:62.376531582529665,&quot;top&quot;:86.47440944881892,&quot;width&quot;:660.160948732431}"/>
</p:tagLst>
</file>

<file path=ppt/tags/tag49.xml><?xml version="1.0" encoding="utf-8"?>
<p:tagLst xmlns:p="http://schemas.openxmlformats.org/presentationml/2006/main">
  <p:tag name="KSO_WM_DIAGRAM_VIRTUALLY_FRAME" val="{&quot;height&quot;:425.6199212598425,&quot;left&quot;:62.376531582529665,&quot;top&quot;:86.47440944881892,&quot;width&quot;:660.160948732431}"/>
</p:tagLst>
</file>

<file path=ppt/tags/tag50.xml><?xml version="1.0" encoding="utf-8"?>
<p:tagLst xmlns:p="http://schemas.openxmlformats.org/presentationml/2006/main">
  <p:tag name="KSO_WM_DIAGRAM_VIRTUALLY_FRAME" val="{&quot;height&quot;:425.6199212598425,&quot;left&quot;:62.376531582529665,&quot;top&quot;:86.47440944881892,&quot;width&quot;:660.160948732431}"/>
</p:tagLst>
</file>

<file path=ppt/tags/tag51.xml><?xml version="1.0" encoding="utf-8"?>
<p:tagLst xmlns:p="http://schemas.openxmlformats.org/presentationml/2006/main">
  <p:tag name="KSO_WM_DIAGRAM_VIRTUALLY_FRAME" val="{&quot;height&quot;:425.6199212598425,&quot;left&quot;:62.376531582529665,&quot;top&quot;:86.47440944881892,&quot;width&quot;:660.160948732431}"/>
</p:tagLst>
</file>

<file path=ppt/tags/tag52.xml><?xml version="1.0" encoding="utf-8"?>
<p:tagLst xmlns:p="http://schemas.openxmlformats.org/presentationml/2006/main">
  <p:tag name="KSO_WM_DIAGRAM_VIRTUALLY_FRAME" val="{&quot;height&quot;:407.3657760186301,&quot;left&quot;:62.376531582529665,&quot;top&quot;:86.47440944881892,&quot;width&quot;:773.110948732431}"/>
</p:tagLst>
</file>

<file path=ppt/tags/tag53.xml><?xml version="1.0" encoding="utf-8"?>
<p:tagLst xmlns:p="http://schemas.openxmlformats.org/presentationml/2006/main">
  <p:tag name="KSO_WM_DIAGRAM_VIRTUALLY_FRAME" val="{&quot;height&quot;:407.3657760186301,&quot;left&quot;:62.376531582529665,&quot;top&quot;:86.47440944881892,&quot;width&quot;:773.110948732431}"/>
</p:tagLst>
</file>

<file path=ppt/tags/tag54.xml><?xml version="1.0" encoding="utf-8"?>
<p:tagLst xmlns:p="http://schemas.openxmlformats.org/presentationml/2006/main">
  <p:tag name="KSO_WM_DIAGRAM_VIRTUALLY_FRAME" val="{&quot;height&quot;:407.3657760186301,&quot;left&quot;:62.376531582529665,&quot;top&quot;:86.47440944881892,&quot;width&quot;:773.110948732431}"/>
</p:tagLst>
</file>

<file path=ppt/tags/tag55.xml><?xml version="1.0" encoding="utf-8"?>
<p:tagLst xmlns:p="http://schemas.openxmlformats.org/presentationml/2006/main">
  <p:tag name="KSO_WM_DIAGRAM_VIRTUALLY_FRAME" val="{&quot;height&quot;:425.6199212598425,&quot;left&quot;:62.376531582529665,&quot;top&quot;:86.47440944881892,&quot;width&quot;:773.110948732431}"/>
</p:tagLst>
</file>

<file path=ppt/tags/tag56.xml><?xml version="1.0" encoding="utf-8"?>
<p:tagLst xmlns:p="http://schemas.openxmlformats.org/presentationml/2006/main">
  <p:tag name="KSO_WM_DIAGRAM_VIRTUALLY_FRAME" val="{&quot;height&quot;:420.70960515933587,&quot;left&quot;:0,&quot;top&quot;:128.1763779527559,&quot;width&quot;:960}"/>
</p:tagLst>
</file>

<file path=ppt/tags/tag57.xml><?xml version="1.0" encoding="utf-8"?>
<p:tagLst xmlns:p="http://schemas.openxmlformats.org/presentationml/2006/main">
  <p:tag name="KSO_WM_DIAGRAM_VIRTUALLY_FRAME" val="{&quot;height&quot;:420.70960515933587,&quot;left&quot;:0,&quot;top&quot;:128.1763779527559,&quot;width&quot;:960}"/>
</p:tagLst>
</file>

<file path=ppt/tags/tag58.xml><?xml version="1.0" encoding="utf-8"?>
<p:tagLst xmlns:p="http://schemas.openxmlformats.org/presentationml/2006/main">
  <p:tag name="KSO_WM_DIAGRAM_VIRTUALLY_FRAME" val="{&quot;height&quot;:420.70960515933587,&quot;left&quot;:0,&quot;top&quot;:128.1763779527559,&quot;width&quot;:960}"/>
</p:tagLst>
</file>

<file path=ppt/tags/tag59.xml><?xml version="1.0" encoding="utf-8"?>
<p:tagLst xmlns:p="http://schemas.openxmlformats.org/presentationml/2006/main">
  <p:tag name="KSO_WM_DIAGRAM_VIRTUALLY_FRAME" val="{&quot;height&quot;:420.70960515933587,&quot;left&quot;:0,&quot;top&quot;:128.1763779527559,&quot;width&quot;:960}"/>
</p:tagLst>
</file>

<file path=ppt/tags/tag60.xml><?xml version="1.0" encoding="utf-8"?>
<p:tagLst xmlns:p="http://schemas.openxmlformats.org/presentationml/2006/main">
  <p:tag name="KSO_WM_DIAGRAM_VIRTUALLY_FRAME" val="{&quot;height&quot;:420.70960515933587,&quot;left&quot;:0,&quot;top&quot;:128.1763779527559,&quot;width&quot;:960}"/>
</p:tagLst>
</file>

<file path=ppt/tags/tag61.xml><?xml version="1.0" encoding="utf-8"?>
<p:tagLst xmlns:p="http://schemas.openxmlformats.org/presentationml/2006/main">
  <p:tag name="KSO_WM_DIAGRAM_VIRTUALLY_FRAME" val="{&quot;height&quot;:420.70960515933587,&quot;left&quot;:0,&quot;top&quot;:128.1763779527559,&quot;width&quot;:960}"/>
</p:tagLst>
</file>

<file path=ppt/tags/tag62.xml><?xml version="1.0" encoding="utf-8"?>
<p:tagLst xmlns:p="http://schemas.openxmlformats.org/presentationml/2006/main">
  <p:tag name="KSO_WM_DIAGRAM_VIRTUALLY_FRAME" val="{&quot;height&quot;:420.70960515933587,&quot;left&quot;:0,&quot;top&quot;:128.1763779527559,&quot;width&quot;:960}"/>
</p:tagLst>
</file>

<file path=ppt/tags/tag63.xml><?xml version="1.0" encoding="utf-8"?>
<p:tagLst xmlns:p="http://schemas.openxmlformats.org/presentationml/2006/main">
  <p:tag name="KSO_WM_DIAGRAM_VIRTUALLY_FRAME" val="{&quot;height&quot;:420.70960515933587,&quot;left&quot;:0,&quot;top&quot;:128.1763779527559,&quot;width&quot;:960}"/>
</p:tagLst>
</file>

<file path=ppt/tags/tag64.xml><?xml version="1.0" encoding="utf-8"?>
<p:tagLst xmlns:p="http://schemas.openxmlformats.org/presentationml/2006/main">
  <p:tag name="KSO_WM_DIAGRAM_VIRTUALLY_FRAME" val="{&quot;height&quot;:420.70960515933587,&quot;left&quot;:0,&quot;top&quot;:128.1763779527559,&quot;width&quot;:960}"/>
</p:tagLst>
</file>

<file path=ppt/tags/tag65.xml><?xml version="1.0" encoding="utf-8"?>
<p:tagLst xmlns:p="http://schemas.openxmlformats.org/presentationml/2006/main">
  <p:tag name="KSO_WM_DIAGRAM_VIRTUALLY_FRAME" val="{&quot;height&quot;:420.70960515933587,&quot;left&quot;:0,&quot;top&quot;:128.1763779527559,&quot;width&quot;:960}"/>
</p:tagLst>
</file>

<file path=ppt/tags/tag66.xml><?xml version="1.0" encoding="utf-8"?>
<p:tagLst xmlns:p="http://schemas.openxmlformats.org/presentationml/2006/main">
  <p:tag name="KSO_WM_DIAGRAM_VIRTUALLY_FRAME" val="{&quot;height&quot;:420.70960515933587,&quot;left&quot;:0,&quot;top&quot;:128.1763779527559,&quot;width&quot;:960}"/>
</p:tagLst>
</file>

<file path=ppt/tags/tag67.xml><?xml version="1.0" encoding="utf-8"?>
<p:tagLst xmlns:p="http://schemas.openxmlformats.org/presentationml/2006/main">
  <p:tag name="KSO_WM_DIAGRAM_VIRTUALLY_FRAME" val="{&quot;height&quot;:420.70960515933587,&quot;left&quot;:0,&quot;top&quot;:128.1763779527559,&quot;width&quot;:960}"/>
</p:tagLst>
</file>

<file path=ppt/tags/tag68.xml><?xml version="1.0" encoding="utf-8"?>
<p:tagLst xmlns:p="http://schemas.openxmlformats.org/presentationml/2006/main">
  <p:tag name="KSO_WM_DIAGRAM_VIRTUALLY_FRAME" val="{&quot;height&quot;:420.70960515933587,&quot;left&quot;:0,&quot;top&quot;:128.1763779527559,&quot;width&quot;:960}"/>
</p:tagLst>
</file>

<file path=ppt/tags/tag69.xml><?xml version="1.0" encoding="utf-8"?>
<p:tagLst xmlns:p="http://schemas.openxmlformats.org/presentationml/2006/main">
  <p:tag name="KSO_WM_DIAGRAM_VIRTUALLY_FRAME" val="{&quot;height&quot;:459.65,&quot;left&quot;:207.70031496062992,&quot;top&quot;:107.85,&quot;width&quot;:655.4649606299213}"/>
</p:tagLst>
</file>

<file path=ppt/tags/tag70.xml><?xml version="1.0" encoding="utf-8"?>
<p:tagLst xmlns:p="http://schemas.openxmlformats.org/presentationml/2006/main">
  <p:tag name="KSO_WM_DIAGRAM_VIRTUALLY_FRAME" val="{&quot;height&quot;:459.65,&quot;left&quot;:207.70031496062992,&quot;top&quot;:107.85,&quot;width&quot;:655.4649606299213}"/>
</p:tagLst>
</file>

<file path=ppt/tags/tag71.xml><?xml version="1.0" encoding="utf-8"?>
<p:tagLst xmlns:p="http://schemas.openxmlformats.org/presentationml/2006/main">
  <p:tag name="KSO_WM_DIAGRAM_VIRTUALLY_FRAME" val="{&quot;height&quot;:459.65,&quot;left&quot;:207.70031496062992,&quot;top&quot;:107.85,&quot;width&quot;:655.4649606299213}"/>
</p:tagLst>
</file>

<file path=ppt/tags/tag72.xml><?xml version="1.0" encoding="utf-8"?>
<p:tagLst xmlns:p="http://schemas.openxmlformats.org/presentationml/2006/main">
  <p:tag name="KSO_WM_DIAGRAM_VIRTUALLY_FRAME" val="{&quot;height&quot;:459.65,&quot;left&quot;:207.70031496062992,&quot;top&quot;:107.85,&quot;width&quot;:655.4649606299213}"/>
</p:tagLst>
</file>

<file path=ppt/tags/tag73.xml><?xml version="1.0" encoding="utf-8"?>
<p:tagLst xmlns:p="http://schemas.openxmlformats.org/presentationml/2006/main">
  <p:tag name="KSO_WM_DIAGRAM_VIRTUALLY_FRAME" val="{&quot;height&quot;:459.65,&quot;left&quot;:207.70031496062992,&quot;top&quot;:107.85,&quot;width&quot;:655.4649606299213}"/>
</p:tagLst>
</file>

<file path=ppt/tags/tag74.xml><?xml version="1.0" encoding="utf-8"?>
<p:tagLst xmlns:p="http://schemas.openxmlformats.org/presentationml/2006/main">
  <p:tag name="KSO_WM_DIAGRAM_VIRTUALLY_FRAME" val="{&quot;height&quot;:459.65,&quot;left&quot;:207.70031496062992,&quot;top&quot;:107.85,&quot;width&quot;:655.4649606299213}"/>
</p:tagLst>
</file>

<file path=ppt/theme/theme1.xml><?xml version="1.0" encoding="utf-8"?>
<a:theme xmlns:a="http://schemas.openxmlformats.org/drawingml/2006/main" name="第一PPT，www.1ppt.com">
  <a:themeElements>
    <a:clrScheme name="自定义 2">
      <a:dk1>
        <a:sysClr val="windowText" lastClr="000000"/>
      </a:dk1>
      <a:lt1>
        <a:sysClr val="window" lastClr="FFFFFF"/>
      </a:lt1>
      <a:dk2>
        <a:srgbClr val="3F3F3F"/>
      </a:dk2>
      <a:lt2>
        <a:srgbClr val="E3DED1"/>
      </a:lt2>
      <a:accent1>
        <a:srgbClr val="005825"/>
      </a:accent1>
      <a:accent2>
        <a:srgbClr val="7F7F7F"/>
      </a:accent2>
      <a:accent3>
        <a:srgbClr val="414456"/>
      </a:accent3>
      <a:accent4>
        <a:srgbClr val="444455"/>
      </a:accent4>
      <a:accent5>
        <a:srgbClr val="444455"/>
      </a:accent5>
      <a:accent6>
        <a:srgbClr val="7F7F7F"/>
      </a:accent6>
      <a:hlink>
        <a:srgbClr val="002060"/>
      </a:hlink>
      <a:folHlink>
        <a:srgbClr val="B26B02"/>
      </a:folHlink>
    </a:clrScheme>
    <a:fontScheme name="自定义 1">
      <a:majorFont>
        <a:latin typeface="Arial Black"/>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5964</Words>
  <Application>WPS 演示</Application>
  <PresentationFormat>宽屏</PresentationFormat>
  <Paragraphs>339</Paragraphs>
  <Slides>34</Slides>
  <Notes>38</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34</vt:i4>
      </vt:variant>
    </vt:vector>
  </HeadingPairs>
  <TitlesOfParts>
    <vt:vector size="51" baseType="lpstr">
      <vt:lpstr>Arial</vt:lpstr>
      <vt:lpstr>宋体</vt:lpstr>
      <vt:lpstr>Wingdings</vt:lpstr>
      <vt:lpstr>微软雅黑</vt:lpstr>
      <vt:lpstr>Arial Black</vt:lpstr>
      <vt:lpstr>Wingdings 2</vt:lpstr>
      <vt:lpstr>幼圆</vt:lpstr>
      <vt:lpstr>Calibri</vt:lpstr>
      <vt:lpstr>Arial</vt:lpstr>
      <vt:lpstr>Calibri</vt:lpstr>
      <vt:lpstr>Consolas</vt:lpstr>
      <vt:lpstr>Arial Unicode MS</vt:lpstr>
      <vt:lpstr>等线</vt:lpstr>
      <vt:lpstr>Times New Roman</vt:lpstr>
      <vt:lpstr>Wingdings</vt:lpstr>
      <vt:lpstr>仿宋</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于昊汐</cp:lastModifiedBy>
  <cp:revision>33</cp:revision>
  <dcterms:created xsi:type="dcterms:W3CDTF">2020-10-11T03:15:00Z</dcterms:created>
  <dcterms:modified xsi:type="dcterms:W3CDTF">2025-06-29T07:57:26Z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9DA90A1F2C76488CB6BF20830348AE98_13</vt:lpwstr>
  </property>
  <property fmtid="{D5CDD505-2E9C-101B-9397-08002B2CF9AE}" pid="3" name="KSOProductBuildVer">
    <vt:lpwstr>2052-12.1.0.20305</vt:lpwstr>
  </property>
</Properties>
</file>